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1" r:id="rId7"/>
    <p:sldId id="272" r:id="rId8"/>
    <p:sldId id="283" r:id="rId9"/>
    <p:sldId id="259" r:id="rId10"/>
    <p:sldId id="289" r:id="rId11"/>
    <p:sldId id="290" r:id="rId12"/>
    <p:sldId id="269" r:id="rId13"/>
    <p:sldId id="294" r:id="rId14"/>
    <p:sldId id="292" r:id="rId15"/>
    <p:sldId id="291" r:id="rId16"/>
    <p:sldId id="293" r:id="rId17"/>
    <p:sldId id="295" r:id="rId18"/>
    <p:sldId id="297" r:id="rId19"/>
    <p:sldId id="296" r:id="rId20"/>
    <p:sldId id="298" r:id="rId21"/>
    <p:sldId id="300" r:id="rId22"/>
    <p:sldId id="284" r:id="rId23"/>
    <p:sldId id="301" r:id="rId24"/>
    <p:sldId id="302" r:id="rId25"/>
    <p:sldId id="304" r:id="rId26"/>
    <p:sldId id="305" r:id="rId27"/>
    <p:sldId id="286" r:id="rId28"/>
    <p:sldId id="287" r:id="rId29"/>
    <p:sldId id="303" r:id="rId30"/>
    <p:sldId id="288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  <p15:guide id="3" pos="534" userDrawn="1">
          <p15:clr>
            <a:srgbClr val="A4A3A4"/>
          </p15:clr>
        </p15:guide>
        <p15:guide id="4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29E7768-BB3E-418E-BA06-28C98E301195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0" autoAdjust="0"/>
    <p:restoredTop sz="92866" autoAdjust="0"/>
  </p:normalViewPr>
  <p:slideViewPr>
    <p:cSldViewPr snapToGrid="0" showGuides="1">
      <p:cViewPr varScale="1">
        <p:scale>
          <a:sx n="108" d="100"/>
          <a:sy n="108" d="100"/>
        </p:scale>
        <p:origin x="100" y="420"/>
      </p:cViewPr>
      <p:guideLst>
        <p:guide orient="horz" pos="2160"/>
        <p:guide pos="3838"/>
        <p:guide pos="534"/>
        <p:guide pos="7152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-2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3CA76-B799-4CDE-9068-35594054F5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T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4.svg"/><Relationship Id="rId10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image" Target="../media/image17.png"/><Relationship Id="rId7" Type="http://schemas.openxmlformats.org/officeDocument/2006/relationships/tags" Target="../tags/tag39.xml"/><Relationship Id="rId6" Type="http://schemas.openxmlformats.org/officeDocument/2006/relationships/image" Target="../media/image16.png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9.png"/><Relationship Id="rId11" Type="http://schemas.openxmlformats.org/officeDocument/2006/relationships/tags" Target="../tags/tag41.xml"/><Relationship Id="rId10" Type="http://schemas.openxmlformats.org/officeDocument/2006/relationships/image" Target="../media/image18.png"/><Relationship Id="rId1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image" Target="../media/image25.png"/><Relationship Id="rId5" Type="http://schemas.openxmlformats.org/officeDocument/2006/relationships/tags" Target="../tags/tag44.xml"/><Relationship Id="rId4" Type="http://schemas.openxmlformats.org/officeDocument/2006/relationships/image" Target="../media/image24.png"/><Relationship Id="rId3" Type="http://schemas.openxmlformats.org/officeDocument/2006/relationships/tags" Target="../tags/tag43.xml"/><Relationship Id="rId20" Type="http://schemas.openxmlformats.org/officeDocument/2006/relationships/notesSlide" Target="../notesSlides/notesSlide10.xml"/><Relationship Id="rId2" Type="http://schemas.openxmlformats.org/officeDocument/2006/relationships/image" Target="../media/image23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8.png"/><Relationship Id="rId17" Type="http://schemas.openxmlformats.org/officeDocument/2006/relationships/tags" Target="../tags/tag53.xml"/><Relationship Id="rId16" Type="http://schemas.openxmlformats.org/officeDocument/2006/relationships/image" Target="../media/image27.png"/><Relationship Id="rId15" Type="http://schemas.openxmlformats.org/officeDocument/2006/relationships/tags" Target="../tags/tag52.xml"/><Relationship Id="rId14" Type="http://schemas.openxmlformats.org/officeDocument/2006/relationships/image" Target="../media/image26.png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4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0.png"/><Relationship Id="rId2" Type="http://schemas.openxmlformats.org/officeDocument/2006/relationships/tags" Target="../tags/tag54.xml"/><Relationship Id="rId1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47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52652" y="2173931"/>
            <a:ext cx="8939348" cy="2138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719980" y="2460035"/>
            <a:ext cx="562662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4800" b="1" spc="300" dirty="0">
                <a:solidFill>
                  <a:schemeClr val="bg1"/>
                </a:solidFill>
              </a:rPr>
              <a:t>基于智能体的交通大模型设计与实现</a:t>
            </a:r>
            <a:endParaRPr lang="zh-CN" altLang="en-US" sz="4800" b="1" spc="300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50915" y="4338955"/>
            <a:ext cx="203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答辩人：周佳琪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16763" y="4312179"/>
            <a:ext cx="201679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导师：王静远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688155" y="5875923"/>
            <a:ext cx="342764" cy="342764"/>
            <a:chOff x="4688155" y="5875923"/>
            <a:chExt cx="342764" cy="342764"/>
          </a:xfrm>
        </p:grpSpPr>
        <p:sp>
          <p:nvSpPr>
            <p:cNvPr id="59" name="椭圆 58"/>
            <p:cNvSpPr/>
            <p:nvPr/>
          </p:nvSpPr>
          <p:spPr>
            <a:xfrm>
              <a:off x="4688155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4763028" y="5947390"/>
              <a:ext cx="193018" cy="199830"/>
              <a:chOff x="5753100" y="3041650"/>
              <a:chExt cx="682626" cy="771526"/>
            </a:xfrm>
            <a:solidFill>
              <a:schemeClr val="accent1"/>
            </a:solidFill>
          </p:grpSpPr>
          <p:sp>
            <p:nvSpPr>
              <p:cNvPr id="61" name="Oval 202"/>
              <p:cNvSpPr>
                <a:spLocks noChangeArrowheads="1"/>
              </p:cNvSpPr>
              <p:nvPr/>
            </p:nvSpPr>
            <p:spPr bwMode="auto">
              <a:xfrm>
                <a:off x="5908675" y="3041650"/>
                <a:ext cx="119063" cy="147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 203"/>
              <p:cNvSpPr/>
              <p:nvPr/>
            </p:nvSpPr>
            <p:spPr bwMode="auto">
              <a:xfrm>
                <a:off x="6103938" y="3413125"/>
                <a:ext cx="46038" cy="84138"/>
              </a:xfrm>
              <a:custGeom>
                <a:avLst/>
                <a:gdLst>
                  <a:gd name="T0" fmla="*/ 2 w 12"/>
                  <a:gd name="T1" fmla="*/ 22 h 22"/>
                  <a:gd name="T2" fmla="*/ 10 w 12"/>
                  <a:gd name="T3" fmla="*/ 22 h 22"/>
                  <a:gd name="T4" fmla="*/ 12 w 12"/>
                  <a:gd name="T5" fmla="*/ 20 h 22"/>
                  <a:gd name="T6" fmla="*/ 12 w 12"/>
                  <a:gd name="T7" fmla="*/ 2 h 22"/>
                  <a:gd name="T8" fmla="*/ 10 w 12"/>
                  <a:gd name="T9" fmla="*/ 0 h 22"/>
                  <a:gd name="T10" fmla="*/ 2 w 12"/>
                  <a:gd name="T11" fmla="*/ 0 h 22"/>
                  <a:gd name="T12" fmla="*/ 0 w 12"/>
                  <a:gd name="T13" fmla="*/ 2 h 22"/>
                  <a:gd name="T14" fmla="*/ 0 w 12"/>
                  <a:gd name="T15" fmla="*/ 20 h 22"/>
                  <a:gd name="T16" fmla="*/ 2 w 12"/>
                  <a:gd name="T1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22">
                    <a:moveTo>
                      <a:pt x="2" y="22"/>
                    </a:moveTo>
                    <a:cubicBezTo>
                      <a:pt x="10" y="22"/>
                      <a:pt x="10" y="22"/>
                      <a:pt x="10" y="22"/>
                    </a:cubicBezTo>
                    <a:cubicBezTo>
                      <a:pt x="11" y="22"/>
                      <a:pt x="12" y="21"/>
                      <a:pt x="12" y="20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1" y="0"/>
                      <a:pt x="1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1"/>
                      <a:pt x="1" y="22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204"/>
              <p:cNvSpPr/>
              <p:nvPr/>
            </p:nvSpPr>
            <p:spPr bwMode="auto">
              <a:xfrm>
                <a:off x="6313488" y="3413125"/>
                <a:ext cx="46038" cy="84138"/>
              </a:xfrm>
              <a:custGeom>
                <a:avLst/>
                <a:gdLst>
                  <a:gd name="T0" fmla="*/ 3 w 12"/>
                  <a:gd name="T1" fmla="*/ 22 h 22"/>
                  <a:gd name="T2" fmla="*/ 10 w 12"/>
                  <a:gd name="T3" fmla="*/ 22 h 22"/>
                  <a:gd name="T4" fmla="*/ 12 w 12"/>
                  <a:gd name="T5" fmla="*/ 20 h 22"/>
                  <a:gd name="T6" fmla="*/ 12 w 12"/>
                  <a:gd name="T7" fmla="*/ 2 h 22"/>
                  <a:gd name="T8" fmla="*/ 10 w 12"/>
                  <a:gd name="T9" fmla="*/ 0 h 22"/>
                  <a:gd name="T10" fmla="*/ 3 w 12"/>
                  <a:gd name="T11" fmla="*/ 0 h 22"/>
                  <a:gd name="T12" fmla="*/ 0 w 12"/>
                  <a:gd name="T13" fmla="*/ 2 h 22"/>
                  <a:gd name="T14" fmla="*/ 0 w 12"/>
                  <a:gd name="T15" fmla="*/ 20 h 22"/>
                  <a:gd name="T16" fmla="*/ 3 w 12"/>
                  <a:gd name="T1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22">
                    <a:moveTo>
                      <a:pt x="3" y="22"/>
                    </a:moveTo>
                    <a:cubicBezTo>
                      <a:pt x="10" y="22"/>
                      <a:pt x="10" y="22"/>
                      <a:pt x="10" y="22"/>
                    </a:cubicBezTo>
                    <a:cubicBezTo>
                      <a:pt x="12" y="22"/>
                      <a:pt x="12" y="21"/>
                      <a:pt x="12" y="20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2" y="0"/>
                      <a:pt x="1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1"/>
                      <a:pt x="1" y="22"/>
                      <a:pt x="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205"/>
              <p:cNvSpPr>
                <a:spLocks noEditPoints="1"/>
              </p:cNvSpPr>
              <p:nvPr/>
            </p:nvSpPr>
            <p:spPr bwMode="auto">
              <a:xfrm>
                <a:off x="6030913" y="3444875"/>
                <a:ext cx="404813" cy="360363"/>
              </a:xfrm>
              <a:custGeom>
                <a:avLst/>
                <a:gdLst>
                  <a:gd name="T0" fmla="*/ 94 w 106"/>
                  <a:gd name="T1" fmla="*/ 0 h 95"/>
                  <a:gd name="T2" fmla="*/ 91 w 106"/>
                  <a:gd name="T3" fmla="*/ 0 h 95"/>
                  <a:gd name="T4" fmla="*/ 91 w 106"/>
                  <a:gd name="T5" fmla="*/ 12 h 95"/>
                  <a:gd name="T6" fmla="*/ 84 w 106"/>
                  <a:gd name="T7" fmla="*/ 18 h 95"/>
                  <a:gd name="T8" fmla="*/ 77 w 106"/>
                  <a:gd name="T9" fmla="*/ 18 h 95"/>
                  <a:gd name="T10" fmla="*/ 70 w 106"/>
                  <a:gd name="T11" fmla="*/ 12 h 95"/>
                  <a:gd name="T12" fmla="*/ 70 w 106"/>
                  <a:gd name="T13" fmla="*/ 0 h 95"/>
                  <a:gd name="T14" fmla="*/ 36 w 106"/>
                  <a:gd name="T15" fmla="*/ 0 h 95"/>
                  <a:gd name="T16" fmla="*/ 36 w 106"/>
                  <a:gd name="T17" fmla="*/ 12 h 95"/>
                  <a:gd name="T18" fmla="*/ 29 w 106"/>
                  <a:gd name="T19" fmla="*/ 18 h 95"/>
                  <a:gd name="T20" fmla="*/ 21 w 106"/>
                  <a:gd name="T21" fmla="*/ 18 h 95"/>
                  <a:gd name="T22" fmla="*/ 15 w 106"/>
                  <a:gd name="T23" fmla="*/ 12 h 95"/>
                  <a:gd name="T24" fmla="*/ 15 w 106"/>
                  <a:gd name="T25" fmla="*/ 0 h 95"/>
                  <a:gd name="T26" fmla="*/ 12 w 106"/>
                  <a:gd name="T27" fmla="*/ 0 h 95"/>
                  <a:gd name="T28" fmla="*/ 0 w 106"/>
                  <a:gd name="T29" fmla="*/ 13 h 95"/>
                  <a:gd name="T30" fmla="*/ 0 w 106"/>
                  <a:gd name="T31" fmla="*/ 36 h 95"/>
                  <a:gd name="T32" fmla="*/ 0 w 106"/>
                  <a:gd name="T33" fmla="*/ 83 h 95"/>
                  <a:gd name="T34" fmla="*/ 12 w 106"/>
                  <a:gd name="T35" fmla="*/ 95 h 95"/>
                  <a:gd name="T36" fmla="*/ 94 w 106"/>
                  <a:gd name="T37" fmla="*/ 95 h 95"/>
                  <a:gd name="T38" fmla="*/ 106 w 106"/>
                  <a:gd name="T39" fmla="*/ 83 h 95"/>
                  <a:gd name="T40" fmla="*/ 106 w 106"/>
                  <a:gd name="T41" fmla="*/ 36 h 95"/>
                  <a:gd name="T42" fmla="*/ 106 w 106"/>
                  <a:gd name="T43" fmla="*/ 13 h 95"/>
                  <a:gd name="T44" fmla="*/ 94 w 106"/>
                  <a:gd name="T45" fmla="*/ 0 h 95"/>
                  <a:gd name="T46" fmla="*/ 98 w 106"/>
                  <a:gd name="T47" fmla="*/ 83 h 95"/>
                  <a:gd name="T48" fmla="*/ 94 w 106"/>
                  <a:gd name="T49" fmla="*/ 88 h 95"/>
                  <a:gd name="T50" fmla="*/ 12 w 106"/>
                  <a:gd name="T51" fmla="*/ 88 h 95"/>
                  <a:gd name="T52" fmla="*/ 8 w 106"/>
                  <a:gd name="T53" fmla="*/ 83 h 95"/>
                  <a:gd name="T54" fmla="*/ 8 w 106"/>
                  <a:gd name="T55" fmla="*/ 36 h 95"/>
                  <a:gd name="T56" fmla="*/ 98 w 106"/>
                  <a:gd name="T57" fmla="*/ 36 h 95"/>
                  <a:gd name="T58" fmla="*/ 98 w 106"/>
                  <a:gd name="T59" fmla="*/ 8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6" h="95">
                    <a:moveTo>
                      <a:pt x="94" y="0"/>
                    </a:moveTo>
                    <a:cubicBezTo>
                      <a:pt x="91" y="0"/>
                      <a:pt x="91" y="0"/>
                      <a:pt x="91" y="0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5"/>
                      <a:pt x="88" y="18"/>
                      <a:pt x="84" y="18"/>
                    </a:cubicBezTo>
                    <a:cubicBezTo>
                      <a:pt x="77" y="18"/>
                      <a:pt x="77" y="18"/>
                      <a:pt x="77" y="18"/>
                    </a:cubicBezTo>
                    <a:cubicBezTo>
                      <a:pt x="73" y="18"/>
                      <a:pt x="70" y="15"/>
                      <a:pt x="70" y="12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36" y="15"/>
                      <a:pt x="33" y="18"/>
                      <a:pt x="29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18" y="18"/>
                      <a:pt x="15" y="15"/>
                      <a:pt x="15" y="12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6"/>
                      <a:pt x="0" y="13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90"/>
                      <a:pt x="5" y="95"/>
                      <a:pt x="12" y="95"/>
                    </a:cubicBezTo>
                    <a:cubicBezTo>
                      <a:pt x="94" y="95"/>
                      <a:pt x="94" y="95"/>
                      <a:pt x="94" y="95"/>
                    </a:cubicBezTo>
                    <a:cubicBezTo>
                      <a:pt x="100" y="95"/>
                      <a:pt x="106" y="90"/>
                      <a:pt x="106" y="83"/>
                    </a:cubicBezTo>
                    <a:cubicBezTo>
                      <a:pt x="106" y="36"/>
                      <a:pt x="106" y="36"/>
                      <a:pt x="106" y="36"/>
                    </a:cubicBezTo>
                    <a:cubicBezTo>
                      <a:pt x="106" y="13"/>
                      <a:pt x="106" y="13"/>
                      <a:pt x="106" y="13"/>
                    </a:cubicBezTo>
                    <a:cubicBezTo>
                      <a:pt x="106" y="6"/>
                      <a:pt x="100" y="0"/>
                      <a:pt x="94" y="0"/>
                    </a:cubicBezTo>
                    <a:close/>
                    <a:moveTo>
                      <a:pt x="98" y="83"/>
                    </a:moveTo>
                    <a:cubicBezTo>
                      <a:pt x="98" y="86"/>
                      <a:pt x="96" y="88"/>
                      <a:pt x="94" y="88"/>
                    </a:cubicBezTo>
                    <a:cubicBezTo>
                      <a:pt x="12" y="88"/>
                      <a:pt x="12" y="88"/>
                      <a:pt x="12" y="88"/>
                    </a:cubicBezTo>
                    <a:cubicBezTo>
                      <a:pt x="10" y="88"/>
                      <a:pt x="8" y="86"/>
                      <a:pt x="8" y="83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98" y="36"/>
                      <a:pt x="98" y="36"/>
                      <a:pt x="98" y="36"/>
                    </a:cubicBezTo>
                    <a:lnTo>
                      <a:pt x="98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Rectangle 206"/>
              <p:cNvSpPr>
                <a:spLocks noChangeArrowheads="1"/>
              </p:cNvSpPr>
              <p:nvPr/>
            </p:nvSpPr>
            <p:spPr bwMode="auto">
              <a:xfrm>
                <a:off x="6084888" y="3611563"/>
                <a:ext cx="79375" cy="301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Rectangle 207"/>
              <p:cNvSpPr>
                <a:spLocks noChangeArrowheads="1"/>
              </p:cNvSpPr>
              <p:nvPr/>
            </p:nvSpPr>
            <p:spPr bwMode="auto">
              <a:xfrm>
                <a:off x="6191250" y="3611563"/>
                <a:ext cx="79375" cy="301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Rectangle 208"/>
              <p:cNvSpPr>
                <a:spLocks noChangeArrowheads="1"/>
              </p:cNvSpPr>
              <p:nvPr/>
            </p:nvSpPr>
            <p:spPr bwMode="auto">
              <a:xfrm>
                <a:off x="6294438" y="3611563"/>
                <a:ext cx="79375" cy="301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Rectangle 209"/>
              <p:cNvSpPr>
                <a:spLocks noChangeArrowheads="1"/>
              </p:cNvSpPr>
              <p:nvPr/>
            </p:nvSpPr>
            <p:spPr bwMode="auto">
              <a:xfrm>
                <a:off x="6084888" y="3663950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Rectangle 210"/>
              <p:cNvSpPr>
                <a:spLocks noChangeArrowheads="1"/>
              </p:cNvSpPr>
              <p:nvPr/>
            </p:nvSpPr>
            <p:spPr bwMode="auto">
              <a:xfrm>
                <a:off x="6191250" y="3663950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Rectangle 211"/>
              <p:cNvSpPr>
                <a:spLocks noChangeArrowheads="1"/>
              </p:cNvSpPr>
              <p:nvPr/>
            </p:nvSpPr>
            <p:spPr bwMode="auto">
              <a:xfrm>
                <a:off x="6294438" y="3663950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Rectangle 212"/>
              <p:cNvSpPr>
                <a:spLocks noChangeArrowheads="1"/>
              </p:cNvSpPr>
              <p:nvPr/>
            </p:nvSpPr>
            <p:spPr bwMode="auto">
              <a:xfrm>
                <a:off x="6084888" y="3713163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Rectangle 213"/>
              <p:cNvSpPr>
                <a:spLocks noChangeArrowheads="1"/>
              </p:cNvSpPr>
              <p:nvPr/>
            </p:nvSpPr>
            <p:spPr bwMode="auto">
              <a:xfrm>
                <a:off x="6191250" y="3713163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Rectangle 214"/>
              <p:cNvSpPr>
                <a:spLocks noChangeArrowheads="1"/>
              </p:cNvSpPr>
              <p:nvPr/>
            </p:nvSpPr>
            <p:spPr bwMode="auto">
              <a:xfrm>
                <a:off x="6294438" y="3713163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Rectangle 215"/>
              <p:cNvSpPr>
                <a:spLocks noChangeArrowheads="1"/>
              </p:cNvSpPr>
              <p:nvPr/>
            </p:nvSpPr>
            <p:spPr bwMode="auto">
              <a:xfrm>
                <a:off x="5965825" y="3398838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216"/>
              <p:cNvSpPr>
                <a:spLocks noEditPoints="1"/>
              </p:cNvSpPr>
              <p:nvPr/>
            </p:nvSpPr>
            <p:spPr bwMode="auto">
              <a:xfrm>
                <a:off x="5753100" y="3208338"/>
                <a:ext cx="427038" cy="604838"/>
              </a:xfrm>
              <a:custGeom>
                <a:avLst/>
                <a:gdLst>
                  <a:gd name="T0" fmla="*/ 111 w 112"/>
                  <a:gd name="T1" fmla="*/ 23 h 159"/>
                  <a:gd name="T2" fmla="*/ 106 w 112"/>
                  <a:gd name="T3" fmla="*/ 19 h 159"/>
                  <a:gd name="T4" fmla="*/ 83 w 112"/>
                  <a:gd name="T5" fmla="*/ 2 h 159"/>
                  <a:gd name="T6" fmla="*/ 77 w 112"/>
                  <a:gd name="T7" fmla="*/ 0 h 159"/>
                  <a:gd name="T8" fmla="*/ 70 w 112"/>
                  <a:gd name="T9" fmla="*/ 0 h 159"/>
                  <a:gd name="T10" fmla="*/ 68 w 112"/>
                  <a:gd name="T11" fmla="*/ 10 h 159"/>
                  <a:gd name="T12" fmla="*/ 56 w 112"/>
                  <a:gd name="T13" fmla="*/ 50 h 159"/>
                  <a:gd name="T14" fmla="*/ 56 w 112"/>
                  <a:gd name="T15" fmla="*/ 51 h 159"/>
                  <a:gd name="T16" fmla="*/ 56 w 112"/>
                  <a:gd name="T17" fmla="*/ 50 h 159"/>
                  <a:gd name="T18" fmla="*/ 45 w 112"/>
                  <a:gd name="T19" fmla="*/ 10 h 159"/>
                  <a:gd name="T20" fmla="*/ 43 w 112"/>
                  <a:gd name="T21" fmla="*/ 0 h 159"/>
                  <a:gd name="T22" fmla="*/ 35 w 112"/>
                  <a:gd name="T23" fmla="*/ 0 h 159"/>
                  <a:gd name="T24" fmla="*/ 28 w 112"/>
                  <a:gd name="T25" fmla="*/ 4 h 159"/>
                  <a:gd name="T26" fmla="*/ 0 w 112"/>
                  <a:gd name="T27" fmla="*/ 44 h 159"/>
                  <a:gd name="T28" fmla="*/ 0 w 112"/>
                  <a:gd name="T29" fmla="*/ 44 h 159"/>
                  <a:gd name="T30" fmla="*/ 0 w 112"/>
                  <a:gd name="T31" fmla="*/ 45 h 159"/>
                  <a:gd name="T32" fmla="*/ 2 w 112"/>
                  <a:gd name="T33" fmla="*/ 48 h 159"/>
                  <a:gd name="T34" fmla="*/ 9 w 112"/>
                  <a:gd name="T35" fmla="*/ 61 h 159"/>
                  <a:gd name="T36" fmla="*/ 29 w 112"/>
                  <a:gd name="T37" fmla="*/ 72 h 159"/>
                  <a:gd name="T38" fmla="*/ 29 w 112"/>
                  <a:gd name="T39" fmla="*/ 84 h 159"/>
                  <a:gd name="T40" fmla="*/ 34 w 112"/>
                  <a:gd name="T41" fmla="*/ 159 h 159"/>
                  <a:gd name="T42" fmla="*/ 55 w 112"/>
                  <a:gd name="T43" fmla="*/ 84 h 159"/>
                  <a:gd name="T44" fmla="*/ 60 w 112"/>
                  <a:gd name="T45" fmla="*/ 159 h 159"/>
                  <a:gd name="T46" fmla="*/ 67 w 112"/>
                  <a:gd name="T47" fmla="*/ 145 h 159"/>
                  <a:gd name="T48" fmla="*/ 76 w 112"/>
                  <a:gd name="T49" fmla="*/ 59 h 159"/>
                  <a:gd name="T50" fmla="*/ 110 w 112"/>
                  <a:gd name="T51" fmla="*/ 41 h 159"/>
                  <a:gd name="T52" fmla="*/ 112 w 112"/>
                  <a:gd name="T53" fmla="*/ 24 h 159"/>
                  <a:gd name="T54" fmla="*/ 27 w 112"/>
                  <a:gd name="T55" fmla="*/ 51 h 159"/>
                  <a:gd name="T56" fmla="*/ 21 w 112"/>
                  <a:gd name="T57" fmla="*/ 40 h 159"/>
                  <a:gd name="T58" fmla="*/ 30 w 112"/>
                  <a:gd name="T59" fmla="*/ 55 h 159"/>
                  <a:gd name="T60" fmla="*/ 68 w 112"/>
                  <a:gd name="T61" fmla="*/ 39 h 159"/>
                  <a:gd name="T62" fmla="*/ 82 w 112"/>
                  <a:gd name="T63" fmla="*/ 25 h 159"/>
                  <a:gd name="T64" fmla="*/ 88 w 112"/>
                  <a:gd name="T65" fmla="*/ 3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2" h="159">
                    <a:moveTo>
                      <a:pt x="112" y="24"/>
                    </a:moveTo>
                    <a:cubicBezTo>
                      <a:pt x="111" y="23"/>
                      <a:pt x="111" y="23"/>
                      <a:pt x="111" y="23"/>
                    </a:cubicBezTo>
                    <a:cubicBezTo>
                      <a:pt x="110" y="22"/>
                      <a:pt x="110" y="22"/>
                      <a:pt x="110" y="22"/>
                    </a:cubicBezTo>
                    <a:cubicBezTo>
                      <a:pt x="106" y="19"/>
                      <a:pt x="106" y="19"/>
                      <a:pt x="106" y="19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1" y="1"/>
                      <a:pt x="80" y="0"/>
                      <a:pt x="78" y="0"/>
                    </a:cubicBezTo>
                    <a:cubicBezTo>
                      <a:pt x="78" y="0"/>
                      <a:pt x="78" y="0"/>
                      <a:pt x="77" y="0"/>
                    </a:cubicBezTo>
                    <a:cubicBezTo>
                      <a:pt x="75" y="0"/>
                      <a:pt x="72" y="0"/>
                      <a:pt x="70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6" y="5"/>
                      <a:pt x="76" y="5"/>
                      <a:pt x="76" y="5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56" y="50"/>
                      <a:pt x="56" y="50"/>
                      <a:pt x="56" y="50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56" y="51"/>
                      <a:pt x="56" y="51"/>
                      <a:pt x="56" y="51"/>
                    </a:cubicBezTo>
                    <a:cubicBezTo>
                      <a:pt x="56" y="51"/>
                      <a:pt x="56" y="51"/>
                      <a:pt x="56" y="51"/>
                    </a:cubicBezTo>
                    <a:cubicBezTo>
                      <a:pt x="56" y="50"/>
                      <a:pt x="56" y="50"/>
                      <a:pt x="56" y="50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1" y="0"/>
                      <a:pt x="38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2" y="1"/>
                      <a:pt x="30" y="2"/>
                      <a:pt x="28" y="4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1" y="46"/>
                      <a:pt x="1" y="46"/>
                      <a:pt x="1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22" y="76"/>
                      <a:pt x="26" y="74"/>
                      <a:pt x="29" y="72"/>
                    </a:cubicBezTo>
                    <a:cubicBezTo>
                      <a:pt x="29" y="76"/>
                      <a:pt x="29" y="80"/>
                      <a:pt x="29" y="83"/>
                    </a:cubicBezTo>
                    <a:cubicBezTo>
                      <a:pt x="29" y="83"/>
                      <a:pt x="29" y="84"/>
                      <a:pt x="29" y="84"/>
                    </a:cubicBezTo>
                    <a:cubicBezTo>
                      <a:pt x="30" y="84"/>
                      <a:pt x="31" y="84"/>
                      <a:pt x="31" y="84"/>
                    </a:cubicBezTo>
                    <a:cubicBezTo>
                      <a:pt x="34" y="159"/>
                      <a:pt x="34" y="159"/>
                      <a:pt x="34" y="159"/>
                    </a:cubicBezTo>
                    <a:cubicBezTo>
                      <a:pt x="55" y="159"/>
                      <a:pt x="55" y="159"/>
                      <a:pt x="55" y="159"/>
                    </a:cubicBezTo>
                    <a:cubicBezTo>
                      <a:pt x="56" y="137"/>
                      <a:pt x="56" y="99"/>
                      <a:pt x="55" y="84"/>
                    </a:cubicBezTo>
                    <a:cubicBezTo>
                      <a:pt x="56" y="84"/>
                      <a:pt x="57" y="84"/>
                      <a:pt x="58" y="84"/>
                    </a:cubicBezTo>
                    <a:cubicBezTo>
                      <a:pt x="60" y="159"/>
                      <a:pt x="60" y="159"/>
                      <a:pt x="60" y="15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0" y="156"/>
                      <a:pt x="67" y="151"/>
                      <a:pt x="67" y="145"/>
                    </a:cubicBezTo>
                    <a:cubicBezTo>
                      <a:pt x="67" y="75"/>
                      <a:pt x="67" y="75"/>
                      <a:pt x="67" y="75"/>
                    </a:cubicBezTo>
                    <a:cubicBezTo>
                      <a:pt x="67" y="68"/>
                      <a:pt x="71" y="62"/>
                      <a:pt x="76" y="59"/>
                    </a:cubicBezTo>
                    <a:cubicBezTo>
                      <a:pt x="77" y="60"/>
                      <a:pt x="78" y="61"/>
                      <a:pt x="78" y="6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0"/>
                      <a:pt x="111" y="40"/>
                      <a:pt x="111" y="40"/>
                    </a:cubicBezTo>
                    <a:lnTo>
                      <a:pt x="112" y="24"/>
                    </a:lnTo>
                    <a:close/>
                    <a:moveTo>
                      <a:pt x="30" y="55"/>
                    </a:moveTo>
                    <a:cubicBezTo>
                      <a:pt x="27" y="51"/>
                      <a:pt x="27" y="51"/>
                      <a:pt x="27" y="51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37"/>
                      <a:pt x="30" y="46"/>
                      <a:pt x="30" y="55"/>
                    </a:cubicBezTo>
                    <a:close/>
                    <a:moveTo>
                      <a:pt x="70" y="41"/>
                    </a:moveTo>
                    <a:cubicBezTo>
                      <a:pt x="68" y="39"/>
                      <a:pt x="68" y="39"/>
                      <a:pt x="68" y="39"/>
                    </a:cubicBezTo>
                    <a:cubicBezTo>
                      <a:pt x="82" y="30"/>
                      <a:pt x="82" y="30"/>
                      <a:pt x="82" y="30"/>
                    </a:cubicBezTo>
                    <a:cubicBezTo>
                      <a:pt x="82" y="28"/>
                      <a:pt x="82" y="27"/>
                      <a:pt x="82" y="25"/>
                    </a:cubicBezTo>
                    <a:cubicBezTo>
                      <a:pt x="86" y="28"/>
                      <a:pt x="86" y="28"/>
                      <a:pt x="86" y="28"/>
                    </a:cubicBezTo>
                    <a:cubicBezTo>
                      <a:pt x="88" y="30"/>
                      <a:pt x="88" y="30"/>
                      <a:pt x="88" y="30"/>
                    </a:cubicBezTo>
                    <a:lnTo>
                      <a:pt x="70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217"/>
              <p:cNvSpPr/>
              <p:nvPr/>
            </p:nvSpPr>
            <p:spPr bwMode="auto">
              <a:xfrm>
                <a:off x="5946775" y="3201988"/>
                <a:ext cx="42863" cy="44450"/>
              </a:xfrm>
              <a:custGeom>
                <a:avLst/>
                <a:gdLst>
                  <a:gd name="T0" fmla="*/ 22 w 27"/>
                  <a:gd name="T1" fmla="*/ 0 h 28"/>
                  <a:gd name="T2" fmla="*/ 27 w 27"/>
                  <a:gd name="T3" fmla="*/ 16 h 28"/>
                  <a:gd name="T4" fmla="*/ 12 w 27"/>
                  <a:gd name="T5" fmla="*/ 28 h 28"/>
                  <a:gd name="T6" fmla="*/ 0 w 27"/>
                  <a:gd name="T7" fmla="*/ 16 h 28"/>
                  <a:gd name="T8" fmla="*/ 5 w 27"/>
                  <a:gd name="T9" fmla="*/ 0 h 28"/>
                  <a:gd name="T10" fmla="*/ 22 w 27"/>
                  <a:gd name="T1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" h="28">
                    <a:moveTo>
                      <a:pt x="22" y="0"/>
                    </a:moveTo>
                    <a:lnTo>
                      <a:pt x="27" y="16"/>
                    </a:lnTo>
                    <a:lnTo>
                      <a:pt x="12" y="28"/>
                    </a:lnTo>
                    <a:lnTo>
                      <a:pt x="0" y="16"/>
                    </a:lnTo>
                    <a:lnTo>
                      <a:pt x="5" y="0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218"/>
              <p:cNvSpPr/>
              <p:nvPr/>
            </p:nvSpPr>
            <p:spPr bwMode="auto">
              <a:xfrm>
                <a:off x="5946775" y="3232150"/>
                <a:ext cx="42863" cy="185738"/>
              </a:xfrm>
              <a:custGeom>
                <a:avLst/>
                <a:gdLst>
                  <a:gd name="T0" fmla="*/ 22 w 27"/>
                  <a:gd name="T1" fmla="*/ 0 h 117"/>
                  <a:gd name="T2" fmla="*/ 27 w 27"/>
                  <a:gd name="T3" fmla="*/ 105 h 117"/>
                  <a:gd name="T4" fmla="*/ 12 w 27"/>
                  <a:gd name="T5" fmla="*/ 117 h 117"/>
                  <a:gd name="T6" fmla="*/ 0 w 27"/>
                  <a:gd name="T7" fmla="*/ 105 h 117"/>
                  <a:gd name="T8" fmla="*/ 5 w 27"/>
                  <a:gd name="T9" fmla="*/ 0 h 117"/>
                  <a:gd name="T10" fmla="*/ 22 w 27"/>
                  <a:gd name="T11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" h="117">
                    <a:moveTo>
                      <a:pt x="22" y="0"/>
                    </a:moveTo>
                    <a:lnTo>
                      <a:pt x="27" y="105"/>
                    </a:lnTo>
                    <a:lnTo>
                      <a:pt x="12" y="117"/>
                    </a:lnTo>
                    <a:lnTo>
                      <a:pt x="0" y="105"/>
                    </a:lnTo>
                    <a:lnTo>
                      <a:pt x="5" y="0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5306387" y="5875923"/>
            <a:ext cx="342764" cy="342764"/>
            <a:chOff x="5306387" y="5875923"/>
            <a:chExt cx="342764" cy="342764"/>
          </a:xfrm>
        </p:grpSpPr>
        <p:sp>
          <p:nvSpPr>
            <p:cNvPr id="51" name="椭圆 50"/>
            <p:cNvSpPr/>
            <p:nvPr/>
          </p:nvSpPr>
          <p:spPr>
            <a:xfrm>
              <a:off x="5306387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5370562" y="5961635"/>
              <a:ext cx="214413" cy="171339"/>
              <a:chOff x="5738813" y="3144838"/>
              <a:chExt cx="711200" cy="568325"/>
            </a:xfrm>
            <a:solidFill>
              <a:schemeClr val="accent1"/>
            </a:solidFill>
          </p:grpSpPr>
          <p:sp>
            <p:nvSpPr>
              <p:cNvPr id="52" name="Freeform 103"/>
              <p:cNvSpPr/>
              <p:nvPr/>
            </p:nvSpPr>
            <p:spPr bwMode="auto">
              <a:xfrm>
                <a:off x="5821363" y="3159126"/>
                <a:ext cx="533400" cy="371475"/>
              </a:xfrm>
              <a:custGeom>
                <a:avLst/>
                <a:gdLst>
                  <a:gd name="T0" fmla="*/ 22 w 336"/>
                  <a:gd name="T1" fmla="*/ 234 h 234"/>
                  <a:gd name="T2" fmla="*/ 0 w 336"/>
                  <a:gd name="T3" fmla="*/ 215 h 234"/>
                  <a:gd name="T4" fmla="*/ 135 w 336"/>
                  <a:gd name="T5" fmla="*/ 56 h 234"/>
                  <a:gd name="T6" fmla="*/ 216 w 336"/>
                  <a:gd name="T7" fmla="*/ 126 h 234"/>
                  <a:gd name="T8" fmla="*/ 312 w 336"/>
                  <a:gd name="T9" fmla="*/ 0 h 234"/>
                  <a:gd name="T10" fmla="*/ 336 w 336"/>
                  <a:gd name="T11" fmla="*/ 17 h 234"/>
                  <a:gd name="T12" fmla="*/ 219 w 336"/>
                  <a:gd name="T13" fmla="*/ 171 h 234"/>
                  <a:gd name="T14" fmla="*/ 137 w 336"/>
                  <a:gd name="T15" fmla="*/ 99 h 234"/>
                  <a:gd name="T16" fmla="*/ 22 w 336"/>
                  <a:gd name="T17" fmla="*/ 234 h 234"/>
                  <a:gd name="T18" fmla="*/ 22 w 336"/>
                  <a:gd name="T19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6" h="234">
                    <a:moveTo>
                      <a:pt x="22" y="234"/>
                    </a:moveTo>
                    <a:lnTo>
                      <a:pt x="0" y="215"/>
                    </a:lnTo>
                    <a:lnTo>
                      <a:pt x="135" y="56"/>
                    </a:lnTo>
                    <a:lnTo>
                      <a:pt x="216" y="126"/>
                    </a:lnTo>
                    <a:lnTo>
                      <a:pt x="312" y="0"/>
                    </a:lnTo>
                    <a:lnTo>
                      <a:pt x="336" y="17"/>
                    </a:lnTo>
                    <a:lnTo>
                      <a:pt x="219" y="171"/>
                    </a:lnTo>
                    <a:lnTo>
                      <a:pt x="137" y="99"/>
                    </a:lnTo>
                    <a:lnTo>
                      <a:pt x="22" y="234"/>
                    </a:lnTo>
                    <a:lnTo>
                      <a:pt x="22" y="2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 104"/>
              <p:cNvSpPr/>
              <p:nvPr/>
            </p:nvSpPr>
            <p:spPr bwMode="auto">
              <a:xfrm>
                <a:off x="6248401" y="3148013"/>
                <a:ext cx="117475" cy="119063"/>
              </a:xfrm>
              <a:custGeom>
                <a:avLst/>
                <a:gdLst>
                  <a:gd name="T0" fmla="*/ 0 w 74"/>
                  <a:gd name="T1" fmla="*/ 0 h 75"/>
                  <a:gd name="T2" fmla="*/ 74 w 74"/>
                  <a:gd name="T3" fmla="*/ 0 h 75"/>
                  <a:gd name="T4" fmla="*/ 74 w 74"/>
                  <a:gd name="T5" fmla="*/ 75 h 75"/>
                  <a:gd name="T6" fmla="*/ 0 w 74"/>
                  <a:gd name="T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" h="75">
                    <a:moveTo>
                      <a:pt x="0" y="0"/>
                    </a:moveTo>
                    <a:lnTo>
                      <a:pt x="74" y="0"/>
                    </a:lnTo>
                    <a:lnTo>
                      <a:pt x="74" y="7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 105"/>
              <p:cNvSpPr/>
              <p:nvPr/>
            </p:nvSpPr>
            <p:spPr bwMode="auto">
              <a:xfrm>
                <a:off x="5738813" y="3144838"/>
                <a:ext cx="711200" cy="568325"/>
              </a:xfrm>
              <a:custGeom>
                <a:avLst/>
                <a:gdLst>
                  <a:gd name="T0" fmla="*/ 448 w 448"/>
                  <a:gd name="T1" fmla="*/ 358 h 358"/>
                  <a:gd name="T2" fmla="*/ 0 w 448"/>
                  <a:gd name="T3" fmla="*/ 358 h 358"/>
                  <a:gd name="T4" fmla="*/ 0 w 448"/>
                  <a:gd name="T5" fmla="*/ 0 h 358"/>
                  <a:gd name="T6" fmla="*/ 26 w 448"/>
                  <a:gd name="T7" fmla="*/ 0 h 358"/>
                  <a:gd name="T8" fmla="*/ 26 w 448"/>
                  <a:gd name="T9" fmla="*/ 334 h 358"/>
                  <a:gd name="T10" fmla="*/ 448 w 448"/>
                  <a:gd name="T11" fmla="*/ 334 h 358"/>
                  <a:gd name="T12" fmla="*/ 448 w 448"/>
                  <a:gd name="T13" fmla="*/ 358 h 358"/>
                  <a:gd name="T14" fmla="*/ 448 w 448"/>
                  <a:gd name="T15" fmla="*/ 358 h 3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8" h="358">
                    <a:moveTo>
                      <a:pt x="448" y="358"/>
                    </a:moveTo>
                    <a:lnTo>
                      <a:pt x="0" y="358"/>
                    </a:lnTo>
                    <a:lnTo>
                      <a:pt x="0" y="0"/>
                    </a:lnTo>
                    <a:lnTo>
                      <a:pt x="26" y="0"/>
                    </a:lnTo>
                    <a:lnTo>
                      <a:pt x="26" y="334"/>
                    </a:lnTo>
                    <a:lnTo>
                      <a:pt x="448" y="334"/>
                    </a:lnTo>
                    <a:lnTo>
                      <a:pt x="448" y="358"/>
                    </a:lnTo>
                    <a:lnTo>
                      <a:pt x="448" y="3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Rectangle 106"/>
              <p:cNvSpPr>
                <a:spLocks noChangeArrowheads="1"/>
              </p:cNvSpPr>
              <p:nvPr/>
            </p:nvSpPr>
            <p:spPr bwMode="auto">
              <a:xfrm>
                <a:off x="5853113" y="3560763"/>
                <a:ext cx="79375" cy="1222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Rectangle 107"/>
              <p:cNvSpPr>
                <a:spLocks noChangeArrowheads="1"/>
              </p:cNvSpPr>
              <p:nvPr/>
            </p:nvSpPr>
            <p:spPr bwMode="auto">
              <a:xfrm>
                <a:off x="5997576" y="3408363"/>
                <a:ext cx="79375" cy="2746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Rectangle 108"/>
              <p:cNvSpPr>
                <a:spLocks noChangeArrowheads="1"/>
              </p:cNvSpPr>
              <p:nvPr/>
            </p:nvSpPr>
            <p:spPr bwMode="auto">
              <a:xfrm>
                <a:off x="6142038" y="3487738"/>
                <a:ext cx="79375" cy="195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Rectangle 109"/>
              <p:cNvSpPr>
                <a:spLocks noChangeArrowheads="1"/>
              </p:cNvSpPr>
              <p:nvPr/>
            </p:nvSpPr>
            <p:spPr bwMode="auto">
              <a:xfrm>
                <a:off x="6286501" y="3305176"/>
                <a:ext cx="79375" cy="3778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5924618" y="5875923"/>
            <a:ext cx="342764" cy="342764"/>
            <a:chOff x="5924618" y="5875923"/>
            <a:chExt cx="342764" cy="342764"/>
          </a:xfrm>
        </p:grpSpPr>
        <p:sp>
          <p:nvSpPr>
            <p:cNvPr id="44" name="椭圆 43"/>
            <p:cNvSpPr/>
            <p:nvPr/>
          </p:nvSpPr>
          <p:spPr>
            <a:xfrm>
              <a:off x="5924618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5999323" y="5949431"/>
              <a:ext cx="193355" cy="195748"/>
              <a:chOff x="5778500" y="3105150"/>
              <a:chExt cx="641350" cy="649288"/>
            </a:xfrm>
            <a:solidFill>
              <a:schemeClr val="accent1"/>
            </a:solidFill>
          </p:grpSpPr>
          <p:sp>
            <p:nvSpPr>
              <p:cNvPr id="45" name="Freeform 425"/>
              <p:cNvSpPr/>
              <p:nvPr/>
            </p:nvSpPr>
            <p:spPr bwMode="auto">
              <a:xfrm>
                <a:off x="5959475" y="3227388"/>
                <a:ext cx="217488" cy="438150"/>
              </a:xfrm>
              <a:custGeom>
                <a:avLst/>
                <a:gdLst>
                  <a:gd name="T0" fmla="*/ 36 w 137"/>
                  <a:gd name="T1" fmla="*/ 276 h 276"/>
                  <a:gd name="T2" fmla="*/ 101 w 137"/>
                  <a:gd name="T3" fmla="*/ 276 h 276"/>
                  <a:gd name="T4" fmla="*/ 101 w 137"/>
                  <a:gd name="T5" fmla="*/ 69 h 276"/>
                  <a:gd name="T6" fmla="*/ 137 w 137"/>
                  <a:gd name="T7" fmla="*/ 69 h 276"/>
                  <a:gd name="T8" fmla="*/ 67 w 137"/>
                  <a:gd name="T9" fmla="*/ 0 h 276"/>
                  <a:gd name="T10" fmla="*/ 0 w 137"/>
                  <a:gd name="T11" fmla="*/ 69 h 276"/>
                  <a:gd name="T12" fmla="*/ 36 w 137"/>
                  <a:gd name="T13" fmla="*/ 69 h 276"/>
                  <a:gd name="T14" fmla="*/ 36 w 137"/>
                  <a:gd name="T15" fmla="*/ 276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276">
                    <a:moveTo>
                      <a:pt x="36" y="276"/>
                    </a:moveTo>
                    <a:lnTo>
                      <a:pt x="101" y="276"/>
                    </a:lnTo>
                    <a:lnTo>
                      <a:pt x="101" y="69"/>
                    </a:lnTo>
                    <a:lnTo>
                      <a:pt x="137" y="69"/>
                    </a:lnTo>
                    <a:lnTo>
                      <a:pt x="67" y="0"/>
                    </a:lnTo>
                    <a:lnTo>
                      <a:pt x="0" y="69"/>
                    </a:lnTo>
                    <a:lnTo>
                      <a:pt x="36" y="69"/>
                    </a:lnTo>
                    <a:lnTo>
                      <a:pt x="36" y="2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426"/>
              <p:cNvSpPr/>
              <p:nvPr/>
            </p:nvSpPr>
            <p:spPr bwMode="auto">
              <a:xfrm>
                <a:off x="5783263" y="3398838"/>
                <a:ext cx="214313" cy="266700"/>
              </a:xfrm>
              <a:custGeom>
                <a:avLst/>
                <a:gdLst>
                  <a:gd name="T0" fmla="*/ 36 w 135"/>
                  <a:gd name="T1" fmla="*/ 168 h 168"/>
                  <a:gd name="T2" fmla="*/ 98 w 135"/>
                  <a:gd name="T3" fmla="*/ 168 h 168"/>
                  <a:gd name="T4" fmla="*/ 98 w 135"/>
                  <a:gd name="T5" fmla="*/ 70 h 168"/>
                  <a:gd name="T6" fmla="*/ 135 w 135"/>
                  <a:gd name="T7" fmla="*/ 70 h 168"/>
                  <a:gd name="T8" fmla="*/ 67 w 135"/>
                  <a:gd name="T9" fmla="*/ 0 h 168"/>
                  <a:gd name="T10" fmla="*/ 0 w 135"/>
                  <a:gd name="T11" fmla="*/ 70 h 168"/>
                  <a:gd name="T12" fmla="*/ 36 w 135"/>
                  <a:gd name="T13" fmla="*/ 70 h 168"/>
                  <a:gd name="T14" fmla="*/ 36 w 135"/>
                  <a:gd name="T15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5" h="168">
                    <a:moveTo>
                      <a:pt x="36" y="168"/>
                    </a:moveTo>
                    <a:lnTo>
                      <a:pt x="98" y="168"/>
                    </a:lnTo>
                    <a:lnTo>
                      <a:pt x="98" y="70"/>
                    </a:lnTo>
                    <a:lnTo>
                      <a:pt x="135" y="70"/>
                    </a:lnTo>
                    <a:lnTo>
                      <a:pt x="67" y="0"/>
                    </a:lnTo>
                    <a:lnTo>
                      <a:pt x="0" y="70"/>
                    </a:lnTo>
                    <a:lnTo>
                      <a:pt x="36" y="70"/>
                    </a:lnTo>
                    <a:lnTo>
                      <a:pt x="36" y="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Rectangle 427"/>
              <p:cNvSpPr>
                <a:spLocks noChangeArrowheads="1"/>
              </p:cNvSpPr>
              <p:nvPr/>
            </p:nvSpPr>
            <p:spPr bwMode="auto">
              <a:xfrm>
                <a:off x="5778500" y="3692525"/>
                <a:ext cx="641350" cy="619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Oval 428"/>
              <p:cNvSpPr>
                <a:spLocks noChangeArrowheads="1"/>
              </p:cNvSpPr>
              <p:nvPr/>
            </p:nvSpPr>
            <p:spPr bwMode="auto">
              <a:xfrm>
                <a:off x="6248400" y="3105150"/>
                <a:ext cx="88900" cy="1095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429"/>
              <p:cNvSpPr/>
              <p:nvPr/>
            </p:nvSpPr>
            <p:spPr bwMode="auto">
              <a:xfrm>
                <a:off x="6188075" y="3222625"/>
                <a:ext cx="206375" cy="442913"/>
              </a:xfrm>
              <a:custGeom>
                <a:avLst/>
                <a:gdLst>
                  <a:gd name="T0" fmla="*/ 7 w 54"/>
                  <a:gd name="T1" fmla="*/ 61 h 116"/>
                  <a:gd name="T2" fmla="*/ 8 w 54"/>
                  <a:gd name="T3" fmla="*/ 61 h 116"/>
                  <a:gd name="T4" fmla="*/ 9 w 54"/>
                  <a:gd name="T5" fmla="*/ 61 h 116"/>
                  <a:gd name="T6" fmla="*/ 11 w 54"/>
                  <a:gd name="T7" fmla="*/ 116 h 116"/>
                  <a:gd name="T8" fmla="*/ 26 w 54"/>
                  <a:gd name="T9" fmla="*/ 116 h 116"/>
                  <a:gd name="T10" fmla="*/ 26 w 54"/>
                  <a:gd name="T11" fmla="*/ 61 h 116"/>
                  <a:gd name="T12" fmla="*/ 28 w 54"/>
                  <a:gd name="T13" fmla="*/ 61 h 116"/>
                  <a:gd name="T14" fmla="*/ 30 w 54"/>
                  <a:gd name="T15" fmla="*/ 116 h 116"/>
                  <a:gd name="T16" fmla="*/ 45 w 54"/>
                  <a:gd name="T17" fmla="*/ 116 h 116"/>
                  <a:gd name="T18" fmla="*/ 45 w 54"/>
                  <a:gd name="T19" fmla="*/ 61 h 116"/>
                  <a:gd name="T20" fmla="*/ 46 w 54"/>
                  <a:gd name="T21" fmla="*/ 61 h 116"/>
                  <a:gd name="T22" fmla="*/ 47 w 54"/>
                  <a:gd name="T23" fmla="*/ 61 h 116"/>
                  <a:gd name="T24" fmla="*/ 47 w 54"/>
                  <a:gd name="T25" fmla="*/ 61 h 116"/>
                  <a:gd name="T26" fmla="*/ 54 w 54"/>
                  <a:gd name="T27" fmla="*/ 61 h 116"/>
                  <a:gd name="T28" fmla="*/ 50 w 54"/>
                  <a:gd name="T29" fmla="*/ 8 h 116"/>
                  <a:gd name="T30" fmla="*/ 43 w 54"/>
                  <a:gd name="T31" fmla="*/ 1 h 116"/>
                  <a:gd name="T32" fmla="*/ 37 w 54"/>
                  <a:gd name="T33" fmla="*/ 0 h 116"/>
                  <a:gd name="T34" fmla="*/ 37 w 54"/>
                  <a:gd name="T35" fmla="*/ 1 h 116"/>
                  <a:gd name="T36" fmla="*/ 41 w 54"/>
                  <a:gd name="T37" fmla="*/ 5 h 116"/>
                  <a:gd name="T38" fmla="*/ 36 w 54"/>
                  <a:gd name="T39" fmla="*/ 8 h 116"/>
                  <a:gd name="T40" fmla="*/ 38 w 54"/>
                  <a:gd name="T41" fmla="*/ 12 h 116"/>
                  <a:gd name="T42" fmla="*/ 31 w 54"/>
                  <a:gd name="T43" fmla="*/ 28 h 116"/>
                  <a:gd name="T44" fmla="*/ 30 w 54"/>
                  <a:gd name="T45" fmla="*/ 6 h 116"/>
                  <a:gd name="T46" fmla="*/ 31 w 54"/>
                  <a:gd name="T47" fmla="*/ 5 h 116"/>
                  <a:gd name="T48" fmla="*/ 30 w 54"/>
                  <a:gd name="T49" fmla="*/ 0 h 116"/>
                  <a:gd name="T50" fmla="*/ 25 w 54"/>
                  <a:gd name="T51" fmla="*/ 0 h 116"/>
                  <a:gd name="T52" fmla="*/ 23 w 54"/>
                  <a:gd name="T53" fmla="*/ 5 h 116"/>
                  <a:gd name="T54" fmla="*/ 24 w 54"/>
                  <a:gd name="T55" fmla="*/ 6 h 116"/>
                  <a:gd name="T56" fmla="*/ 23 w 54"/>
                  <a:gd name="T57" fmla="*/ 29 h 116"/>
                  <a:gd name="T58" fmla="*/ 16 w 54"/>
                  <a:gd name="T59" fmla="*/ 12 h 116"/>
                  <a:gd name="T60" fmla="*/ 18 w 54"/>
                  <a:gd name="T61" fmla="*/ 8 h 116"/>
                  <a:gd name="T62" fmla="*/ 13 w 54"/>
                  <a:gd name="T63" fmla="*/ 5 h 116"/>
                  <a:gd name="T64" fmla="*/ 17 w 54"/>
                  <a:gd name="T65" fmla="*/ 1 h 116"/>
                  <a:gd name="T66" fmla="*/ 17 w 54"/>
                  <a:gd name="T67" fmla="*/ 0 h 116"/>
                  <a:gd name="T68" fmla="*/ 11 w 54"/>
                  <a:gd name="T69" fmla="*/ 1 h 116"/>
                  <a:gd name="T70" fmla="*/ 4 w 54"/>
                  <a:gd name="T71" fmla="*/ 8 h 116"/>
                  <a:gd name="T72" fmla="*/ 0 w 54"/>
                  <a:gd name="T73" fmla="*/ 61 h 116"/>
                  <a:gd name="T74" fmla="*/ 7 w 54"/>
                  <a:gd name="T75" fmla="*/ 61 h 116"/>
                  <a:gd name="T76" fmla="*/ 7 w 54"/>
                  <a:gd name="T77" fmla="*/ 6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54" h="116">
                    <a:moveTo>
                      <a:pt x="7" y="61"/>
                    </a:moveTo>
                    <a:cubicBezTo>
                      <a:pt x="8" y="61"/>
                      <a:pt x="8" y="61"/>
                      <a:pt x="8" y="61"/>
                    </a:cubicBezTo>
                    <a:cubicBezTo>
                      <a:pt x="8" y="61"/>
                      <a:pt x="9" y="61"/>
                      <a:pt x="9" y="61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26" y="116"/>
                      <a:pt x="26" y="116"/>
                      <a:pt x="26" y="116"/>
                    </a:cubicBezTo>
                    <a:cubicBezTo>
                      <a:pt x="27" y="100"/>
                      <a:pt x="27" y="72"/>
                      <a:pt x="26" y="61"/>
                    </a:cubicBezTo>
                    <a:cubicBezTo>
                      <a:pt x="27" y="61"/>
                      <a:pt x="27" y="61"/>
                      <a:pt x="28" y="61"/>
                    </a:cubicBezTo>
                    <a:cubicBezTo>
                      <a:pt x="30" y="116"/>
                      <a:pt x="30" y="116"/>
                      <a:pt x="30" y="116"/>
                    </a:cubicBezTo>
                    <a:cubicBezTo>
                      <a:pt x="45" y="116"/>
                      <a:pt x="45" y="116"/>
                      <a:pt x="45" y="116"/>
                    </a:cubicBezTo>
                    <a:cubicBezTo>
                      <a:pt x="46" y="100"/>
                      <a:pt x="45" y="72"/>
                      <a:pt x="45" y="61"/>
                    </a:cubicBezTo>
                    <a:cubicBezTo>
                      <a:pt x="46" y="61"/>
                      <a:pt x="46" y="61"/>
                      <a:pt x="46" y="61"/>
                    </a:cubicBezTo>
                    <a:cubicBezTo>
                      <a:pt x="46" y="61"/>
                      <a:pt x="47" y="61"/>
                      <a:pt x="47" y="61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9" y="61"/>
                      <a:pt x="52" y="61"/>
                      <a:pt x="54" y="61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50" y="4"/>
                      <a:pt x="47" y="1"/>
                      <a:pt x="43" y="1"/>
                    </a:cubicBezTo>
                    <a:cubicBezTo>
                      <a:pt x="43" y="1"/>
                      <a:pt x="38" y="1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41" y="5"/>
                      <a:pt x="41" y="5"/>
                      <a:pt x="41" y="5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8" y="12"/>
                      <a:pt x="38" y="12"/>
                      <a:pt x="38" y="12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1" y="1"/>
                      <a:pt x="11" y="1"/>
                    </a:cubicBezTo>
                    <a:cubicBezTo>
                      <a:pt x="8" y="1"/>
                      <a:pt x="5" y="4"/>
                      <a:pt x="4" y="8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3" y="61"/>
                      <a:pt x="5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6542850" y="5875923"/>
            <a:ext cx="342764" cy="342764"/>
            <a:chOff x="6542850" y="5875923"/>
            <a:chExt cx="342764" cy="342764"/>
          </a:xfrm>
        </p:grpSpPr>
        <p:sp>
          <p:nvSpPr>
            <p:cNvPr id="40" name="椭圆 39"/>
            <p:cNvSpPr/>
            <p:nvPr/>
          </p:nvSpPr>
          <p:spPr>
            <a:xfrm>
              <a:off x="6542850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6626221" y="5960251"/>
              <a:ext cx="200055" cy="198141"/>
              <a:chOff x="5767388" y="3098800"/>
              <a:chExt cx="663575" cy="657225"/>
            </a:xfrm>
            <a:solidFill>
              <a:schemeClr val="accent1"/>
            </a:solidFill>
          </p:grpSpPr>
          <p:sp>
            <p:nvSpPr>
              <p:cNvPr id="41" name="Freeform 253"/>
              <p:cNvSpPr>
                <a:spLocks noEditPoints="1"/>
              </p:cNvSpPr>
              <p:nvPr/>
            </p:nvSpPr>
            <p:spPr bwMode="auto">
              <a:xfrm>
                <a:off x="5767388" y="3098800"/>
                <a:ext cx="663575" cy="519113"/>
              </a:xfrm>
              <a:custGeom>
                <a:avLst/>
                <a:gdLst>
                  <a:gd name="T0" fmla="*/ 165 w 174"/>
                  <a:gd name="T1" fmla="*/ 0 h 136"/>
                  <a:gd name="T2" fmla="*/ 9 w 174"/>
                  <a:gd name="T3" fmla="*/ 0 h 136"/>
                  <a:gd name="T4" fmla="*/ 0 w 174"/>
                  <a:gd name="T5" fmla="*/ 9 h 136"/>
                  <a:gd name="T6" fmla="*/ 0 w 174"/>
                  <a:gd name="T7" fmla="*/ 128 h 136"/>
                  <a:gd name="T8" fmla="*/ 9 w 174"/>
                  <a:gd name="T9" fmla="*/ 136 h 136"/>
                  <a:gd name="T10" fmla="*/ 50 w 174"/>
                  <a:gd name="T11" fmla="*/ 136 h 136"/>
                  <a:gd name="T12" fmla="*/ 41 w 174"/>
                  <a:gd name="T13" fmla="*/ 121 h 136"/>
                  <a:gd name="T14" fmla="*/ 17 w 174"/>
                  <a:gd name="T15" fmla="*/ 121 h 136"/>
                  <a:gd name="T16" fmla="*/ 17 w 174"/>
                  <a:gd name="T17" fmla="*/ 16 h 136"/>
                  <a:gd name="T18" fmla="*/ 157 w 174"/>
                  <a:gd name="T19" fmla="*/ 16 h 136"/>
                  <a:gd name="T20" fmla="*/ 157 w 174"/>
                  <a:gd name="T21" fmla="*/ 121 h 136"/>
                  <a:gd name="T22" fmla="*/ 133 w 174"/>
                  <a:gd name="T23" fmla="*/ 121 h 136"/>
                  <a:gd name="T24" fmla="*/ 133 w 174"/>
                  <a:gd name="T25" fmla="*/ 127 h 136"/>
                  <a:gd name="T26" fmla="*/ 131 w 174"/>
                  <a:gd name="T27" fmla="*/ 136 h 136"/>
                  <a:gd name="T28" fmla="*/ 165 w 174"/>
                  <a:gd name="T29" fmla="*/ 136 h 136"/>
                  <a:gd name="T30" fmla="*/ 174 w 174"/>
                  <a:gd name="T31" fmla="*/ 128 h 136"/>
                  <a:gd name="T32" fmla="*/ 174 w 174"/>
                  <a:gd name="T33" fmla="*/ 9 h 136"/>
                  <a:gd name="T34" fmla="*/ 165 w 174"/>
                  <a:gd name="T35" fmla="*/ 0 h 136"/>
                  <a:gd name="T36" fmla="*/ 8 w 174"/>
                  <a:gd name="T37" fmla="*/ 74 h 136"/>
                  <a:gd name="T38" fmla="*/ 3 w 174"/>
                  <a:gd name="T39" fmla="*/ 68 h 136"/>
                  <a:gd name="T40" fmla="*/ 8 w 174"/>
                  <a:gd name="T41" fmla="*/ 63 h 136"/>
                  <a:gd name="T42" fmla="*/ 14 w 174"/>
                  <a:gd name="T43" fmla="*/ 68 h 136"/>
                  <a:gd name="T44" fmla="*/ 8 w 174"/>
                  <a:gd name="T45" fmla="*/ 7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74" h="136">
                    <a:moveTo>
                      <a:pt x="165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2"/>
                      <a:pt x="4" y="136"/>
                      <a:pt x="9" y="136"/>
                    </a:cubicBezTo>
                    <a:cubicBezTo>
                      <a:pt x="50" y="136"/>
                      <a:pt x="50" y="136"/>
                      <a:pt x="50" y="136"/>
                    </a:cubicBezTo>
                    <a:cubicBezTo>
                      <a:pt x="46" y="131"/>
                      <a:pt x="43" y="126"/>
                      <a:pt x="41" y="121"/>
                    </a:cubicBezTo>
                    <a:cubicBezTo>
                      <a:pt x="17" y="121"/>
                      <a:pt x="17" y="121"/>
                      <a:pt x="17" y="121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57" y="16"/>
                      <a:pt x="157" y="16"/>
                      <a:pt x="157" y="16"/>
                    </a:cubicBezTo>
                    <a:cubicBezTo>
                      <a:pt x="157" y="121"/>
                      <a:pt x="157" y="121"/>
                      <a:pt x="157" y="121"/>
                    </a:cubicBezTo>
                    <a:cubicBezTo>
                      <a:pt x="133" y="121"/>
                      <a:pt x="133" y="121"/>
                      <a:pt x="133" y="121"/>
                    </a:cubicBezTo>
                    <a:cubicBezTo>
                      <a:pt x="133" y="127"/>
                      <a:pt x="133" y="127"/>
                      <a:pt x="133" y="127"/>
                    </a:cubicBezTo>
                    <a:cubicBezTo>
                      <a:pt x="133" y="130"/>
                      <a:pt x="132" y="133"/>
                      <a:pt x="131" y="136"/>
                    </a:cubicBezTo>
                    <a:cubicBezTo>
                      <a:pt x="165" y="136"/>
                      <a:pt x="165" y="136"/>
                      <a:pt x="165" y="136"/>
                    </a:cubicBezTo>
                    <a:cubicBezTo>
                      <a:pt x="170" y="136"/>
                      <a:pt x="174" y="132"/>
                      <a:pt x="174" y="128"/>
                    </a:cubicBezTo>
                    <a:cubicBezTo>
                      <a:pt x="174" y="9"/>
                      <a:pt x="174" y="9"/>
                      <a:pt x="174" y="9"/>
                    </a:cubicBezTo>
                    <a:cubicBezTo>
                      <a:pt x="174" y="4"/>
                      <a:pt x="170" y="0"/>
                      <a:pt x="165" y="0"/>
                    </a:cubicBezTo>
                    <a:close/>
                    <a:moveTo>
                      <a:pt x="8" y="74"/>
                    </a:moveTo>
                    <a:cubicBezTo>
                      <a:pt x="5" y="74"/>
                      <a:pt x="3" y="71"/>
                      <a:pt x="3" y="68"/>
                    </a:cubicBezTo>
                    <a:cubicBezTo>
                      <a:pt x="3" y="65"/>
                      <a:pt x="5" y="63"/>
                      <a:pt x="8" y="63"/>
                    </a:cubicBezTo>
                    <a:cubicBezTo>
                      <a:pt x="11" y="63"/>
                      <a:pt x="14" y="65"/>
                      <a:pt x="14" y="68"/>
                    </a:cubicBezTo>
                    <a:cubicBezTo>
                      <a:pt x="14" y="71"/>
                      <a:pt x="11" y="74"/>
                      <a:pt x="8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254"/>
              <p:cNvSpPr/>
              <p:nvPr/>
            </p:nvSpPr>
            <p:spPr bwMode="auto">
              <a:xfrm>
                <a:off x="5913438" y="3235325"/>
                <a:ext cx="334963" cy="520700"/>
              </a:xfrm>
              <a:custGeom>
                <a:avLst/>
                <a:gdLst>
                  <a:gd name="T0" fmla="*/ 88 w 88"/>
                  <a:gd name="T1" fmla="*/ 72 h 136"/>
                  <a:gd name="T2" fmla="*/ 88 w 88"/>
                  <a:gd name="T3" fmla="*/ 69 h 136"/>
                  <a:gd name="T4" fmla="*/ 88 w 88"/>
                  <a:gd name="T5" fmla="*/ 47 h 136"/>
                  <a:gd name="T6" fmla="*/ 81 w 88"/>
                  <a:gd name="T7" fmla="*/ 40 h 136"/>
                  <a:gd name="T8" fmla="*/ 73 w 88"/>
                  <a:gd name="T9" fmla="*/ 47 h 136"/>
                  <a:gd name="T10" fmla="*/ 73 w 88"/>
                  <a:gd name="T11" fmla="*/ 49 h 136"/>
                  <a:gd name="T12" fmla="*/ 72 w 88"/>
                  <a:gd name="T13" fmla="*/ 48 h 136"/>
                  <a:gd name="T14" fmla="*/ 72 w 88"/>
                  <a:gd name="T15" fmla="*/ 37 h 136"/>
                  <a:gd name="T16" fmla="*/ 64 w 88"/>
                  <a:gd name="T17" fmla="*/ 30 h 136"/>
                  <a:gd name="T18" fmla="*/ 57 w 88"/>
                  <a:gd name="T19" fmla="*/ 37 h 136"/>
                  <a:gd name="T20" fmla="*/ 57 w 88"/>
                  <a:gd name="T21" fmla="*/ 43 h 136"/>
                  <a:gd name="T22" fmla="*/ 55 w 88"/>
                  <a:gd name="T23" fmla="*/ 43 h 136"/>
                  <a:gd name="T24" fmla="*/ 55 w 88"/>
                  <a:gd name="T25" fmla="*/ 31 h 136"/>
                  <a:gd name="T26" fmla="*/ 48 w 88"/>
                  <a:gd name="T27" fmla="*/ 24 h 136"/>
                  <a:gd name="T28" fmla="*/ 40 w 88"/>
                  <a:gd name="T29" fmla="*/ 31 h 136"/>
                  <a:gd name="T30" fmla="*/ 40 w 88"/>
                  <a:gd name="T31" fmla="*/ 40 h 136"/>
                  <a:gd name="T32" fmla="*/ 38 w 88"/>
                  <a:gd name="T33" fmla="*/ 41 h 136"/>
                  <a:gd name="T34" fmla="*/ 38 w 88"/>
                  <a:gd name="T35" fmla="*/ 7 h 136"/>
                  <a:gd name="T36" fmla="*/ 31 w 88"/>
                  <a:gd name="T37" fmla="*/ 0 h 136"/>
                  <a:gd name="T38" fmla="*/ 24 w 88"/>
                  <a:gd name="T39" fmla="*/ 7 h 136"/>
                  <a:gd name="T40" fmla="*/ 24 w 88"/>
                  <a:gd name="T41" fmla="*/ 67 h 136"/>
                  <a:gd name="T42" fmla="*/ 22 w 88"/>
                  <a:gd name="T43" fmla="*/ 56 h 136"/>
                  <a:gd name="T44" fmla="*/ 8 w 88"/>
                  <a:gd name="T45" fmla="*/ 40 h 136"/>
                  <a:gd name="T46" fmla="*/ 1 w 88"/>
                  <a:gd name="T47" fmla="*/ 46 h 136"/>
                  <a:gd name="T48" fmla="*/ 8 w 88"/>
                  <a:gd name="T49" fmla="*/ 73 h 136"/>
                  <a:gd name="T50" fmla="*/ 20 w 88"/>
                  <a:gd name="T51" fmla="*/ 98 h 136"/>
                  <a:gd name="T52" fmla="*/ 22 w 88"/>
                  <a:gd name="T53" fmla="*/ 101 h 136"/>
                  <a:gd name="T54" fmla="*/ 32 w 88"/>
                  <a:gd name="T55" fmla="*/ 111 h 136"/>
                  <a:gd name="T56" fmla="*/ 32 w 88"/>
                  <a:gd name="T57" fmla="*/ 136 h 136"/>
                  <a:gd name="T58" fmla="*/ 81 w 88"/>
                  <a:gd name="T59" fmla="*/ 136 h 136"/>
                  <a:gd name="T60" fmla="*/ 81 w 88"/>
                  <a:gd name="T61" fmla="*/ 110 h 136"/>
                  <a:gd name="T62" fmla="*/ 87 w 88"/>
                  <a:gd name="T63" fmla="*/ 91 h 136"/>
                  <a:gd name="T64" fmla="*/ 88 w 88"/>
                  <a:gd name="T65" fmla="*/ 72 h 136"/>
                  <a:gd name="T66" fmla="*/ 88 w 88"/>
                  <a:gd name="T67" fmla="*/ 72 h 136"/>
                  <a:gd name="T68" fmla="*/ 88 w 88"/>
                  <a:gd name="T69" fmla="*/ 72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8" h="136">
                    <a:moveTo>
                      <a:pt x="88" y="72"/>
                    </a:moveTo>
                    <a:cubicBezTo>
                      <a:pt x="88" y="71"/>
                      <a:pt x="88" y="70"/>
                      <a:pt x="88" y="69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3"/>
                      <a:pt x="85" y="40"/>
                      <a:pt x="81" y="40"/>
                    </a:cubicBezTo>
                    <a:cubicBezTo>
                      <a:pt x="77" y="40"/>
                      <a:pt x="73" y="43"/>
                      <a:pt x="73" y="47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73" y="49"/>
                      <a:pt x="72" y="48"/>
                      <a:pt x="72" y="48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3"/>
                      <a:pt x="68" y="30"/>
                      <a:pt x="64" y="30"/>
                    </a:cubicBezTo>
                    <a:cubicBezTo>
                      <a:pt x="60" y="30"/>
                      <a:pt x="57" y="33"/>
                      <a:pt x="57" y="37"/>
                    </a:cubicBezTo>
                    <a:cubicBezTo>
                      <a:pt x="57" y="43"/>
                      <a:pt x="57" y="43"/>
                      <a:pt x="57" y="43"/>
                    </a:cubicBezTo>
                    <a:cubicBezTo>
                      <a:pt x="56" y="43"/>
                      <a:pt x="56" y="43"/>
                      <a:pt x="55" y="43"/>
                    </a:cubicBezTo>
                    <a:cubicBezTo>
                      <a:pt x="55" y="31"/>
                      <a:pt x="55" y="31"/>
                      <a:pt x="55" y="31"/>
                    </a:cubicBezTo>
                    <a:cubicBezTo>
                      <a:pt x="55" y="27"/>
                      <a:pt x="52" y="24"/>
                      <a:pt x="48" y="24"/>
                    </a:cubicBezTo>
                    <a:cubicBezTo>
                      <a:pt x="44" y="24"/>
                      <a:pt x="40" y="27"/>
                      <a:pt x="40" y="31"/>
                    </a:cubicBezTo>
                    <a:cubicBezTo>
                      <a:pt x="40" y="40"/>
                      <a:pt x="40" y="40"/>
                      <a:pt x="40" y="40"/>
                    </a:cubicBezTo>
                    <a:cubicBezTo>
                      <a:pt x="40" y="40"/>
                      <a:pt x="39" y="40"/>
                      <a:pt x="38" y="41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3"/>
                      <a:pt x="35" y="0"/>
                      <a:pt x="31" y="0"/>
                    </a:cubicBezTo>
                    <a:cubicBezTo>
                      <a:pt x="27" y="0"/>
                      <a:pt x="24" y="3"/>
                      <a:pt x="24" y="7"/>
                    </a:cubicBezTo>
                    <a:cubicBezTo>
                      <a:pt x="24" y="67"/>
                      <a:pt x="24" y="67"/>
                      <a:pt x="24" y="67"/>
                    </a:cubicBezTo>
                    <a:cubicBezTo>
                      <a:pt x="22" y="63"/>
                      <a:pt x="22" y="59"/>
                      <a:pt x="22" y="56"/>
                    </a:cubicBezTo>
                    <a:cubicBezTo>
                      <a:pt x="19" y="44"/>
                      <a:pt x="12" y="39"/>
                      <a:pt x="8" y="40"/>
                    </a:cubicBezTo>
                    <a:cubicBezTo>
                      <a:pt x="7" y="40"/>
                      <a:pt x="0" y="43"/>
                      <a:pt x="1" y="46"/>
                    </a:cubicBezTo>
                    <a:cubicBezTo>
                      <a:pt x="2" y="48"/>
                      <a:pt x="7" y="60"/>
                      <a:pt x="8" y="73"/>
                    </a:cubicBezTo>
                    <a:cubicBezTo>
                      <a:pt x="8" y="82"/>
                      <a:pt x="14" y="91"/>
                      <a:pt x="20" y="98"/>
                    </a:cubicBezTo>
                    <a:cubicBezTo>
                      <a:pt x="20" y="99"/>
                      <a:pt x="21" y="100"/>
                      <a:pt x="22" y="101"/>
                    </a:cubicBezTo>
                    <a:cubicBezTo>
                      <a:pt x="32" y="111"/>
                      <a:pt x="32" y="111"/>
                      <a:pt x="32" y="111"/>
                    </a:cubicBezTo>
                    <a:cubicBezTo>
                      <a:pt x="32" y="136"/>
                      <a:pt x="32" y="136"/>
                      <a:pt x="32" y="136"/>
                    </a:cubicBezTo>
                    <a:cubicBezTo>
                      <a:pt x="81" y="136"/>
                      <a:pt x="81" y="136"/>
                      <a:pt x="81" y="136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5" y="104"/>
                      <a:pt x="87" y="97"/>
                      <a:pt x="87" y="91"/>
                    </a:cubicBezTo>
                    <a:cubicBezTo>
                      <a:pt x="88" y="85"/>
                      <a:pt x="88" y="78"/>
                      <a:pt x="88" y="72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88" y="72"/>
                      <a:pt x="88" y="72"/>
                      <a:pt x="88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7161082" y="5875923"/>
            <a:ext cx="342764" cy="342764"/>
            <a:chOff x="7161082" y="5875923"/>
            <a:chExt cx="342764" cy="342764"/>
          </a:xfrm>
        </p:grpSpPr>
        <p:sp>
          <p:nvSpPr>
            <p:cNvPr id="22" name="椭圆 21"/>
            <p:cNvSpPr/>
            <p:nvPr/>
          </p:nvSpPr>
          <p:spPr>
            <a:xfrm>
              <a:off x="7161082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/>
            <p:cNvGrpSpPr>
              <a:grpSpLocks noChangeAspect="1"/>
            </p:cNvGrpSpPr>
            <p:nvPr/>
          </p:nvGrpSpPr>
          <p:grpSpPr>
            <a:xfrm flipH="1">
              <a:off x="7229508" y="5947390"/>
              <a:ext cx="205911" cy="199830"/>
              <a:chOff x="5719763" y="3063875"/>
              <a:chExt cx="752475" cy="730250"/>
            </a:xfrm>
            <a:solidFill>
              <a:schemeClr val="accent1"/>
            </a:solidFill>
          </p:grpSpPr>
          <p:sp>
            <p:nvSpPr>
              <p:cNvPr id="23" name="Oval 154"/>
              <p:cNvSpPr>
                <a:spLocks noChangeArrowheads="1"/>
              </p:cNvSpPr>
              <p:nvPr/>
            </p:nvSpPr>
            <p:spPr bwMode="auto">
              <a:xfrm>
                <a:off x="6161088" y="3098800"/>
                <a:ext cx="95250" cy="1174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Rectangle 155"/>
              <p:cNvSpPr>
                <a:spLocks noChangeArrowheads="1"/>
              </p:cNvSpPr>
              <p:nvPr/>
            </p:nvSpPr>
            <p:spPr bwMode="auto">
              <a:xfrm>
                <a:off x="6210301" y="3387725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156"/>
              <p:cNvSpPr/>
              <p:nvPr/>
            </p:nvSpPr>
            <p:spPr bwMode="auto">
              <a:xfrm>
                <a:off x="6191251" y="3235325"/>
                <a:ext cx="33338" cy="33338"/>
              </a:xfrm>
              <a:custGeom>
                <a:avLst/>
                <a:gdLst>
                  <a:gd name="T0" fmla="*/ 17 w 21"/>
                  <a:gd name="T1" fmla="*/ 0 h 21"/>
                  <a:gd name="T2" fmla="*/ 21 w 21"/>
                  <a:gd name="T3" fmla="*/ 12 h 21"/>
                  <a:gd name="T4" fmla="*/ 12 w 21"/>
                  <a:gd name="T5" fmla="*/ 21 h 21"/>
                  <a:gd name="T6" fmla="*/ 0 w 21"/>
                  <a:gd name="T7" fmla="*/ 12 h 21"/>
                  <a:gd name="T8" fmla="*/ 5 w 21"/>
                  <a:gd name="T9" fmla="*/ 0 h 21"/>
                  <a:gd name="T10" fmla="*/ 17 w 21"/>
                  <a:gd name="T11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21">
                    <a:moveTo>
                      <a:pt x="17" y="0"/>
                    </a:moveTo>
                    <a:lnTo>
                      <a:pt x="21" y="12"/>
                    </a:lnTo>
                    <a:lnTo>
                      <a:pt x="12" y="21"/>
                    </a:lnTo>
                    <a:lnTo>
                      <a:pt x="0" y="12"/>
                    </a:lnTo>
                    <a:lnTo>
                      <a:pt x="5" y="0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157"/>
              <p:cNvSpPr/>
              <p:nvPr/>
            </p:nvSpPr>
            <p:spPr bwMode="auto">
              <a:xfrm>
                <a:off x="6191251" y="3257550"/>
                <a:ext cx="33338" cy="141288"/>
              </a:xfrm>
              <a:custGeom>
                <a:avLst/>
                <a:gdLst>
                  <a:gd name="T0" fmla="*/ 19 w 21"/>
                  <a:gd name="T1" fmla="*/ 0 h 89"/>
                  <a:gd name="T2" fmla="*/ 21 w 21"/>
                  <a:gd name="T3" fmla="*/ 82 h 89"/>
                  <a:gd name="T4" fmla="*/ 12 w 21"/>
                  <a:gd name="T5" fmla="*/ 89 h 89"/>
                  <a:gd name="T6" fmla="*/ 0 w 21"/>
                  <a:gd name="T7" fmla="*/ 82 h 89"/>
                  <a:gd name="T8" fmla="*/ 5 w 21"/>
                  <a:gd name="T9" fmla="*/ 0 h 89"/>
                  <a:gd name="T10" fmla="*/ 19 w 21"/>
                  <a:gd name="T1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89">
                    <a:moveTo>
                      <a:pt x="19" y="0"/>
                    </a:moveTo>
                    <a:lnTo>
                      <a:pt x="21" y="82"/>
                    </a:lnTo>
                    <a:lnTo>
                      <a:pt x="12" y="89"/>
                    </a:lnTo>
                    <a:lnTo>
                      <a:pt x="0" y="82"/>
                    </a:lnTo>
                    <a:lnTo>
                      <a:pt x="5" y="0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Oval 158"/>
              <p:cNvSpPr>
                <a:spLocks noChangeArrowheads="1"/>
              </p:cNvSpPr>
              <p:nvPr/>
            </p:nvSpPr>
            <p:spPr bwMode="auto">
              <a:xfrm>
                <a:off x="5856288" y="3063875"/>
                <a:ext cx="111125" cy="133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Rectangle 159"/>
              <p:cNvSpPr>
                <a:spLocks noChangeArrowheads="1"/>
              </p:cNvSpPr>
              <p:nvPr/>
            </p:nvSpPr>
            <p:spPr bwMode="auto">
              <a:xfrm>
                <a:off x="5913438" y="3387725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60"/>
              <p:cNvSpPr/>
              <p:nvPr/>
            </p:nvSpPr>
            <p:spPr bwMode="auto">
              <a:xfrm>
                <a:off x="5722938" y="3322638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Rectangle 161"/>
              <p:cNvSpPr>
                <a:spLocks noChangeArrowheads="1"/>
              </p:cNvSpPr>
              <p:nvPr/>
            </p:nvSpPr>
            <p:spPr bwMode="auto">
              <a:xfrm>
                <a:off x="5913438" y="3387725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62"/>
              <p:cNvSpPr/>
              <p:nvPr/>
            </p:nvSpPr>
            <p:spPr bwMode="auto">
              <a:xfrm>
                <a:off x="5894388" y="3205163"/>
                <a:ext cx="34925" cy="41275"/>
              </a:xfrm>
              <a:custGeom>
                <a:avLst/>
                <a:gdLst>
                  <a:gd name="T0" fmla="*/ 19 w 22"/>
                  <a:gd name="T1" fmla="*/ 0 h 26"/>
                  <a:gd name="T2" fmla="*/ 22 w 22"/>
                  <a:gd name="T3" fmla="*/ 16 h 26"/>
                  <a:gd name="T4" fmla="*/ 12 w 22"/>
                  <a:gd name="T5" fmla="*/ 26 h 26"/>
                  <a:gd name="T6" fmla="*/ 0 w 22"/>
                  <a:gd name="T7" fmla="*/ 16 h 26"/>
                  <a:gd name="T8" fmla="*/ 5 w 22"/>
                  <a:gd name="T9" fmla="*/ 0 h 26"/>
                  <a:gd name="T10" fmla="*/ 19 w 22"/>
                  <a:gd name="T1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26">
                    <a:moveTo>
                      <a:pt x="19" y="0"/>
                    </a:moveTo>
                    <a:lnTo>
                      <a:pt x="22" y="16"/>
                    </a:lnTo>
                    <a:lnTo>
                      <a:pt x="12" y="26"/>
                    </a:lnTo>
                    <a:lnTo>
                      <a:pt x="0" y="16"/>
                    </a:lnTo>
                    <a:lnTo>
                      <a:pt x="5" y="0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163"/>
              <p:cNvSpPr/>
              <p:nvPr/>
            </p:nvSpPr>
            <p:spPr bwMode="auto">
              <a:xfrm>
                <a:off x="5891213" y="3235325"/>
                <a:ext cx="41275" cy="166688"/>
              </a:xfrm>
              <a:custGeom>
                <a:avLst/>
                <a:gdLst>
                  <a:gd name="T0" fmla="*/ 21 w 26"/>
                  <a:gd name="T1" fmla="*/ 0 h 105"/>
                  <a:gd name="T2" fmla="*/ 26 w 26"/>
                  <a:gd name="T3" fmla="*/ 96 h 105"/>
                  <a:gd name="T4" fmla="*/ 14 w 26"/>
                  <a:gd name="T5" fmla="*/ 105 h 105"/>
                  <a:gd name="T6" fmla="*/ 0 w 26"/>
                  <a:gd name="T7" fmla="*/ 96 h 105"/>
                  <a:gd name="T8" fmla="*/ 4 w 26"/>
                  <a:gd name="T9" fmla="*/ 0 h 105"/>
                  <a:gd name="T10" fmla="*/ 21 w 26"/>
                  <a:gd name="T11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105">
                    <a:moveTo>
                      <a:pt x="21" y="0"/>
                    </a:moveTo>
                    <a:lnTo>
                      <a:pt x="26" y="96"/>
                    </a:lnTo>
                    <a:lnTo>
                      <a:pt x="14" y="105"/>
                    </a:lnTo>
                    <a:lnTo>
                      <a:pt x="0" y="96"/>
                    </a:lnTo>
                    <a:lnTo>
                      <a:pt x="4" y="0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164"/>
              <p:cNvSpPr>
                <a:spLocks noEditPoints="1"/>
              </p:cNvSpPr>
              <p:nvPr/>
            </p:nvSpPr>
            <p:spPr bwMode="auto">
              <a:xfrm>
                <a:off x="5719763" y="3211513"/>
                <a:ext cx="373063" cy="547688"/>
              </a:xfrm>
              <a:custGeom>
                <a:avLst/>
                <a:gdLst>
                  <a:gd name="T0" fmla="*/ 60 w 98"/>
                  <a:gd name="T1" fmla="*/ 74 h 144"/>
                  <a:gd name="T2" fmla="*/ 75 w 98"/>
                  <a:gd name="T3" fmla="*/ 57 h 144"/>
                  <a:gd name="T4" fmla="*/ 74 w 98"/>
                  <a:gd name="T5" fmla="*/ 36 h 144"/>
                  <a:gd name="T6" fmla="*/ 77 w 98"/>
                  <a:gd name="T7" fmla="*/ 40 h 144"/>
                  <a:gd name="T8" fmla="*/ 78 w 98"/>
                  <a:gd name="T9" fmla="*/ 57 h 144"/>
                  <a:gd name="T10" fmla="*/ 98 w 98"/>
                  <a:gd name="T11" fmla="*/ 57 h 144"/>
                  <a:gd name="T12" fmla="*/ 92 w 98"/>
                  <a:gd name="T13" fmla="*/ 31 h 144"/>
                  <a:gd name="T14" fmla="*/ 74 w 98"/>
                  <a:gd name="T15" fmla="*/ 4 h 144"/>
                  <a:gd name="T16" fmla="*/ 63 w 98"/>
                  <a:gd name="T17" fmla="*/ 0 h 144"/>
                  <a:gd name="T18" fmla="*/ 63 w 98"/>
                  <a:gd name="T19" fmla="*/ 0 h 144"/>
                  <a:gd name="T20" fmla="*/ 69 w 98"/>
                  <a:gd name="T21" fmla="*/ 5 h 144"/>
                  <a:gd name="T22" fmla="*/ 61 w 98"/>
                  <a:gd name="T23" fmla="*/ 9 h 144"/>
                  <a:gd name="T24" fmla="*/ 65 w 98"/>
                  <a:gd name="T25" fmla="*/ 15 h 144"/>
                  <a:gd name="T26" fmla="*/ 51 w 98"/>
                  <a:gd name="T27" fmla="*/ 46 h 144"/>
                  <a:gd name="T28" fmla="*/ 51 w 98"/>
                  <a:gd name="T29" fmla="*/ 46 h 144"/>
                  <a:gd name="T30" fmla="*/ 51 w 98"/>
                  <a:gd name="T31" fmla="*/ 46 h 144"/>
                  <a:gd name="T32" fmla="*/ 51 w 98"/>
                  <a:gd name="T33" fmla="*/ 46 h 144"/>
                  <a:gd name="T34" fmla="*/ 51 w 98"/>
                  <a:gd name="T35" fmla="*/ 46 h 144"/>
                  <a:gd name="T36" fmla="*/ 36 w 98"/>
                  <a:gd name="T37" fmla="*/ 15 h 144"/>
                  <a:gd name="T38" fmla="*/ 40 w 98"/>
                  <a:gd name="T39" fmla="*/ 9 h 144"/>
                  <a:gd name="T40" fmla="*/ 33 w 98"/>
                  <a:gd name="T41" fmla="*/ 5 h 144"/>
                  <a:gd name="T42" fmla="*/ 39 w 98"/>
                  <a:gd name="T43" fmla="*/ 0 h 144"/>
                  <a:gd name="T44" fmla="*/ 39 w 98"/>
                  <a:gd name="T45" fmla="*/ 0 h 144"/>
                  <a:gd name="T46" fmla="*/ 31 w 98"/>
                  <a:gd name="T47" fmla="*/ 0 h 144"/>
                  <a:gd name="T48" fmla="*/ 25 w 98"/>
                  <a:gd name="T49" fmla="*/ 3 h 144"/>
                  <a:gd name="T50" fmla="*/ 1 w 98"/>
                  <a:gd name="T51" fmla="*/ 29 h 144"/>
                  <a:gd name="T52" fmla="*/ 1 w 98"/>
                  <a:gd name="T53" fmla="*/ 29 h 144"/>
                  <a:gd name="T54" fmla="*/ 1 w 98"/>
                  <a:gd name="T55" fmla="*/ 30 h 144"/>
                  <a:gd name="T56" fmla="*/ 0 w 98"/>
                  <a:gd name="T57" fmla="*/ 40 h 144"/>
                  <a:gd name="T58" fmla="*/ 0 w 98"/>
                  <a:gd name="T59" fmla="*/ 41 h 144"/>
                  <a:gd name="T60" fmla="*/ 0 w 98"/>
                  <a:gd name="T61" fmla="*/ 42 h 144"/>
                  <a:gd name="T62" fmla="*/ 1 w 98"/>
                  <a:gd name="T63" fmla="*/ 44 h 144"/>
                  <a:gd name="T64" fmla="*/ 3 w 98"/>
                  <a:gd name="T65" fmla="*/ 48 h 144"/>
                  <a:gd name="T66" fmla="*/ 7 w 98"/>
                  <a:gd name="T67" fmla="*/ 55 h 144"/>
                  <a:gd name="T68" fmla="*/ 15 w 98"/>
                  <a:gd name="T69" fmla="*/ 71 h 144"/>
                  <a:gd name="T70" fmla="*/ 26 w 98"/>
                  <a:gd name="T71" fmla="*/ 65 h 144"/>
                  <a:gd name="T72" fmla="*/ 26 w 98"/>
                  <a:gd name="T73" fmla="*/ 75 h 144"/>
                  <a:gd name="T74" fmla="*/ 26 w 98"/>
                  <a:gd name="T75" fmla="*/ 76 h 144"/>
                  <a:gd name="T76" fmla="*/ 28 w 98"/>
                  <a:gd name="T77" fmla="*/ 76 h 144"/>
                  <a:gd name="T78" fmla="*/ 30 w 98"/>
                  <a:gd name="T79" fmla="*/ 144 h 144"/>
                  <a:gd name="T80" fmla="*/ 50 w 98"/>
                  <a:gd name="T81" fmla="*/ 144 h 144"/>
                  <a:gd name="T82" fmla="*/ 50 w 98"/>
                  <a:gd name="T83" fmla="*/ 76 h 144"/>
                  <a:gd name="T84" fmla="*/ 52 w 98"/>
                  <a:gd name="T85" fmla="*/ 76 h 144"/>
                  <a:gd name="T86" fmla="*/ 54 w 98"/>
                  <a:gd name="T87" fmla="*/ 144 h 144"/>
                  <a:gd name="T88" fmla="*/ 60 w 98"/>
                  <a:gd name="T89" fmla="*/ 144 h 144"/>
                  <a:gd name="T90" fmla="*/ 60 w 98"/>
                  <a:gd name="T91" fmla="*/ 74 h 144"/>
                  <a:gd name="T92" fmla="*/ 27 w 98"/>
                  <a:gd name="T93" fmla="*/ 50 h 144"/>
                  <a:gd name="T94" fmla="*/ 24 w 98"/>
                  <a:gd name="T95" fmla="*/ 46 h 144"/>
                  <a:gd name="T96" fmla="*/ 20 w 98"/>
                  <a:gd name="T97" fmla="*/ 39 h 144"/>
                  <a:gd name="T98" fmla="*/ 19 w 98"/>
                  <a:gd name="T99" fmla="*/ 36 h 144"/>
                  <a:gd name="T100" fmla="*/ 27 w 98"/>
                  <a:gd name="T101" fmla="*/ 26 h 144"/>
                  <a:gd name="T102" fmla="*/ 27 w 98"/>
                  <a:gd name="T103" fmla="*/ 50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8" h="144">
                    <a:moveTo>
                      <a:pt x="60" y="74"/>
                    </a:moveTo>
                    <a:cubicBezTo>
                      <a:pt x="60" y="66"/>
                      <a:pt x="66" y="58"/>
                      <a:pt x="75" y="57"/>
                    </a:cubicBezTo>
                    <a:cubicBezTo>
                      <a:pt x="75" y="50"/>
                      <a:pt x="75" y="43"/>
                      <a:pt x="74" y="36"/>
                    </a:cubicBezTo>
                    <a:cubicBezTo>
                      <a:pt x="77" y="40"/>
                      <a:pt x="77" y="40"/>
                      <a:pt x="77" y="40"/>
                    </a:cubicBezTo>
                    <a:cubicBezTo>
                      <a:pt x="78" y="41"/>
                      <a:pt x="78" y="49"/>
                      <a:pt x="78" y="57"/>
                    </a:cubicBezTo>
                    <a:cubicBezTo>
                      <a:pt x="98" y="57"/>
                      <a:pt x="98" y="57"/>
                      <a:pt x="98" y="57"/>
                    </a:cubicBezTo>
                    <a:cubicBezTo>
                      <a:pt x="98" y="50"/>
                      <a:pt x="98" y="43"/>
                      <a:pt x="92" y="31"/>
                    </a:cubicBezTo>
                    <a:cubicBezTo>
                      <a:pt x="74" y="4"/>
                      <a:pt x="74" y="4"/>
                      <a:pt x="74" y="4"/>
                    </a:cubicBezTo>
                    <a:cubicBezTo>
                      <a:pt x="71" y="0"/>
                      <a:pt x="64" y="0"/>
                      <a:pt x="63" y="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9" y="5"/>
                      <a:pt x="69" y="5"/>
                      <a:pt x="69" y="5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5" y="15"/>
                      <a:pt x="65" y="15"/>
                      <a:pt x="65" y="15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6" y="0"/>
                      <a:pt x="31" y="0"/>
                      <a:pt x="31" y="0"/>
                    </a:cubicBezTo>
                    <a:cubicBezTo>
                      <a:pt x="29" y="1"/>
                      <a:pt x="27" y="2"/>
                      <a:pt x="25" y="3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1" y="31"/>
                      <a:pt x="0" y="40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" y="44"/>
                      <a:pt x="1" y="44"/>
                      <a:pt x="1" y="44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15" y="71"/>
                      <a:pt x="15" y="71"/>
                      <a:pt x="15" y="71"/>
                    </a:cubicBezTo>
                    <a:cubicBezTo>
                      <a:pt x="19" y="69"/>
                      <a:pt x="23" y="67"/>
                      <a:pt x="26" y="65"/>
                    </a:cubicBezTo>
                    <a:cubicBezTo>
                      <a:pt x="26" y="69"/>
                      <a:pt x="26" y="72"/>
                      <a:pt x="26" y="75"/>
                    </a:cubicBezTo>
                    <a:cubicBezTo>
                      <a:pt x="26" y="76"/>
                      <a:pt x="26" y="76"/>
                      <a:pt x="26" y="76"/>
                    </a:cubicBezTo>
                    <a:cubicBezTo>
                      <a:pt x="27" y="76"/>
                      <a:pt x="27" y="76"/>
                      <a:pt x="28" y="76"/>
                    </a:cubicBezTo>
                    <a:cubicBezTo>
                      <a:pt x="30" y="144"/>
                      <a:pt x="30" y="144"/>
                      <a:pt x="30" y="144"/>
                    </a:cubicBezTo>
                    <a:cubicBezTo>
                      <a:pt x="50" y="144"/>
                      <a:pt x="50" y="144"/>
                      <a:pt x="50" y="144"/>
                    </a:cubicBezTo>
                    <a:cubicBezTo>
                      <a:pt x="50" y="124"/>
                      <a:pt x="50" y="89"/>
                      <a:pt x="50" y="76"/>
                    </a:cubicBezTo>
                    <a:cubicBezTo>
                      <a:pt x="50" y="76"/>
                      <a:pt x="51" y="76"/>
                      <a:pt x="52" y="76"/>
                    </a:cubicBezTo>
                    <a:cubicBezTo>
                      <a:pt x="54" y="144"/>
                      <a:pt x="54" y="144"/>
                      <a:pt x="54" y="144"/>
                    </a:cubicBezTo>
                    <a:cubicBezTo>
                      <a:pt x="60" y="144"/>
                      <a:pt x="60" y="144"/>
                      <a:pt x="60" y="144"/>
                    </a:cubicBezTo>
                    <a:lnTo>
                      <a:pt x="60" y="74"/>
                    </a:lnTo>
                    <a:close/>
                    <a:moveTo>
                      <a:pt x="27" y="50"/>
                    </a:moveTo>
                    <a:cubicBezTo>
                      <a:pt x="24" y="46"/>
                      <a:pt x="24" y="46"/>
                      <a:pt x="24" y="46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7" y="26"/>
                      <a:pt x="27" y="26"/>
                      <a:pt x="27" y="26"/>
                    </a:cubicBezTo>
                    <a:cubicBezTo>
                      <a:pt x="27" y="34"/>
                      <a:pt x="27" y="42"/>
                      <a:pt x="27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165"/>
              <p:cNvSpPr/>
              <p:nvPr/>
            </p:nvSpPr>
            <p:spPr bwMode="auto">
              <a:xfrm>
                <a:off x="6099176" y="3230563"/>
                <a:ext cx="220663" cy="198438"/>
              </a:xfrm>
              <a:custGeom>
                <a:avLst/>
                <a:gdLst>
                  <a:gd name="T0" fmla="*/ 1 w 58"/>
                  <a:gd name="T1" fmla="*/ 52 h 52"/>
                  <a:gd name="T2" fmla="*/ 30 w 58"/>
                  <a:gd name="T3" fmla="*/ 52 h 52"/>
                  <a:gd name="T4" fmla="*/ 58 w 58"/>
                  <a:gd name="T5" fmla="*/ 52 h 52"/>
                  <a:gd name="T6" fmla="*/ 55 w 58"/>
                  <a:gd name="T7" fmla="*/ 8 h 52"/>
                  <a:gd name="T8" fmla="*/ 47 w 58"/>
                  <a:gd name="T9" fmla="*/ 0 h 52"/>
                  <a:gd name="T10" fmla="*/ 40 w 58"/>
                  <a:gd name="T11" fmla="*/ 0 h 52"/>
                  <a:gd name="T12" fmla="*/ 45 w 58"/>
                  <a:gd name="T13" fmla="*/ 4 h 52"/>
                  <a:gd name="T14" fmla="*/ 38 w 58"/>
                  <a:gd name="T15" fmla="*/ 8 h 52"/>
                  <a:gd name="T16" fmla="*/ 41 w 58"/>
                  <a:gd name="T17" fmla="*/ 13 h 52"/>
                  <a:gd name="T18" fmla="*/ 29 w 58"/>
                  <a:gd name="T19" fmla="*/ 41 h 52"/>
                  <a:gd name="T20" fmla="*/ 29 w 58"/>
                  <a:gd name="T21" fmla="*/ 41 h 52"/>
                  <a:gd name="T22" fmla="*/ 29 w 58"/>
                  <a:gd name="T23" fmla="*/ 41 h 52"/>
                  <a:gd name="T24" fmla="*/ 29 w 58"/>
                  <a:gd name="T25" fmla="*/ 41 h 52"/>
                  <a:gd name="T26" fmla="*/ 29 w 58"/>
                  <a:gd name="T27" fmla="*/ 41 h 52"/>
                  <a:gd name="T28" fmla="*/ 16 w 58"/>
                  <a:gd name="T29" fmla="*/ 13 h 52"/>
                  <a:gd name="T30" fmla="*/ 19 w 58"/>
                  <a:gd name="T31" fmla="*/ 8 h 52"/>
                  <a:gd name="T32" fmla="*/ 12 w 58"/>
                  <a:gd name="T33" fmla="*/ 4 h 52"/>
                  <a:gd name="T34" fmla="*/ 17 w 58"/>
                  <a:gd name="T35" fmla="*/ 0 h 52"/>
                  <a:gd name="T36" fmla="*/ 11 w 58"/>
                  <a:gd name="T37" fmla="*/ 0 h 52"/>
                  <a:gd name="T38" fmla="*/ 11 w 58"/>
                  <a:gd name="T39" fmla="*/ 0 h 52"/>
                  <a:gd name="T40" fmla="*/ 3 w 58"/>
                  <a:gd name="T41" fmla="*/ 8 h 52"/>
                  <a:gd name="T42" fmla="*/ 0 w 58"/>
                  <a:gd name="T43" fmla="*/ 52 h 52"/>
                  <a:gd name="T44" fmla="*/ 1 w 58"/>
                  <a:gd name="T45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8" h="52">
                    <a:moveTo>
                      <a:pt x="1" y="52"/>
                    </a:moveTo>
                    <a:cubicBezTo>
                      <a:pt x="30" y="52"/>
                      <a:pt x="30" y="52"/>
                      <a:pt x="30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47" y="0"/>
                      <a:pt x="44" y="0"/>
                      <a:pt x="40" y="0"/>
                    </a:cubicBezTo>
                    <a:cubicBezTo>
                      <a:pt x="45" y="4"/>
                      <a:pt x="45" y="4"/>
                      <a:pt x="45" y="4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3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0"/>
                      <a:pt x="3" y="3"/>
                      <a:pt x="3" y="8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1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166"/>
              <p:cNvSpPr/>
              <p:nvPr/>
            </p:nvSpPr>
            <p:spPr bwMode="auto">
              <a:xfrm>
                <a:off x="6019801" y="3633788"/>
                <a:ext cx="111125" cy="103188"/>
              </a:xfrm>
              <a:custGeom>
                <a:avLst/>
                <a:gdLst>
                  <a:gd name="T0" fmla="*/ 27 w 29"/>
                  <a:gd name="T1" fmla="*/ 0 h 27"/>
                  <a:gd name="T2" fmla="*/ 26 w 29"/>
                  <a:gd name="T3" fmla="*/ 0 h 27"/>
                  <a:gd name="T4" fmla="*/ 1 w 29"/>
                  <a:gd name="T5" fmla="*/ 24 h 27"/>
                  <a:gd name="T6" fmla="*/ 1 w 29"/>
                  <a:gd name="T7" fmla="*/ 27 h 27"/>
                  <a:gd name="T8" fmla="*/ 2 w 29"/>
                  <a:gd name="T9" fmla="*/ 27 h 27"/>
                  <a:gd name="T10" fmla="*/ 4 w 29"/>
                  <a:gd name="T11" fmla="*/ 27 h 27"/>
                  <a:gd name="T12" fmla="*/ 29 w 29"/>
                  <a:gd name="T13" fmla="*/ 3 h 27"/>
                  <a:gd name="T14" fmla="*/ 29 w 29"/>
                  <a:gd name="T15" fmla="*/ 0 h 27"/>
                  <a:gd name="T16" fmla="*/ 27 w 29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27">
                    <a:moveTo>
                      <a:pt x="27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5"/>
                      <a:pt x="0" y="26"/>
                      <a:pt x="1" y="27"/>
                    </a:cubicBezTo>
                    <a:cubicBezTo>
                      <a:pt x="1" y="27"/>
                      <a:pt x="2" y="27"/>
                      <a:pt x="2" y="27"/>
                    </a:cubicBezTo>
                    <a:cubicBezTo>
                      <a:pt x="3" y="27"/>
                      <a:pt x="3" y="27"/>
                      <a:pt x="4" y="27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3"/>
                      <a:pt x="29" y="1"/>
                      <a:pt x="29" y="0"/>
                    </a:cubicBezTo>
                    <a:cubicBezTo>
                      <a:pt x="28" y="0"/>
                      <a:pt x="28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167"/>
              <p:cNvSpPr>
                <a:spLocks noEditPoints="1"/>
              </p:cNvSpPr>
              <p:nvPr/>
            </p:nvSpPr>
            <p:spPr bwMode="auto">
              <a:xfrm>
                <a:off x="5967413" y="3448050"/>
                <a:ext cx="504825" cy="346075"/>
              </a:xfrm>
              <a:custGeom>
                <a:avLst/>
                <a:gdLst>
                  <a:gd name="T0" fmla="*/ 128 w 133"/>
                  <a:gd name="T1" fmla="*/ 4 h 91"/>
                  <a:gd name="T2" fmla="*/ 118 w 133"/>
                  <a:gd name="T3" fmla="*/ 0 h 91"/>
                  <a:gd name="T4" fmla="*/ 15 w 133"/>
                  <a:gd name="T5" fmla="*/ 0 h 91"/>
                  <a:gd name="T6" fmla="*/ 5 w 133"/>
                  <a:gd name="T7" fmla="*/ 4 h 91"/>
                  <a:gd name="T8" fmla="*/ 0 w 133"/>
                  <a:gd name="T9" fmla="*/ 17 h 91"/>
                  <a:gd name="T10" fmla="*/ 0 w 133"/>
                  <a:gd name="T11" fmla="*/ 75 h 91"/>
                  <a:gd name="T12" fmla="*/ 15 w 133"/>
                  <a:gd name="T13" fmla="*/ 91 h 91"/>
                  <a:gd name="T14" fmla="*/ 118 w 133"/>
                  <a:gd name="T15" fmla="*/ 91 h 91"/>
                  <a:gd name="T16" fmla="*/ 133 w 133"/>
                  <a:gd name="T17" fmla="*/ 75 h 91"/>
                  <a:gd name="T18" fmla="*/ 133 w 133"/>
                  <a:gd name="T19" fmla="*/ 17 h 91"/>
                  <a:gd name="T20" fmla="*/ 128 w 133"/>
                  <a:gd name="T21" fmla="*/ 4 h 91"/>
                  <a:gd name="T22" fmla="*/ 66 w 133"/>
                  <a:gd name="T23" fmla="*/ 50 h 91"/>
                  <a:gd name="T24" fmla="*/ 17 w 133"/>
                  <a:gd name="T25" fmla="*/ 10 h 91"/>
                  <a:gd name="T26" fmla="*/ 115 w 133"/>
                  <a:gd name="T27" fmla="*/ 10 h 91"/>
                  <a:gd name="T28" fmla="*/ 66 w 133"/>
                  <a:gd name="T29" fmla="*/ 50 h 91"/>
                  <a:gd name="T30" fmla="*/ 123 w 133"/>
                  <a:gd name="T31" fmla="*/ 75 h 91"/>
                  <a:gd name="T32" fmla="*/ 118 w 133"/>
                  <a:gd name="T33" fmla="*/ 80 h 91"/>
                  <a:gd name="T34" fmla="*/ 15 w 133"/>
                  <a:gd name="T35" fmla="*/ 80 h 91"/>
                  <a:gd name="T36" fmla="*/ 10 w 133"/>
                  <a:gd name="T37" fmla="*/ 75 h 91"/>
                  <a:gd name="T38" fmla="*/ 10 w 133"/>
                  <a:gd name="T39" fmla="*/ 17 h 91"/>
                  <a:gd name="T40" fmla="*/ 62 w 133"/>
                  <a:gd name="T41" fmla="*/ 60 h 91"/>
                  <a:gd name="T42" fmla="*/ 66 w 133"/>
                  <a:gd name="T43" fmla="*/ 61 h 91"/>
                  <a:gd name="T44" fmla="*/ 70 w 133"/>
                  <a:gd name="T45" fmla="*/ 60 h 91"/>
                  <a:gd name="T46" fmla="*/ 123 w 133"/>
                  <a:gd name="T47" fmla="*/ 17 h 91"/>
                  <a:gd name="T48" fmla="*/ 123 w 133"/>
                  <a:gd name="T49" fmla="*/ 75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3" h="91">
                    <a:moveTo>
                      <a:pt x="128" y="4"/>
                    </a:moveTo>
                    <a:cubicBezTo>
                      <a:pt x="125" y="1"/>
                      <a:pt x="121" y="0"/>
                      <a:pt x="118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2" y="0"/>
                      <a:pt x="8" y="1"/>
                      <a:pt x="5" y="4"/>
                    </a:cubicBezTo>
                    <a:cubicBezTo>
                      <a:pt x="3" y="6"/>
                      <a:pt x="0" y="11"/>
                      <a:pt x="0" y="17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1"/>
                      <a:pt x="15" y="91"/>
                    </a:cubicBezTo>
                    <a:cubicBezTo>
                      <a:pt x="118" y="91"/>
                      <a:pt x="118" y="91"/>
                      <a:pt x="118" y="91"/>
                    </a:cubicBezTo>
                    <a:cubicBezTo>
                      <a:pt x="126" y="91"/>
                      <a:pt x="133" y="84"/>
                      <a:pt x="133" y="75"/>
                    </a:cubicBezTo>
                    <a:cubicBezTo>
                      <a:pt x="133" y="17"/>
                      <a:pt x="133" y="17"/>
                      <a:pt x="133" y="17"/>
                    </a:cubicBezTo>
                    <a:cubicBezTo>
                      <a:pt x="133" y="11"/>
                      <a:pt x="130" y="6"/>
                      <a:pt x="128" y="4"/>
                    </a:cubicBezTo>
                    <a:close/>
                    <a:moveTo>
                      <a:pt x="66" y="5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115" y="10"/>
                      <a:pt x="115" y="10"/>
                      <a:pt x="115" y="10"/>
                    </a:cubicBezTo>
                    <a:lnTo>
                      <a:pt x="66" y="50"/>
                    </a:lnTo>
                    <a:close/>
                    <a:moveTo>
                      <a:pt x="123" y="75"/>
                    </a:moveTo>
                    <a:cubicBezTo>
                      <a:pt x="123" y="78"/>
                      <a:pt x="120" y="80"/>
                      <a:pt x="118" y="80"/>
                    </a:cubicBezTo>
                    <a:cubicBezTo>
                      <a:pt x="15" y="80"/>
                      <a:pt x="15" y="80"/>
                      <a:pt x="15" y="80"/>
                    </a:cubicBezTo>
                    <a:cubicBezTo>
                      <a:pt x="12" y="80"/>
                      <a:pt x="10" y="78"/>
                      <a:pt x="10" y="7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62" y="60"/>
                      <a:pt x="62" y="60"/>
                      <a:pt x="62" y="60"/>
                    </a:cubicBezTo>
                    <a:cubicBezTo>
                      <a:pt x="64" y="61"/>
                      <a:pt x="65" y="61"/>
                      <a:pt x="66" y="61"/>
                    </a:cubicBezTo>
                    <a:cubicBezTo>
                      <a:pt x="68" y="61"/>
                      <a:pt x="69" y="61"/>
                      <a:pt x="70" y="60"/>
                    </a:cubicBezTo>
                    <a:cubicBezTo>
                      <a:pt x="123" y="17"/>
                      <a:pt x="123" y="17"/>
                      <a:pt x="123" y="17"/>
                    </a:cubicBezTo>
                    <a:lnTo>
                      <a:pt x="123" y="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168"/>
              <p:cNvSpPr/>
              <p:nvPr/>
            </p:nvSpPr>
            <p:spPr bwMode="auto">
              <a:xfrm>
                <a:off x="6305551" y="3633788"/>
                <a:ext cx="114300" cy="103188"/>
              </a:xfrm>
              <a:custGeom>
                <a:avLst/>
                <a:gdLst>
                  <a:gd name="T0" fmla="*/ 26 w 30"/>
                  <a:gd name="T1" fmla="*/ 27 h 27"/>
                  <a:gd name="T2" fmla="*/ 28 w 30"/>
                  <a:gd name="T3" fmla="*/ 27 h 27"/>
                  <a:gd name="T4" fmla="*/ 29 w 30"/>
                  <a:gd name="T5" fmla="*/ 27 h 27"/>
                  <a:gd name="T6" fmla="*/ 29 w 30"/>
                  <a:gd name="T7" fmla="*/ 24 h 27"/>
                  <a:gd name="T8" fmla="*/ 4 w 30"/>
                  <a:gd name="T9" fmla="*/ 0 h 27"/>
                  <a:gd name="T10" fmla="*/ 3 w 30"/>
                  <a:gd name="T11" fmla="*/ 0 h 27"/>
                  <a:gd name="T12" fmla="*/ 1 w 30"/>
                  <a:gd name="T13" fmla="*/ 0 h 27"/>
                  <a:gd name="T14" fmla="*/ 1 w 30"/>
                  <a:gd name="T15" fmla="*/ 3 h 27"/>
                  <a:gd name="T16" fmla="*/ 26 w 30"/>
                  <a:gd name="T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27">
                    <a:moveTo>
                      <a:pt x="26" y="27"/>
                    </a:moveTo>
                    <a:cubicBezTo>
                      <a:pt x="26" y="27"/>
                      <a:pt x="27" y="27"/>
                      <a:pt x="28" y="27"/>
                    </a:cubicBezTo>
                    <a:cubicBezTo>
                      <a:pt x="28" y="27"/>
                      <a:pt x="29" y="27"/>
                      <a:pt x="29" y="27"/>
                    </a:cubicBezTo>
                    <a:cubicBezTo>
                      <a:pt x="30" y="26"/>
                      <a:pt x="30" y="25"/>
                      <a:pt x="29" y="24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0" y="1"/>
                      <a:pt x="0" y="3"/>
                      <a:pt x="1" y="3"/>
                    </a:cubicBezTo>
                    <a:lnTo>
                      <a:pt x="26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169"/>
              <p:cNvSpPr/>
              <p:nvPr/>
            </p:nvSpPr>
            <p:spPr bwMode="auto">
              <a:xfrm>
                <a:off x="6016626" y="3413125"/>
                <a:ext cx="79375" cy="57150"/>
              </a:xfrm>
              <a:custGeom>
                <a:avLst/>
                <a:gdLst>
                  <a:gd name="T0" fmla="*/ 1 w 21"/>
                  <a:gd name="T1" fmla="*/ 15 h 15"/>
                  <a:gd name="T2" fmla="*/ 21 w 21"/>
                  <a:gd name="T3" fmla="*/ 14 h 15"/>
                  <a:gd name="T4" fmla="*/ 20 w 21"/>
                  <a:gd name="T5" fmla="*/ 0 h 15"/>
                  <a:gd name="T6" fmla="*/ 0 w 21"/>
                  <a:gd name="T7" fmla="*/ 0 h 15"/>
                  <a:gd name="T8" fmla="*/ 1 w 21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15">
                    <a:moveTo>
                      <a:pt x="1" y="15"/>
                    </a:moveTo>
                    <a:cubicBezTo>
                      <a:pt x="8" y="15"/>
                      <a:pt x="14" y="14"/>
                      <a:pt x="21" y="14"/>
                    </a:cubicBezTo>
                    <a:cubicBezTo>
                      <a:pt x="20" y="8"/>
                      <a:pt x="20" y="4"/>
                      <a:pt x="2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5"/>
                      <a:pt x="1" y="11"/>
                      <a:pt x="1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456" y="2543983"/>
            <a:ext cx="1399822" cy="139982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274"/>
            <a:ext cx="47967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99279" y="585373"/>
            <a:ext cx="33671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3800" spc="300" dirty="0">
                <a:solidFill>
                  <a:schemeClr val="bg1"/>
                </a:solidFill>
              </a:rPr>
              <a:t>C</a:t>
            </a:r>
            <a:r>
              <a:rPr lang="en-US" altLang="zh-CN" sz="2400" spc="300" dirty="0">
                <a:solidFill>
                  <a:schemeClr val="bg1"/>
                </a:solidFill>
              </a:rPr>
              <a:t>ONTENTS</a:t>
            </a:r>
            <a:endParaRPr lang="zh-CN" altLang="en-US" sz="2400" spc="300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5471" y="921645"/>
            <a:ext cx="22319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6600" b="1" spc="300" dirty="0">
                <a:solidFill>
                  <a:schemeClr val="bg1"/>
                </a:solidFill>
              </a:rPr>
              <a:t>目录</a:t>
            </a:r>
            <a:endParaRPr lang="zh-CN" altLang="en-US" sz="6600" b="1" spc="300" dirty="0">
              <a:solidFill>
                <a:schemeClr val="bg1"/>
              </a:solidFill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4438248" y="1649887"/>
            <a:ext cx="720670" cy="642272"/>
            <a:chOff x="4438248" y="1649887"/>
            <a:chExt cx="720670" cy="642272"/>
          </a:xfrm>
        </p:grpSpPr>
        <p:sp>
          <p:nvSpPr>
            <p:cNvPr id="7" name="圆角矩形 6"/>
            <p:cNvSpPr/>
            <p:nvPr>
              <p:custDataLst>
                <p:tags r:id="rId2"/>
              </p:custDataLst>
            </p:nvPr>
          </p:nvSpPr>
          <p:spPr>
            <a:xfrm>
              <a:off x="4460144" y="1649887"/>
              <a:ext cx="673167" cy="642272"/>
            </a:xfrm>
            <a:prstGeom prst="roundRect">
              <a:avLst>
                <a:gd name="adj" fmla="val 11351"/>
              </a:avLst>
            </a:prstGeom>
            <a:ln w="444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>
              <p:custDataLst>
                <p:tags r:id="rId3"/>
              </p:custDataLst>
            </p:nvPr>
          </p:nvSpPr>
          <p:spPr>
            <a:xfrm>
              <a:off x="4438248" y="1739863"/>
              <a:ext cx="7206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4"/>
            </p:custDataLst>
          </p:nvPr>
        </p:nvGrpSpPr>
        <p:grpSpPr>
          <a:xfrm>
            <a:off x="4438248" y="2613228"/>
            <a:ext cx="720670" cy="642272"/>
            <a:chOff x="4438248" y="3580333"/>
            <a:chExt cx="720670" cy="642272"/>
          </a:xfrm>
        </p:grpSpPr>
        <p:sp>
          <p:nvSpPr>
            <p:cNvPr id="9" name="圆角矩形 8"/>
            <p:cNvSpPr/>
            <p:nvPr>
              <p:custDataLst>
                <p:tags r:id="rId5"/>
              </p:custDataLst>
            </p:nvPr>
          </p:nvSpPr>
          <p:spPr>
            <a:xfrm>
              <a:off x="4460144" y="3580333"/>
              <a:ext cx="673167" cy="642272"/>
            </a:xfrm>
            <a:prstGeom prst="roundRect">
              <a:avLst>
                <a:gd name="adj" fmla="val 11351"/>
              </a:avLst>
            </a:prstGeom>
            <a:ln w="444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6"/>
              </p:custDataLst>
            </p:nvPr>
          </p:nvSpPr>
          <p:spPr>
            <a:xfrm>
              <a:off x="4438248" y="367608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02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7"/>
            </p:custDataLst>
          </p:nvPr>
        </p:nvGrpSpPr>
        <p:grpSpPr>
          <a:xfrm>
            <a:off x="4438248" y="3578451"/>
            <a:ext cx="720670" cy="642272"/>
            <a:chOff x="4438248" y="4545556"/>
            <a:chExt cx="720670" cy="642272"/>
          </a:xfrm>
        </p:grpSpPr>
        <p:sp>
          <p:nvSpPr>
            <p:cNvPr id="10" name="圆角矩形 9"/>
            <p:cNvSpPr/>
            <p:nvPr>
              <p:custDataLst>
                <p:tags r:id="rId8"/>
              </p:custDataLst>
            </p:nvPr>
          </p:nvSpPr>
          <p:spPr>
            <a:xfrm>
              <a:off x="4460144" y="4545556"/>
              <a:ext cx="673167" cy="642272"/>
            </a:xfrm>
            <a:prstGeom prst="roundRect">
              <a:avLst>
                <a:gd name="adj" fmla="val 11351"/>
              </a:avLst>
            </a:prstGeom>
            <a:ln w="444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>
              <p:custDataLst>
                <p:tags r:id="rId9"/>
              </p:custDataLst>
            </p:nvPr>
          </p:nvSpPr>
          <p:spPr>
            <a:xfrm>
              <a:off x="4438248" y="4643226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10"/>
            </p:custDataLst>
          </p:nvPr>
        </p:nvGrpSpPr>
        <p:grpSpPr>
          <a:xfrm>
            <a:off x="4438248" y="4543674"/>
            <a:ext cx="720670" cy="642272"/>
            <a:chOff x="4438248" y="5510779"/>
            <a:chExt cx="720670" cy="642272"/>
          </a:xfrm>
        </p:grpSpPr>
        <p:sp>
          <p:nvSpPr>
            <p:cNvPr id="11" name="圆角矩形 10"/>
            <p:cNvSpPr/>
            <p:nvPr>
              <p:custDataLst>
                <p:tags r:id="rId11"/>
              </p:custDataLst>
            </p:nvPr>
          </p:nvSpPr>
          <p:spPr>
            <a:xfrm>
              <a:off x="4460144" y="5510779"/>
              <a:ext cx="673167" cy="642272"/>
            </a:xfrm>
            <a:prstGeom prst="roundRect">
              <a:avLst>
                <a:gd name="adj" fmla="val 11351"/>
              </a:avLst>
            </a:prstGeom>
            <a:ln w="444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>
              <p:custDataLst>
                <p:tags r:id="rId12"/>
              </p:custDataLst>
            </p:nvPr>
          </p:nvSpPr>
          <p:spPr>
            <a:xfrm>
              <a:off x="4438248" y="5608449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5418836" y="1622388"/>
            <a:ext cx="2791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毕设工作</a:t>
            </a:r>
            <a:r>
              <a:rPr lang="zh-CN" altLang="en-US" sz="24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简介</a:t>
            </a:r>
            <a:endParaRPr lang="zh-CN" altLang="en-US" sz="24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5418835" y="2591505"/>
            <a:ext cx="2791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已完成的</a:t>
            </a:r>
            <a:r>
              <a:rPr lang="zh-CN" altLang="en-US" sz="24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工作</a:t>
            </a:r>
            <a:endParaRPr lang="zh-CN" altLang="en-US" sz="24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5418836" y="3558646"/>
            <a:ext cx="2791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存在的问题</a:t>
            </a:r>
            <a:endParaRPr lang="zh-CN" altLang="en-US" sz="24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5418836" y="4516502"/>
            <a:ext cx="2791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参考文献</a:t>
            </a:r>
            <a:endParaRPr lang="zh-CN" altLang="en-US" sz="24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26504" y="2861713"/>
            <a:ext cx="2952750" cy="3444240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6000" i="0" spc="600" dirty="0">
                <a:solidFill>
                  <a:schemeClr val="bg1">
                    <a:lumMod val="95000"/>
                  </a:schemeClr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德才兼备</a:t>
            </a:r>
            <a:endParaRPr lang="en-US" altLang="zh-CN" sz="6000" i="0" spc="600" dirty="0">
              <a:solidFill>
                <a:schemeClr val="bg1">
                  <a:lumMod val="95000"/>
                </a:schemeClr>
              </a:solidFill>
              <a:effectLst/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6000" spc="600" dirty="0">
                <a:solidFill>
                  <a:schemeClr val="bg1">
                    <a:lumMod val="9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知行合一</a:t>
            </a:r>
            <a:endParaRPr lang="zh-CN" altLang="en-US" sz="6000" spc="600" dirty="0">
              <a:solidFill>
                <a:schemeClr val="bg1">
                  <a:lumMod val="9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slow"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274"/>
            <a:ext cx="47967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-758781" y="1501348"/>
            <a:ext cx="573709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b="1" spc="300" dirty="0">
                <a:solidFill>
                  <a:schemeClr val="bg1"/>
                </a:solidFill>
              </a:rPr>
              <a:t>P</a:t>
            </a:r>
            <a:r>
              <a:rPr lang="en-US" altLang="zh-CN" sz="9600" b="1" spc="300" dirty="0">
                <a:solidFill>
                  <a:schemeClr val="bg1"/>
                </a:solidFill>
              </a:rPr>
              <a:t>art</a:t>
            </a:r>
            <a:endParaRPr lang="zh-CN" altLang="en-US" sz="9600" b="1" spc="300" dirty="0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914074" y="2096314"/>
            <a:ext cx="1695279" cy="1510858"/>
            <a:chOff x="4436392" y="3027170"/>
            <a:chExt cx="720670" cy="642272"/>
          </a:xfrm>
        </p:grpSpPr>
        <p:sp>
          <p:nvSpPr>
            <p:cNvPr id="4" name="圆角矩形 3"/>
            <p:cNvSpPr/>
            <p:nvPr/>
          </p:nvSpPr>
          <p:spPr>
            <a:xfrm>
              <a:off x="4458288" y="3027170"/>
              <a:ext cx="673167" cy="642272"/>
            </a:xfrm>
            <a:prstGeom prst="roundRect">
              <a:avLst>
                <a:gd name="adj" fmla="val 11351"/>
              </a:avLst>
            </a:prstGeom>
            <a:ln w="444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540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36392" y="3117146"/>
              <a:ext cx="720670" cy="4710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</a:rPr>
                <a:t>01</a:t>
              </a:r>
              <a:endParaRPr lang="zh-CN" altLang="en-US" sz="6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737334" y="2401763"/>
            <a:ext cx="34681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毕设工作</a:t>
            </a:r>
            <a:r>
              <a:rPr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简介</a:t>
            </a:r>
            <a:endParaRPr lang="zh-CN" altLang="en-US" sz="32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 advTm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45" y="219693"/>
            <a:ext cx="1794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研究思路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0" name="MH_Other_1"/>
          <p:cNvSpPr/>
          <p:nvPr>
            <p:custDataLst>
              <p:tags r:id="rId1"/>
            </p:custDataLst>
          </p:nvPr>
        </p:nvSpPr>
        <p:spPr>
          <a:xfrm>
            <a:off x="7963918" y="3261420"/>
            <a:ext cx="626989" cy="537053"/>
          </a:xfrm>
          <a:custGeom>
            <a:avLst/>
            <a:gdLst>
              <a:gd name="connsiteX0" fmla="*/ 0 w 339494"/>
              <a:gd name="connsiteY0" fmla="*/ 79429 h 397144"/>
              <a:gd name="connsiteX1" fmla="*/ 169747 w 339494"/>
              <a:gd name="connsiteY1" fmla="*/ 79429 h 397144"/>
              <a:gd name="connsiteX2" fmla="*/ 169747 w 339494"/>
              <a:gd name="connsiteY2" fmla="*/ 0 h 397144"/>
              <a:gd name="connsiteX3" fmla="*/ 339494 w 339494"/>
              <a:gd name="connsiteY3" fmla="*/ 198572 h 397144"/>
              <a:gd name="connsiteX4" fmla="*/ 169747 w 339494"/>
              <a:gd name="connsiteY4" fmla="*/ 397144 h 397144"/>
              <a:gd name="connsiteX5" fmla="*/ 169747 w 339494"/>
              <a:gd name="connsiteY5" fmla="*/ 317715 h 397144"/>
              <a:gd name="connsiteX6" fmla="*/ 0 w 339494"/>
              <a:gd name="connsiteY6" fmla="*/ 317715 h 397144"/>
              <a:gd name="connsiteX7" fmla="*/ 0 w 339494"/>
              <a:gd name="connsiteY7" fmla="*/ 79429 h 39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494" h="397144">
                <a:moveTo>
                  <a:pt x="271595" y="0"/>
                </a:moveTo>
                <a:lnTo>
                  <a:pt x="271595" y="198572"/>
                </a:lnTo>
                <a:lnTo>
                  <a:pt x="339494" y="198572"/>
                </a:lnTo>
                <a:lnTo>
                  <a:pt x="169747" y="397144"/>
                </a:lnTo>
                <a:lnTo>
                  <a:pt x="0" y="198572"/>
                </a:lnTo>
                <a:lnTo>
                  <a:pt x="67899" y="198572"/>
                </a:lnTo>
                <a:lnTo>
                  <a:pt x="67899" y="0"/>
                </a:lnTo>
                <a:lnTo>
                  <a:pt x="271595" y="0"/>
                </a:lnTo>
                <a:close/>
              </a:path>
            </a:pathLst>
          </a:custGeom>
          <a:solidFill>
            <a:srgbClr val="DDDDDD"/>
          </a:solidFill>
          <a:ln w="9525">
            <a:noFill/>
            <a:round/>
          </a:ln>
          <a:effectLst>
            <a:outerShdw blurRad="63500" sx="101000" sy="101000" algn="ctr" rotWithShape="0">
              <a:prstClr val="black">
                <a:alpha val="18000"/>
              </a:prstClr>
            </a:outerShdw>
          </a:effectLst>
        </p:spPr>
        <p:txBody>
          <a:bodyPr lIns="79429" tIns="0" rIns="79429" bIns="101848" spcCol="1270" anchor="ctr">
            <a:normAutofit/>
          </a:bodyPr>
          <a:lstStyle/>
          <a:p>
            <a:pPr algn="ctr" defTabSz="7556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21" name="MH_SubTitle_1"/>
          <p:cNvSpPr/>
          <p:nvPr>
            <p:custDataLst>
              <p:tags r:id="rId2"/>
            </p:custDataLst>
          </p:nvPr>
        </p:nvSpPr>
        <p:spPr>
          <a:xfrm>
            <a:off x="2134710" y="1426533"/>
            <a:ext cx="2528514" cy="1518649"/>
          </a:xfrm>
          <a:custGeom>
            <a:avLst/>
            <a:gdLst>
              <a:gd name="connsiteX0" fmla="*/ 0 w 1601390"/>
              <a:gd name="connsiteY0" fmla="*/ 96083 h 960834"/>
              <a:gd name="connsiteX1" fmla="*/ 96083 w 1601390"/>
              <a:gd name="connsiteY1" fmla="*/ 0 h 960834"/>
              <a:gd name="connsiteX2" fmla="*/ 1505307 w 1601390"/>
              <a:gd name="connsiteY2" fmla="*/ 0 h 960834"/>
              <a:gd name="connsiteX3" fmla="*/ 1601390 w 1601390"/>
              <a:gd name="connsiteY3" fmla="*/ 96083 h 960834"/>
              <a:gd name="connsiteX4" fmla="*/ 1601390 w 1601390"/>
              <a:gd name="connsiteY4" fmla="*/ 864751 h 960834"/>
              <a:gd name="connsiteX5" fmla="*/ 1505307 w 1601390"/>
              <a:gd name="connsiteY5" fmla="*/ 960834 h 960834"/>
              <a:gd name="connsiteX6" fmla="*/ 96083 w 1601390"/>
              <a:gd name="connsiteY6" fmla="*/ 960834 h 960834"/>
              <a:gd name="connsiteX7" fmla="*/ 0 w 1601390"/>
              <a:gd name="connsiteY7" fmla="*/ 864751 h 960834"/>
              <a:gd name="connsiteX8" fmla="*/ 0 w 1601390"/>
              <a:gd name="connsiteY8" fmla="*/ 96083 h 960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1390" h="960834">
                <a:moveTo>
                  <a:pt x="0" y="96083"/>
                </a:moveTo>
                <a:cubicBezTo>
                  <a:pt x="0" y="43018"/>
                  <a:pt x="43018" y="0"/>
                  <a:pt x="96083" y="0"/>
                </a:cubicBezTo>
                <a:lnTo>
                  <a:pt x="1505307" y="0"/>
                </a:lnTo>
                <a:cubicBezTo>
                  <a:pt x="1558372" y="0"/>
                  <a:pt x="1601390" y="43018"/>
                  <a:pt x="1601390" y="96083"/>
                </a:cubicBezTo>
                <a:lnTo>
                  <a:pt x="1601390" y="864751"/>
                </a:lnTo>
                <a:cubicBezTo>
                  <a:pt x="1601390" y="917816"/>
                  <a:pt x="1558372" y="960834"/>
                  <a:pt x="1505307" y="960834"/>
                </a:cubicBezTo>
                <a:lnTo>
                  <a:pt x="96083" y="960834"/>
                </a:lnTo>
                <a:cubicBezTo>
                  <a:pt x="43018" y="960834"/>
                  <a:pt x="0" y="917816"/>
                  <a:pt x="0" y="864751"/>
                </a:cubicBezTo>
                <a:lnTo>
                  <a:pt x="0" y="96083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  <a:effectLst>
            <a:outerShdw blurRad="63500" sx="101000" sy="101000" algn="ctr" rotWithShape="0">
              <a:prstClr val="black">
                <a:alpha val="8000"/>
              </a:prstClr>
            </a:outerShdw>
          </a:effectLst>
        </p:spPr>
        <p:txBody>
          <a:bodyPr anchor="ctr">
            <a:normAutofit/>
          </a:bodyPr>
          <a:lstStyle/>
          <a:p>
            <a:pPr algn="ctr">
              <a:defRPr/>
            </a:pPr>
            <a:r>
              <a:rPr lang="zh-CN" altLang="en-US" sz="2400" b="1" spc="300" dirty="0">
                <a:solidFill>
                  <a:schemeClr val="bg1"/>
                </a:solidFill>
              </a:rPr>
              <a:t>多模态数据构建</a:t>
            </a:r>
            <a:endParaRPr lang="zh-CN" altLang="en-US" sz="2400" b="1" spc="300" dirty="0">
              <a:solidFill>
                <a:schemeClr val="bg1"/>
              </a:solidFill>
            </a:endParaRPr>
          </a:p>
        </p:txBody>
      </p:sp>
      <p:sp>
        <p:nvSpPr>
          <p:cNvPr id="22" name="MH_Other_2"/>
          <p:cNvSpPr/>
          <p:nvPr>
            <p:custDataLst>
              <p:tags r:id="rId3"/>
            </p:custDataLst>
          </p:nvPr>
        </p:nvSpPr>
        <p:spPr>
          <a:xfrm>
            <a:off x="5644338" y="1871078"/>
            <a:ext cx="534483" cy="629560"/>
          </a:xfrm>
          <a:custGeom>
            <a:avLst/>
            <a:gdLst>
              <a:gd name="connsiteX0" fmla="*/ 0 w 339494"/>
              <a:gd name="connsiteY0" fmla="*/ 79429 h 397144"/>
              <a:gd name="connsiteX1" fmla="*/ 169747 w 339494"/>
              <a:gd name="connsiteY1" fmla="*/ 79429 h 397144"/>
              <a:gd name="connsiteX2" fmla="*/ 169747 w 339494"/>
              <a:gd name="connsiteY2" fmla="*/ 0 h 397144"/>
              <a:gd name="connsiteX3" fmla="*/ 339494 w 339494"/>
              <a:gd name="connsiteY3" fmla="*/ 198572 h 397144"/>
              <a:gd name="connsiteX4" fmla="*/ 169747 w 339494"/>
              <a:gd name="connsiteY4" fmla="*/ 397144 h 397144"/>
              <a:gd name="connsiteX5" fmla="*/ 169747 w 339494"/>
              <a:gd name="connsiteY5" fmla="*/ 317715 h 397144"/>
              <a:gd name="connsiteX6" fmla="*/ 0 w 339494"/>
              <a:gd name="connsiteY6" fmla="*/ 317715 h 397144"/>
              <a:gd name="connsiteX7" fmla="*/ 0 w 339494"/>
              <a:gd name="connsiteY7" fmla="*/ 79429 h 39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494" h="397144">
                <a:moveTo>
                  <a:pt x="0" y="79429"/>
                </a:moveTo>
                <a:lnTo>
                  <a:pt x="169747" y="79429"/>
                </a:lnTo>
                <a:lnTo>
                  <a:pt x="169747" y="0"/>
                </a:lnTo>
                <a:lnTo>
                  <a:pt x="339494" y="198572"/>
                </a:lnTo>
                <a:lnTo>
                  <a:pt x="169747" y="397144"/>
                </a:lnTo>
                <a:lnTo>
                  <a:pt x="169747" y="317715"/>
                </a:lnTo>
                <a:lnTo>
                  <a:pt x="0" y="317715"/>
                </a:lnTo>
                <a:lnTo>
                  <a:pt x="0" y="79429"/>
                </a:lnTo>
                <a:close/>
              </a:path>
            </a:pathLst>
          </a:custGeom>
          <a:solidFill>
            <a:srgbClr val="DDDDDD"/>
          </a:solidFill>
          <a:ln w="9525">
            <a:noFill/>
            <a:round/>
          </a:ln>
          <a:effectLst>
            <a:outerShdw blurRad="63500" sx="101000" sy="101000" algn="ctr" rotWithShape="0">
              <a:prstClr val="black">
                <a:alpha val="18000"/>
              </a:prstClr>
            </a:outerShdw>
          </a:effectLst>
        </p:spPr>
        <p:txBody>
          <a:bodyPr lIns="0" tIns="79429" rIns="101848" bIns="79429" spcCol="1270" anchor="ctr">
            <a:normAutofit/>
          </a:bodyPr>
          <a:lstStyle/>
          <a:p>
            <a:pPr algn="ctr" defTabSz="7556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23" name="MH_SubTitle_2"/>
          <p:cNvSpPr/>
          <p:nvPr>
            <p:custDataLst>
              <p:tags r:id="rId4"/>
            </p:custDataLst>
          </p:nvPr>
        </p:nvSpPr>
        <p:spPr>
          <a:xfrm>
            <a:off x="7120283" y="1426533"/>
            <a:ext cx="2528514" cy="1518649"/>
          </a:xfrm>
          <a:custGeom>
            <a:avLst/>
            <a:gdLst>
              <a:gd name="connsiteX0" fmla="*/ 0 w 1601390"/>
              <a:gd name="connsiteY0" fmla="*/ 96083 h 960834"/>
              <a:gd name="connsiteX1" fmla="*/ 96083 w 1601390"/>
              <a:gd name="connsiteY1" fmla="*/ 0 h 960834"/>
              <a:gd name="connsiteX2" fmla="*/ 1505307 w 1601390"/>
              <a:gd name="connsiteY2" fmla="*/ 0 h 960834"/>
              <a:gd name="connsiteX3" fmla="*/ 1601390 w 1601390"/>
              <a:gd name="connsiteY3" fmla="*/ 96083 h 960834"/>
              <a:gd name="connsiteX4" fmla="*/ 1601390 w 1601390"/>
              <a:gd name="connsiteY4" fmla="*/ 864751 h 960834"/>
              <a:gd name="connsiteX5" fmla="*/ 1505307 w 1601390"/>
              <a:gd name="connsiteY5" fmla="*/ 960834 h 960834"/>
              <a:gd name="connsiteX6" fmla="*/ 96083 w 1601390"/>
              <a:gd name="connsiteY6" fmla="*/ 960834 h 960834"/>
              <a:gd name="connsiteX7" fmla="*/ 0 w 1601390"/>
              <a:gd name="connsiteY7" fmla="*/ 864751 h 960834"/>
              <a:gd name="connsiteX8" fmla="*/ 0 w 1601390"/>
              <a:gd name="connsiteY8" fmla="*/ 96083 h 960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1390" h="960834">
                <a:moveTo>
                  <a:pt x="0" y="96083"/>
                </a:moveTo>
                <a:cubicBezTo>
                  <a:pt x="0" y="43018"/>
                  <a:pt x="43018" y="0"/>
                  <a:pt x="96083" y="0"/>
                </a:cubicBezTo>
                <a:lnTo>
                  <a:pt x="1505307" y="0"/>
                </a:lnTo>
                <a:cubicBezTo>
                  <a:pt x="1558372" y="0"/>
                  <a:pt x="1601390" y="43018"/>
                  <a:pt x="1601390" y="96083"/>
                </a:cubicBezTo>
                <a:lnTo>
                  <a:pt x="1601390" y="864751"/>
                </a:lnTo>
                <a:cubicBezTo>
                  <a:pt x="1601390" y="917816"/>
                  <a:pt x="1558372" y="960834"/>
                  <a:pt x="1505307" y="960834"/>
                </a:cubicBezTo>
                <a:lnTo>
                  <a:pt x="96083" y="960834"/>
                </a:lnTo>
                <a:cubicBezTo>
                  <a:pt x="43018" y="960834"/>
                  <a:pt x="0" y="917816"/>
                  <a:pt x="0" y="864751"/>
                </a:cubicBezTo>
                <a:lnTo>
                  <a:pt x="0" y="96083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>
            <a:outerShdw blurRad="63500" sx="101000" sy="101000" algn="ctr" rotWithShape="0">
              <a:prstClr val="black">
                <a:alpha val="8000"/>
              </a:prstClr>
            </a:outerShdw>
          </a:effectLst>
        </p:spPr>
        <p:txBody>
          <a:bodyPr anchor="ctr">
            <a:normAutofit/>
          </a:bodyPr>
          <a:lstStyle/>
          <a:p>
            <a:pPr algn="ctr">
              <a:defRPr/>
            </a:pPr>
            <a:r>
              <a:rPr lang="zh-CN" altLang="en-US" sz="2400" b="1" spc="300" dirty="0">
                <a:solidFill>
                  <a:schemeClr val="bg1"/>
                </a:solidFill>
              </a:rPr>
              <a:t>模型架构设计</a:t>
            </a:r>
            <a:endParaRPr lang="zh-CN" altLang="en-US" sz="2400" b="1" spc="300" dirty="0">
              <a:solidFill>
                <a:schemeClr val="bg1"/>
              </a:solidFill>
            </a:endParaRPr>
          </a:p>
        </p:txBody>
      </p:sp>
      <p:sp>
        <p:nvSpPr>
          <p:cNvPr id="24" name="MH_Other_3"/>
          <p:cNvSpPr/>
          <p:nvPr>
            <p:custDataLst>
              <p:tags r:id="rId5"/>
            </p:custDataLst>
          </p:nvPr>
        </p:nvSpPr>
        <p:spPr>
          <a:xfrm flipH="1">
            <a:off x="5565151" y="4561573"/>
            <a:ext cx="534483" cy="629560"/>
          </a:xfrm>
          <a:custGeom>
            <a:avLst/>
            <a:gdLst>
              <a:gd name="connsiteX0" fmla="*/ 0 w 339494"/>
              <a:gd name="connsiteY0" fmla="*/ 79429 h 397144"/>
              <a:gd name="connsiteX1" fmla="*/ 169747 w 339494"/>
              <a:gd name="connsiteY1" fmla="*/ 79429 h 397144"/>
              <a:gd name="connsiteX2" fmla="*/ 169747 w 339494"/>
              <a:gd name="connsiteY2" fmla="*/ 0 h 397144"/>
              <a:gd name="connsiteX3" fmla="*/ 339494 w 339494"/>
              <a:gd name="connsiteY3" fmla="*/ 198572 h 397144"/>
              <a:gd name="connsiteX4" fmla="*/ 169747 w 339494"/>
              <a:gd name="connsiteY4" fmla="*/ 397144 h 397144"/>
              <a:gd name="connsiteX5" fmla="*/ 169747 w 339494"/>
              <a:gd name="connsiteY5" fmla="*/ 317715 h 397144"/>
              <a:gd name="connsiteX6" fmla="*/ 0 w 339494"/>
              <a:gd name="connsiteY6" fmla="*/ 317715 h 397144"/>
              <a:gd name="connsiteX7" fmla="*/ 0 w 339494"/>
              <a:gd name="connsiteY7" fmla="*/ 79429 h 39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494" h="397144">
                <a:moveTo>
                  <a:pt x="0" y="79429"/>
                </a:moveTo>
                <a:lnTo>
                  <a:pt x="169747" y="79429"/>
                </a:lnTo>
                <a:lnTo>
                  <a:pt x="169747" y="0"/>
                </a:lnTo>
                <a:lnTo>
                  <a:pt x="339494" y="198572"/>
                </a:lnTo>
                <a:lnTo>
                  <a:pt x="169747" y="397144"/>
                </a:lnTo>
                <a:lnTo>
                  <a:pt x="169747" y="317715"/>
                </a:lnTo>
                <a:lnTo>
                  <a:pt x="0" y="317715"/>
                </a:lnTo>
                <a:lnTo>
                  <a:pt x="0" y="79429"/>
                </a:lnTo>
                <a:close/>
              </a:path>
            </a:pathLst>
          </a:custGeom>
          <a:solidFill>
            <a:srgbClr val="DDDDDD"/>
          </a:solidFill>
          <a:ln w="9525">
            <a:noFill/>
            <a:round/>
          </a:ln>
          <a:effectLst>
            <a:outerShdw blurRad="63500" sx="101000" sy="101000" algn="ctr" rotWithShape="0">
              <a:prstClr val="black">
                <a:alpha val="18000"/>
              </a:prstClr>
            </a:outerShdw>
          </a:effectLst>
        </p:spPr>
        <p:txBody>
          <a:bodyPr lIns="0" tIns="79429" rIns="101848" bIns="79429" spcCol="1270" anchor="ctr">
            <a:normAutofit/>
          </a:bodyPr>
          <a:lstStyle/>
          <a:p>
            <a:pPr algn="ctr" defTabSz="7556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25" name="MH_SubTitle_3"/>
          <p:cNvSpPr/>
          <p:nvPr>
            <p:custDataLst>
              <p:tags r:id="rId6"/>
            </p:custDataLst>
          </p:nvPr>
        </p:nvSpPr>
        <p:spPr>
          <a:xfrm>
            <a:off x="7120471" y="4115123"/>
            <a:ext cx="2528514" cy="1518649"/>
          </a:xfrm>
          <a:custGeom>
            <a:avLst/>
            <a:gdLst>
              <a:gd name="connsiteX0" fmla="*/ 0 w 1601390"/>
              <a:gd name="connsiteY0" fmla="*/ 96083 h 960834"/>
              <a:gd name="connsiteX1" fmla="*/ 96083 w 1601390"/>
              <a:gd name="connsiteY1" fmla="*/ 0 h 960834"/>
              <a:gd name="connsiteX2" fmla="*/ 1505307 w 1601390"/>
              <a:gd name="connsiteY2" fmla="*/ 0 h 960834"/>
              <a:gd name="connsiteX3" fmla="*/ 1601390 w 1601390"/>
              <a:gd name="connsiteY3" fmla="*/ 96083 h 960834"/>
              <a:gd name="connsiteX4" fmla="*/ 1601390 w 1601390"/>
              <a:gd name="connsiteY4" fmla="*/ 864751 h 960834"/>
              <a:gd name="connsiteX5" fmla="*/ 1505307 w 1601390"/>
              <a:gd name="connsiteY5" fmla="*/ 960834 h 960834"/>
              <a:gd name="connsiteX6" fmla="*/ 96083 w 1601390"/>
              <a:gd name="connsiteY6" fmla="*/ 960834 h 960834"/>
              <a:gd name="connsiteX7" fmla="*/ 0 w 1601390"/>
              <a:gd name="connsiteY7" fmla="*/ 864751 h 960834"/>
              <a:gd name="connsiteX8" fmla="*/ 0 w 1601390"/>
              <a:gd name="connsiteY8" fmla="*/ 96083 h 960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1390" h="960834">
                <a:moveTo>
                  <a:pt x="0" y="96083"/>
                </a:moveTo>
                <a:cubicBezTo>
                  <a:pt x="0" y="43018"/>
                  <a:pt x="43018" y="0"/>
                  <a:pt x="96083" y="0"/>
                </a:cubicBezTo>
                <a:lnTo>
                  <a:pt x="1505307" y="0"/>
                </a:lnTo>
                <a:cubicBezTo>
                  <a:pt x="1558372" y="0"/>
                  <a:pt x="1601390" y="43018"/>
                  <a:pt x="1601390" y="96083"/>
                </a:cubicBezTo>
                <a:lnTo>
                  <a:pt x="1601390" y="864751"/>
                </a:lnTo>
                <a:cubicBezTo>
                  <a:pt x="1601390" y="917816"/>
                  <a:pt x="1558372" y="960834"/>
                  <a:pt x="1505307" y="960834"/>
                </a:cubicBezTo>
                <a:lnTo>
                  <a:pt x="96083" y="960834"/>
                </a:lnTo>
                <a:cubicBezTo>
                  <a:pt x="43018" y="960834"/>
                  <a:pt x="0" y="917816"/>
                  <a:pt x="0" y="864751"/>
                </a:cubicBezTo>
                <a:lnTo>
                  <a:pt x="0" y="96083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  <a:effectLst>
            <a:outerShdw blurRad="63500" sx="101000" sy="101000" algn="ctr" rotWithShape="0">
              <a:prstClr val="black">
                <a:alpha val="8000"/>
              </a:prstClr>
            </a:outerShdw>
          </a:effectLst>
        </p:spPr>
        <p:txBody>
          <a:bodyPr anchor="ctr">
            <a:normAutofit/>
          </a:bodyPr>
          <a:lstStyle/>
          <a:p>
            <a:pPr algn="ctr">
              <a:defRPr/>
            </a:pPr>
            <a:r>
              <a:rPr lang="zh-CN" altLang="en-US" sz="2400" b="1" spc="300" dirty="0">
                <a:solidFill>
                  <a:schemeClr val="bg1"/>
                </a:solidFill>
              </a:rPr>
              <a:t>模型后训练与优化</a:t>
            </a:r>
            <a:endParaRPr lang="zh-CN" altLang="en-US" sz="2400" b="1" spc="300" dirty="0">
              <a:solidFill>
                <a:schemeClr val="bg1"/>
              </a:solidFill>
            </a:endParaRPr>
          </a:p>
        </p:txBody>
      </p:sp>
      <p:sp>
        <p:nvSpPr>
          <p:cNvPr id="26" name="MH_SubTitle_4"/>
          <p:cNvSpPr/>
          <p:nvPr>
            <p:custDataLst>
              <p:tags r:id="rId7"/>
            </p:custDataLst>
          </p:nvPr>
        </p:nvSpPr>
        <p:spPr>
          <a:xfrm>
            <a:off x="2083016" y="4118272"/>
            <a:ext cx="2528514" cy="1516080"/>
          </a:xfrm>
          <a:custGeom>
            <a:avLst/>
            <a:gdLst>
              <a:gd name="connsiteX0" fmla="*/ 0 w 1601390"/>
              <a:gd name="connsiteY0" fmla="*/ 96083 h 960834"/>
              <a:gd name="connsiteX1" fmla="*/ 96083 w 1601390"/>
              <a:gd name="connsiteY1" fmla="*/ 0 h 960834"/>
              <a:gd name="connsiteX2" fmla="*/ 1505307 w 1601390"/>
              <a:gd name="connsiteY2" fmla="*/ 0 h 960834"/>
              <a:gd name="connsiteX3" fmla="*/ 1601390 w 1601390"/>
              <a:gd name="connsiteY3" fmla="*/ 96083 h 960834"/>
              <a:gd name="connsiteX4" fmla="*/ 1601390 w 1601390"/>
              <a:gd name="connsiteY4" fmla="*/ 864751 h 960834"/>
              <a:gd name="connsiteX5" fmla="*/ 1505307 w 1601390"/>
              <a:gd name="connsiteY5" fmla="*/ 960834 h 960834"/>
              <a:gd name="connsiteX6" fmla="*/ 96083 w 1601390"/>
              <a:gd name="connsiteY6" fmla="*/ 960834 h 960834"/>
              <a:gd name="connsiteX7" fmla="*/ 0 w 1601390"/>
              <a:gd name="connsiteY7" fmla="*/ 864751 h 960834"/>
              <a:gd name="connsiteX8" fmla="*/ 0 w 1601390"/>
              <a:gd name="connsiteY8" fmla="*/ 96083 h 960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1390" h="960834">
                <a:moveTo>
                  <a:pt x="0" y="96083"/>
                </a:moveTo>
                <a:cubicBezTo>
                  <a:pt x="0" y="43018"/>
                  <a:pt x="43018" y="0"/>
                  <a:pt x="96083" y="0"/>
                </a:cubicBezTo>
                <a:lnTo>
                  <a:pt x="1505307" y="0"/>
                </a:lnTo>
                <a:cubicBezTo>
                  <a:pt x="1558372" y="0"/>
                  <a:pt x="1601390" y="43018"/>
                  <a:pt x="1601390" y="96083"/>
                </a:cubicBezTo>
                <a:lnTo>
                  <a:pt x="1601390" y="864751"/>
                </a:lnTo>
                <a:cubicBezTo>
                  <a:pt x="1601390" y="917816"/>
                  <a:pt x="1558372" y="960834"/>
                  <a:pt x="1505307" y="960834"/>
                </a:cubicBezTo>
                <a:lnTo>
                  <a:pt x="96083" y="960834"/>
                </a:lnTo>
                <a:cubicBezTo>
                  <a:pt x="43018" y="960834"/>
                  <a:pt x="0" y="917816"/>
                  <a:pt x="0" y="864751"/>
                </a:cubicBezTo>
                <a:lnTo>
                  <a:pt x="0" y="96083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>
            <a:outerShdw blurRad="63500" sx="101000" sy="101000" algn="ctr" rotWithShape="0">
              <a:prstClr val="black">
                <a:alpha val="8000"/>
              </a:prstClr>
            </a:outerShdw>
          </a:effectLst>
        </p:spPr>
        <p:txBody>
          <a:bodyPr anchor="ctr">
            <a:normAutofit/>
          </a:bodyPr>
          <a:lstStyle/>
          <a:p>
            <a:pPr algn="ctr">
              <a:defRPr/>
            </a:pPr>
            <a:r>
              <a:rPr lang="zh-CN" altLang="en-US" sz="2400" b="1" spc="300" dirty="0">
                <a:solidFill>
                  <a:schemeClr val="bg1"/>
                </a:solidFill>
              </a:rPr>
              <a:t>任务验证与评估</a:t>
            </a:r>
            <a:endParaRPr lang="zh-CN" altLang="en-US" sz="2400" b="1" spc="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 advTm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45" y="219693"/>
            <a:ext cx="1794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研究方案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02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0" name="MH_Text_1"/>
          <p:cNvSpPr/>
          <p:nvPr>
            <p:custDataLst>
              <p:tags r:id="rId1"/>
            </p:custDataLst>
          </p:nvPr>
        </p:nvSpPr>
        <p:spPr>
          <a:xfrm>
            <a:off x="5211952" y="2381739"/>
            <a:ext cx="5104878" cy="71407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 fontScale="92500"/>
          </a:bodyPr>
          <a:lstStyle/>
          <a:p>
            <a:pPr lvl="3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基于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FastAPI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开发原型系统，在异常检测与态势预测任务中进行多维实验评估，验证系统在复杂场景下的泛化性与实用价值。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MH_SubTitle_1"/>
          <p:cNvSpPr/>
          <p:nvPr>
            <p:custDataLst>
              <p:tags r:id="rId2"/>
            </p:custDataLst>
          </p:nvPr>
        </p:nvSpPr>
        <p:spPr>
          <a:xfrm>
            <a:off x="1875171" y="2368446"/>
            <a:ext cx="4476264" cy="734965"/>
          </a:xfrm>
          <a:custGeom>
            <a:avLst/>
            <a:gdLst>
              <a:gd name="connsiteX0" fmla="*/ 0 w 4775029"/>
              <a:gd name="connsiteY0" fmla="*/ 0 h 784225"/>
              <a:gd name="connsiteX1" fmla="*/ 4775029 w 4775029"/>
              <a:gd name="connsiteY1" fmla="*/ 0 h 784225"/>
              <a:gd name="connsiteX2" fmla="*/ 4654954 w 4775029"/>
              <a:gd name="connsiteY2" fmla="*/ 89434 h 784225"/>
              <a:gd name="connsiteX3" fmla="*/ 4226927 w 4775029"/>
              <a:gd name="connsiteY3" fmla="*/ 583952 h 784225"/>
              <a:gd name="connsiteX4" fmla="*/ 4109202 w 4775029"/>
              <a:gd name="connsiteY4" fmla="*/ 784225 h 784225"/>
              <a:gd name="connsiteX5" fmla="*/ 665826 w 4775029"/>
              <a:gd name="connsiteY5" fmla="*/ 784225 h 784225"/>
              <a:gd name="connsiteX6" fmla="*/ 548102 w 4775029"/>
              <a:gd name="connsiteY6" fmla="*/ 583952 h 784225"/>
              <a:gd name="connsiteX7" fmla="*/ 120074 w 4775029"/>
              <a:gd name="connsiteY7" fmla="*/ 89434 h 78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75029" h="784225">
                <a:moveTo>
                  <a:pt x="0" y="0"/>
                </a:moveTo>
                <a:lnTo>
                  <a:pt x="4775029" y="0"/>
                </a:lnTo>
                <a:lnTo>
                  <a:pt x="4654954" y="89434"/>
                </a:lnTo>
                <a:cubicBezTo>
                  <a:pt x="4497047" y="222063"/>
                  <a:pt x="4352971" y="389068"/>
                  <a:pt x="4226927" y="583952"/>
                </a:cubicBezTo>
                <a:lnTo>
                  <a:pt x="4109202" y="784225"/>
                </a:lnTo>
                <a:lnTo>
                  <a:pt x="665826" y="784225"/>
                </a:lnTo>
                <a:lnTo>
                  <a:pt x="548102" y="583952"/>
                </a:lnTo>
                <a:cubicBezTo>
                  <a:pt x="422057" y="389068"/>
                  <a:pt x="277981" y="222063"/>
                  <a:pt x="120074" y="8943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zh-CN" altLang="en-US" sz="2000" b="1" spc="300" dirty="0">
                <a:solidFill>
                  <a:srgbClr val="FFFFFF"/>
                </a:solidFill>
              </a:rPr>
              <a:t>应用</a:t>
            </a:r>
            <a:endParaRPr lang="zh-CN" altLang="en-US" sz="2000" b="1" spc="300" dirty="0">
              <a:solidFill>
                <a:srgbClr val="FFFFFF"/>
              </a:solidFill>
            </a:endParaRPr>
          </a:p>
        </p:txBody>
      </p:sp>
      <p:sp>
        <p:nvSpPr>
          <p:cNvPr id="22" name="MH_Text_2"/>
          <p:cNvSpPr/>
          <p:nvPr>
            <p:custDataLst>
              <p:tags r:id="rId3"/>
            </p:custDataLst>
          </p:nvPr>
        </p:nvSpPr>
        <p:spPr>
          <a:xfrm>
            <a:off x="5211952" y="3128100"/>
            <a:ext cx="5104878" cy="698882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 fontScale="90000" lnSpcReduction="10000"/>
          </a:bodyPr>
          <a:lstStyle/>
          <a:p>
            <a:pPr lvl="3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插件化集成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BigCity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时空基座模型与视觉感知模型，通过多模型协同处理流量预测与场景解析任务，构建闭环解决能力。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MH_SubTitle_2"/>
          <p:cNvSpPr/>
          <p:nvPr>
            <p:custDataLst>
              <p:tags r:id="rId4"/>
            </p:custDataLst>
          </p:nvPr>
        </p:nvSpPr>
        <p:spPr>
          <a:xfrm>
            <a:off x="2499985" y="3103412"/>
            <a:ext cx="3228532" cy="734966"/>
          </a:xfrm>
          <a:custGeom>
            <a:avLst/>
            <a:gdLst>
              <a:gd name="connsiteX0" fmla="*/ 0 w 3443377"/>
              <a:gd name="connsiteY0" fmla="*/ 0 h 784225"/>
              <a:gd name="connsiteX1" fmla="*/ 3443377 w 3443377"/>
              <a:gd name="connsiteY1" fmla="*/ 0 h 784225"/>
              <a:gd name="connsiteX2" fmla="*/ 3441223 w 3443377"/>
              <a:gd name="connsiteY2" fmla="*/ 3664 h 784225"/>
              <a:gd name="connsiteX3" fmla="*/ 3163051 w 3443377"/>
              <a:gd name="connsiteY3" fmla="*/ 712559 h 784225"/>
              <a:gd name="connsiteX4" fmla="*/ 3146086 w 3443377"/>
              <a:gd name="connsiteY4" fmla="*/ 784225 h 784225"/>
              <a:gd name="connsiteX5" fmla="*/ 297291 w 3443377"/>
              <a:gd name="connsiteY5" fmla="*/ 784225 h 784225"/>
              <a:gd name="connsiteX6" fmla="*/ 280326 w 3443377"/>
              <a:gd name="connsiteY6" fmla="*/ 712559 h 784225"/>
              <a:gd name="connsiteX7" fmla="*/ 2154 w 3443377"/>
              <a:gd name="connsiteY7" fmla="*/ 3664 h 78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43377" h="784225">
                <a:moveTo>
                  <a:pt x="0" y="0"/>
                </a:moveTo>
                <a:lnTo>
                  <a:pt x="3443377" y="0"/>
                </a:lnTo>
                <a:lnTo>
                  <a:pt x="3441223" y="3664"/>
                </a:lnTo>
                <a:cubicBezTo>
                  <a:pt x="3327667" y="216413"/>
                  <a:pt x="3233542" y="454877"/>
                  <a:pt x="3163051" y="712559"/>
                </a:cubicBezTo>
                <a:lnTo>
                  <a:pt x="3146086" y="784225"/>
                </a:lnTo>
                <a:lnTo>
                  <a:pt x="297291" y="784225"/>
                </a:lnTo>
                <a:lnTo>
                  <a:pt x="280326" y="712559"/>
                </a:lnTo>
                <a:cubicBezTo>
                  <a:pt x="209835" y="454877"/>
                  <a:pt x="115711" y="216413"/>
                  <a:pt x="2154" y="366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zh-CN" altLang="en-US" sz="2000" b="1" spc="300" dirty="0">
                <a:solidFill>
                  <a:srgbClr val="FFFFFF"/>
                </a:solidFill>
              </a:rPr>
              <a:t>执行</a:t>
            </a:r>
            <a:endParaRPr lang="zh-CN" altLang="en-US" sz="2000" b="1" spc="300" dirty="0">
              <a:solidFill>
                <a:srgbClr val="FFFFFF"/>
              </a:solidFill>
            </a:endParaRPr>
          </a:p>
        </p:txBody>
      </p:sp>
      <p:sp>
        <p:nvSpPr>
          <p:cNvPr id="24" name="MH_Text_3"/>
          <p:cNvSpPr/>
          <p:nvPr>
            <p:custDataLst>
              <p:tags r:id="rId5"/>
            </p:custDataLst>
          </p:nvPr>
        </p:nvSpPr>
        <p:spPr>
          <a:xfrm>
            <a:off x="5211952" y="3866864"/>
            <a:ext cx="5104878" cy="70078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 fontScale="90000" lnSpcReduction="10000"/>
          </a:bodyPr>
          <a:lstStyle/>
          <a:p>
            <a:pPr lvl="3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引入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ReAct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框架设计标准化工具调用链路（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Tool-Chain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），使智能体能够根据场景需求动态决策，自主调度底层专家工具。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MH_SubTitle_3"/>
          <p:cNvSpPr/>
          <p:nvPr>
            <p:custDataLst>
              <p:tags r:id="rId6"/>
            </p:custDataLst>
          </p:nvPr>
        </p:nvSpPr>
        <p:spPr>
          <a:xfrm>
            <a:off x="2779160" y="3838377"/>
            <a:ext cx="2670186" cy="734965"/>
          </a:xfrm>
          <a:custGeom>
            <a:avLst/>
            <a:gdLst>
              <a:gd name="connsiteX0" fmla="*/ 0 w 2848794"/>
              <a:gd name="connsiteY0" fmla="*/ 0 h 784225"/>
              <a:gd name="connsiteX1" fmla="*/ 2848794 w 2848794"/>
              <a:gd name="connsiteY1" fmla="*/ 0 h 784225"/>
              <a:gd name="connsiteX2" fmla="*/ 2803301 w 2848794"/>
              <a:gd name="connsiteY2" fmla="*/ 192181 h 784225"/>
              <a:gd name="connsiteX3" fmla="*/ 2729387 w 2848794"/>
              <a:gd name="connsiteY3" fmla="*/ 752539 h 784225"/>
              <a:gd name="connsiteX4" fmla="*/ 2728352 w 2848794"/>
              <a:gd name="connsiteY4" fmla="*/ 784225 h 784225"/>
              <a:gd name="connsiteX5" fmla="*/ 120443 w 2848794"/>
              <a:gd name="connsiteY5" fmla="*/ 784225 h 784225"/>
              <a:gd name="connsiteX6" fmla="*/ 119408 w 2848794"/>
              <a:gd name="connsiteY6" fmla="*/ 752539 h 784225"/>
              <a:gd name="connsiteX7" fmla="*/ 45493 w 2848794"/>
              <a:gd name="connsiteY7" fmla="*/ 192181 h 78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48794" h="784225">
                <a:moveTo>
                  <a:pt x="0" y="0"/>
                </a:moveTo>
                <a:lnTo>
                  <a:pt x="2848794" y="0"/>
                </a:lnTo>
                <a:lnTo>
                  <a:pt x="2803301" y="192181"/>
                </a:lnTo>
                <a:cubicBezTo>
                  <a:pt x="2767122" y="372030"/>
                  <a:pt x="2742069" y="559457"/>
                  <a:pt x="2729387" y="752539"/>
                </a:cubicBezTo>
                <a:lnTo>
                  <a:pt x="2728352" y="784225"/>
                </a:lnTo>
                <a:lnTo>
                  <a:pt x="120443" y="784225"/>
                </a:lnTo>
                <a:lnTo>
                  <a:pt x="119408" y="752539"/>
                </a:lnTo>
                <a:cubicBezTo>
                  <a:pt x="106725" y="559457"/>
                  <a:pt x="81672" y="372030"/>
                  <a:pt x="45493" y="1921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zh-CN" altLang="en-US" sz="2000" b="1" spc="300" dirty="0">
                <a:solidFill>
                  <a:srgbClr val="FFFFFF"/>
                </a:solidFill>
              </a:rPr>
              <a:t>决策</a:t>
            </a:r>
            <a:endParaRPr lang="zh-CN" altLang="en-US" sz="2000" b="1" spc="300" dirty="0">
              <a:solidFill>
                <a:srgbClr val="FFFFFF"/>
              </a:solidFill>
            </a:endParaRPr>
          </a:p>
        </p:txBody>
      </p:sp>
      <p:sp>
        <p:nvSpPr>
          <p:cNvPr id="26" name="MH_Text_4"/>
          <p:cNvSpPr/>
          <p:nvPr>
            <p:custDataLst>
              <p:tags r:id="rId7"/>
            </p:custDataLst>
          </p:nvPr>
        </p:nvSpPr>
        <p:spPr>
          <a:xfrm>
            <a:off x="5211952" y="4601830"/>
            <a:ext cx="5104878" cy="698882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 fontScale="90000" lnSpcReduction="10000"/>
          </a:bodyPr>
          <a:lstStyle/>
          <a:p>
            <a:pPr lvl="3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以大语言模型为核心大脑，构建基于思维链（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）的推理引擎，实现对复杂、模糊交通任务指令的细粒度意图拆解与分析。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MH_SubTitle_4"/>
          <p:cNvSpPr/>
          <p:nvPr>
            <p:custDataLst>
              <p:tags r:id="rId8"/>
            </p:custDataLst>
          </p:nvPr>
        </p:nvSpPr>
        <p:spPr>
          <a:xfrm>
            <a:off x="2868419" y="4573344"/>
            <a:ext cx="2489768" cy="734966"/>
          </a:xfrm>
          <a:custGeom>
            <a:avLst/>
            <a:gdLst>
              <a:gd name="connsiteX0" fmla="*/ 23605 w 2655121"/>
              <a:gd name="connsiteY0" fmla="*/ 0 h 784225"/>
              <a:gd name="connsiteX1" fmla="*/ 2631515 w 2655121"/>
              <a:gd name="connsiteY1" fmla="*/ 0 h 784225"/>
              <a:gd name="connsiteX2" fmla="*/ 2622960 w 2655121"/>
              <a:gd name="connsiteY2" fmla="*/ 261938 h 784225"/>
              <a:gd name="connsiteX3" fmla="*/ 2632550 w 2655121"/>
              <a:gd name="connsiteY3" fmla="*/ 555562 h 784225"/>
              <a:gd name="connsiteX4" fmla="*/ 2655121 w 2655121"/>
              <a:gd name="connsiteY4" fmla="*/ 784225 h 784225"/>
              <a:gd name="connsiteX5" fmla="*/ 0 w 2655121"/>
              <a:gd name="connsiteY5" fmla="*/ 784225 h 784225"/>
              <a:gd name="connsiteX6" fmla="*/ 22571 w 2655121"/>
              <a:gd name="connsiteY6" fmla="*/ 555562 h 784225"/>
              <a:gd name="connsiteX7" fmla="*/ 32160 w 2655121"/>
              <a:gd name="connsiteY7" fmla="*/ 261938 h 78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5121" h="784225">
                <a:moveTo>
                  <a:pt x="23605" y="0"/>
                </a:moveTo>
                <a:lnTo>
                  <a:pt x="2631515" y="0"/>
                </a:lnTo>
                <a:lnTo>
                  <a:pt x="2622960" y="261938"/>
                </a:lnTo>
                <a:cubicBezTo>
                  <a:pt x="2622960" y="361066"/>
                  <a:pt x="2626209" y="459021"/>
                  <a:pt x="2632550" y="555562"/>
                </a:cubicBezTo>
                <a:lnTo>
                  <a:pt x="2655121" y="784225"/>
                </a:lnTo>
                <a:lnTo>
                  <a:pt x="0" y="784225"/>
                </a:lnTo>
                <a:lnTo>
                  <a:pt x="22571" y="555562"/>
                </a:lnTo>
                <a:cubicBezTo>
                  <a:pt x="28912" y="459021"/>
                  <a:pt x="32160" y="361066"/>
                  <a:pt x="32160" y="2619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zh-CN" altLang="en-US" sz="2000" b="1" spc="300" dirty="0">
                <a:solidFill>
                  <a:srgbClr val="FFFFFF"/>
                </a:solidFill>
              </a:rPr>
              <a:t>认知</a:t>
            </a:r>
            <a:endParaRPr lang="zh-CN" altLang="en-US" sz="2000" b="1" spc="300" dirty="0">
              <a:solidFill>
                <a:srgbClr val="FFFFFF"/>
              </a:solidFill>
            </a:endParaRPr>
          </a:p>
        </p:txBody>
      </p:sp>
      <p:sp>
        <p:nvSpPr>
          <p:cNvPr id="28" name="MH_Text_5"/>
          <p:cNvSpPr/>
          <p:nvPr>
            <p:custDataLst>
              <p:tags r:id="rId9"/>
            </p:custDataLst>
          </p:nvPr>
        </p:nvSpPr>
        <p:spPr>
          <a:xfrm>
            <a:off x="5211952" y="5336795"/>
            <a:ext cx="5104878" cy="69318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 fontScale="90000" lnSpcReduction="10000"/>
          </a:bodyPr>
          <a:lstStyle/>
          <a:p>
            <a:pPr lvl="3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采集高速场景下雷达点云、视频及文本数据，利用对比学习技术建立时空对齐机制，为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Agent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推理提供高质量的多模态感知输入。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MH_SubTitle_5"/>
          <p:cNvSpPr/>
          <p:nvPr>
            <p:custDataLst>
              <p:tags r:id="rId10"/>
            </p:custDataLst>
          </p:nvPr>
        </p:nvSpPr>
        <p:spPr>
          <a:xfrm>
            <a:off x="2706993" y="5308309"/>
            <a:ext cx="2812620" cy="734965"/>
          </a:xfrm>
          <a:custGeom>
            <a:avLst/>
            <a:gdLst>
              <a:gd name="connsiteX0" fmla="*/ 172588 w 3000297"/>
              <a:gd name="connsiteY0" fmla="*/ 0 h 784225"/>
              <a:gd name="connsiteX1" fmla="*/ 2827709 w 3000297"/>
              <a:gd name="connsiteY1" fmla="*/ 0 h 784225"/>
              <a:gd name="connsiteX2" fmla="*/ 2833284 w 3000297"/>
              <a:gd name="connsiteY2" fmla="*/ 56479 h 784225"/>
              <a:gd name="connsiteX3" fmla="*/ 2941510 w 3000297"/>
              <a:gd name="connsiteY3" fmla="*/ 595543 h 784225"/>
              <a:gd name="connsiteX4" fmla="*/ 3000297 w 3000297"/>
              <a:gd name="connsiteY4" fmla="*/ 784225 h 784225"/>
              <a:gd name="connsiteX5" fmla="*/ 0 w 3000297"/>
              <a:gd name="connsiteY5" fmla="*/ 784225 h 784225"/>
              <a:gd name="connsiteX6" fmla="*/ 58786 w 3000297"/>
              <a:gd name="connsiteY6" fmla="*/ 595543 h 784225"/>
              <a:gd name="connsiteX7" fmla="*/ 167013 w 3000297"/>
              <a:gd name="connsiteY7" fmla="*/ 56479 h 78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00297" h="784225">
                <a:moveTo>
                  <a:pt x="172588" y="0"/>
                </a:moveTo>
                <a:lnTo>
                  <a:pt x="2827709" y="0"/>
                </a:lnTo>
                <a:lnTo>
                  <a:pt x="2833284" y="56479"/>
                </a:lnTo>
                <a:cubicBezTo>
                  <a:pt x="2858025" y="243425"/>
                  <a:pt x="2894516" y="423755"/>
                  <a:pt x="2941510" y="595543"/>
                </a:cubicBezTo>
                <a:lnTo>
                  <a:pt x="3000297" y="784225"/>
                </a:lnTo>
                <a:lnTo>
                  <a:pt x="0" y="784225"/>
                </a:lnTo>
                <a:lnTo>
                  <a:pt x="58786" y="595543"/>
                </a:lnTo>
                <a:cubicBezTo>
                  <a:pt x="105780" y="423755"/>
                  <a:pt x="142271" y="243425"/>
                  <a:pt x="167013" y="564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zh-CN" altLang="en-US" sz="2000" b="1" spc="300" dirty="0">
                <a:solidFill>
                  <a:srgbClr val="FFFFFF"/>
                </a:solidFill>
              </a:rPr>
              <a:t>感知</a:t>
            </a:r>
            <a:endParaRPr lang="zh-CN" altLang="en-US" sz="2000" b="1" spc="300" dirty="0">
              <a:solidFill>
                <a:srgbClr val="FFFF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4314" y="1113559"/>
            <a:ext cx="10443372" cy="1050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本研究旨在构建一个感知与推理闭环的智能交通系统，采用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“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多源数据驱动感知、大模型驱动逻辑中枢、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Agent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驱动协同执行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”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的总体技术路线。通过将时空基座模型与多模态感知工具进行集成，实现从底层异构数据汇聚到顶层任务自动化决策的端到端闭环。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 advTm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45" y="219693"/>
            <a:ext cx="179486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架构设计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25" name="组合 224"/>
          <p:cNvGrpSpPr/>
          <p:nvPr/>
        </p:nvGrpSpPr>
        <p:grpSpPr>
          <a:xfrm>
            <a:off x="691515" y="823595"/>
            <a:ext cx="9650730" cy="5265420"/>
            <a:chOff x="356" y="456"/>
            <a:chExt cx="18331" cy="10001"/>
          </a:xfrm>
        </p:grpSpPr>
        <p:sp>
          <p:nvSpPr>
            <p:cNvPr id="175" name="任意多边形: 形状 91"/>
            <p:cNvSpPr/>
            <p:nvPr/>
          </p:nvSpPr>
          <p:spPr>
            <a:xfrm>
              <a:off x="5413" y="457"/>
              <a:ext cx="13274" cy="10000"/>
            </a:xfrm>
            <a:custGeom>
              <a:avLst/>
              <a:gdLst>
                <a:gd name="connsiteX0" fmla="*/ 1005840 w 1066800"/>
                <a:gd name="connsiteY0" fmla="*/ 0 h 457200"/>
                <a:gd name="connsiteX1" fmla="*/ 1066800 w 1066800"/>
                <a:gd name="connsiteY1" fmla="*/ 0 h 457200"/>
                <a:gd name="connsiteX2" fmla="*/ 1066800 w 1066800"/>
                <a:gd name="connsiteY2" fmla="*/ 457200 h 457200"/>
                <a:gd name="connsiteX3" fmla="*/ 1005840 w 1066800"/>
                <a:gd name="connsiteY3" fmla="*/ 457200 h 457200"/>
                <a:gd name="connsiteX4" fmla="*/ 60960 w 1066800"/>
                <a:gd name="connsiteY4" fmla="*/ 457200 h 457200"/>
                <a:gd name="connsiteX5" fmla="*/ 0 w 1066800"/>
                <a:gd name="connsiteY5" fmla="*/ 457200 h 457200"/>
                <a:gd name="connsiteX6" fmla="*/ 0 w 1066800"/>
                <a:gd name="connsiteY6" fmla="*/ 0 h 457200"/>
                <a:gd name="connsiteX7" fmla="*/ 60960 w 1066800"/>
                <a:gd name="connsiteY7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6800" h="457200">
                  <a:moveTo>
                    <a:pt x="1005840" y="0"/>
                  </a:moveTo>
                  <a:cubicBezTo>
                    <a:pt x="1039507" y="0"/>
                    <a:pt x="1066800" y="0"/>
                    <a:pt x="1066800" y="0"/>
                  </a:cubicBezTo>
                  <a:lnTo>
                    <a:pt x="1066800" y="457200"/>
                  </a:lnTo>
                  <a:cubicBezTo>
                    <a:pt x="1066800" y="457200"/>
                    <a:pt x="1039507" y="457200"/>
                    <a:pt x="1005840" y="457200"/>
                  </a:cubicBezTo>
                  <a:lnTo>
                    <a:pt x="60960" y="457200"/>
                  </a:lnTo>
                  <a:cubicBezTo>
                    <a:pt x="27293" y="457200"/>
                    <a:pt x="0" y="457200"/>
                    <a:pt x="0" y="457200"/>
                  </a:cubicBezTo>
                  <a:lnTo>
                    <a:pt x="0" y="0"/>
                  </a:lnTo>
                  <a:cubicBezTo>
                    <a:pt x="0" y="0"/>
                    <a:pt x="27293" y="0"/>
                    <a:pt x="60960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5240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rgbClr val="00B0F0"/>
                </a:solidFill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5611" y="457"/>
              <a:ext cx="7968" cy="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b="1" spc="0" baseline="0" dirty="0">
                  <a:solidFill>
                    <a:srgbClr val="00B0F0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LLM + Tool Chain</a:t>
              </a:r>
              <a:endParaRPr lang="zh-CN" altLang="en-US" sz="2800" b="1" spc="0" baseline="0" dirty="0">
                <a:solidFill>
                  <a:srgbClr val="00B0F0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endParaRPr>
            </a:p>
          </p:txBody>
        </p:sp>
        <p:sp>
          <p:nvSpPr>
            <p:cNvPr id="177" name="圆角矩形 176"/>
            <p:cNvSpPr/>
            <p:nvPr/>
          </p:nvSpPr>
          <p:spPr>
            <a:xfrm>
              <a:off x="474" y="456"/>
              <a:ext cx="3329" cy="4780"/>
            </a:xfrm>
            <a:prstGeom prst="roundRect">
              <a:avLst>
                <a:gd name="adj" fmla="val 9752"/>
              </a:avLst>
            </a:prstGeom>
            <a:solidFill>
              <a:srgbClr val="DAE3F3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8" name="图片 177" descr="3b35303034323336323bd7a8d2b5c8cbcabf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4" y="564"/>
              <a:ext cx="907" cy="907"/>
            </a:xfrm>
            <a:prstGeom prst="rect">
              <a:avLst/>
            </a:prstGeom>
          </p:spPr>
        </p:pic>
        <p:sp>
          <p:nvSpPr>
            <p:cNvPr id="179" name="矩形 178"/>
            <p:cNvSpPr/>
            <p:nvPr/>
          </p:nvSpPr>
          <p:spPr>
            <a:xfrm>
              <a:off x="14699" y="1411"/>
              <a:ext cx="3719" cy="212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75000">
                  <a:srgbClr val="00B0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80" name="矩形 179"/>
            <p:cNvSpPr/>
            <p:nvPr/>
          </p:nvSpPr>
          <p:spPr>
            <a:xfrm>
              <a:off x="14699" y="5000"/>
              <a:ext cx="3719" cy="212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75000">
                  <a:srgbClr val="00B0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81" name="矩形 180"/>
            <p:cNvSpPr/>
            <p:nvPr/>
          </p:nvSpPr>
          <p:spPr>
            <a:xfrm>
              <a:off x="14644" y="8401"/>
              <a:ext cx="3719" cy="212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75000">
                  <a:srgbClr val="00B0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15867" y="1623"/>
              <a:ext cx="2496" cy="7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zh-CN" sz="2400" b="1"/>
                <a:t>1/3</a:t>
              </a:r>
              <a:endParaRPr lang="en-US" altLang="zh-CN" sz="2400" b="1"/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12819" y="2388"/>
              <a:ext cx="5544" cy="7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 sz="2400" b="1"/>
                <a:t>任务拆解</a:t>
              </a:r>
              <a:endParaRPr lang="zh-CN" altLang="en-US" sz="2400" b="1"/>
            </a:p>
          </p:txBody>
        </p:sp>
        <p:sp>
          <p:nvSpPr>
            <p:cNvPr id="184" name="文本框 183"/>
            <p:cNvSpPr txBox="1"/>
            <p:nvPr/>
          </p:nvSpPr>
          <p:spPr>
            <a:xfrm>
              <a:off x="15946" y="5306"/>
              <a:ext cx="2496" cy="7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zh-CN" sz="2400" b="1"/>
                <a:t>2/3</a:t>
              </a:r>
              <a:endParaRPr lang="en-US" altLang="zh-CN" sz="2400" b="1"/>
            </a:p>
          </p:txBody>
        </p:sp>
        <p:sp>
          <p:nvSpPr>
            <p:cNvPr id="185" name="文本框 184"/>
            <p:cNvSpPr txBox="1"/>
            <p:nvPr/>
          </p:nvSpPr>
          <p:spPr>
            <a:xfrm>
              <a:off x="12898" y="6071"/>
              <a:ext cx="5544" cy="7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 sz="2400" b="1"/>
                <a:t>任务执行</a:t>
              </a:r>
              <a:endParaRPr lang="zh-CN" altLang="en-US" sz="2400" b="1"/>
            </a:p>
          </p:txBody>
        </p:sp>
        <p:sp>
          <p:nvSpPr>
            <p:cNvPr id="186" name="文本框 185"/>
            <p:cNvSpPr txBox="1"/>
            <p:nvPr/>
          </p:nvSpPr>
          <p:spPr>
            <a:xfrm>
              <a:off x="15867" y="8647"/>
              <a:ext cx="2496" cy="7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zh-CN" sz="2400" b="1"/>
                <a:t>3/3</a:t>
              </a:r>
              <a:endParaRPr lang="en-US" altLang="zh-CN" sz="2400" b="1"/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12819" y="9412"/>
              <a:ext cx="5544" cy="7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 sz="2400" b="1"/>
                <a:t>异常处理</a:t>
              </a:r>
              <a:endParaRPr lang="zh-CN" altLang="en-US" sz="2400" b="1"/>
            </a:p>
          </p:txBody>
        </p:sp>
        <p:grpSp>
          <p:nvGrpSpPr>
            <p:cNvPr id="188" name="组合 187"/>
            <p:cNvGrpSpPr/>
            <p:nvPr/>
          </p:nvGrpSpPr>
          <p:grpSpPr>
            <a:xfrm>
              <a:off x="6067" y="1719"/>
              <a:ext cx="5585" cy="1134"/>
              <a:chOff x="3675" y="1719"/>
              <a:chExt cx="5585" cy="1134"/>
            </a:xfrm>
          </p:grpSpPr>
          <p:pic>
            <p:nvPicPr>
              <p:cNvPr id="189" name="图片 188" descr="qwen-color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5" y="1719"/>
                <a:ext cx="1134" cy="1134"/>
              </a:xfrm>
              <a:prstGeom prst="rect">
                <a:avLst/>
              </a:prstGeom>
            </p:spPr>
          </p:pic>
          <p:sp>
            <p:nvSpPr>
              <p:cNvPr id="190" name="圆角矩形 189"/>
              <p:cNvSpPr/>
              <p:nvPr/>
            </p:nvSpPr>
            <p:spPr>
              <a:xfrm>
                <a:off x="6310" y="1946"/>
                <a:ext cx="2950" cy="68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任务规划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91" name="图片 190" descr="10787419814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135" y="1861"/>
                <a:ext cx="850" cy="850"/>
              </a:xfrm>
              <a:prstGeom prst="rect">
                <a:avLst/>
              </a:prstGeom>
            </p:spPr>
          </p:pic>
        </p:grpSp>
        <p:grpSp>
          <p:nvGrpSpPr>
            <p:cNvPr id="192" name="组合 191"/>
            <p:cNvGrpSpPr/>
            <p:nvPr/>
          </p:nvGrpSpPr>
          <p:grpSpPr>
            <a:xfrm>
              <a:off x="6067" y="3575"/>
              <a:ext cx="5584" cy="1134"/>
              <a:chOff x="5516" y="3575"/>
              <a:chExt cx="5584" cy="1134"/>
            </a:xfrm>
          </p:grpSpPr>
          <p:pic>
            <p:nvPicPr>
              <p:cNvPr id="193" name="图片 192" descr="qwen-color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16" y="3575"/>
                <a:ext cx="1134" cy="1134"/>
              </a:xfrm>
              <a:prstGeom prst="rect">
                <a:avLst/>
              </a:prstGeom>
            </p:spPr>
          </p:pic>
          <p:sp>
            <p:nvSpPr>
              <p:cNvPr id="194" name="圆角矩形 193"/>
              <p:cNvSpPr/>
              <p:nvPr/>
            </p:nvSpPr>
            <p:spPr>
              <a:xfrm>
                <a:off x="8151" y="3802"/>
                <a:ext cx="2949" cy="68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任务分解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95" name="图片 194" descr="10787419814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976" y="3717"/>
                <a:ext cx="850" cy="850"/>
              </a:xfrm>
              <a:prstGeom prst="rect">
                <a:avLst/>
              </a:prstGeom>
            </p:spPr>
          </p:pic>
        </p:grpSp>
        <p:grpSp>
          <p:nvGrpSpPr>
            <p:cNvPr id="196" name="组合 195"/>
            <p:cNvGrpSpPr/>
            <p:nvPr/>
          </p:nvGrpSpPr>
          <p:grpSpPr>
            <a:xfrm>
              <a:off x="6067" y="5431"/>
              <a:ext cx="5586" cy="1134"/>
              <a:chOff x="7357" y="5431"/>
              <a:chExt cx="5586" cy="1134"/>
            </a:xfrm>
          </p:grpSpPr>
          <p:pic>
            <p:nvPicPr>
              <p:cNvPr id="197" name="图片 196" descr="qwen-color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57" y="5431"/>
                <a:ext cx="1134" cy="1134"/>
              </a:xfrm>
              <a:prstGeom prst="rect">
                <a:avLst/>
              </a:prstGeom>
            </p:spPr>
          </p:pic>
          <p:sp>
            <p:nvSpPr>
              <p:cNvPr id="198" name="圆角矩形 197"/>
              <p:cNvSpPr/>
              <p:nvPr/>
            </p:nvSpPr>
            <p:spPr>
              <a:xfrm>
                <a:off x="9992" y="5658"/>
                <a:ext cx="2951" cy="68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工具选择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99" name="图片 198" descr="10787419814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817" y="5573"/>
                <a:ext cx="850" cy="850"/>
              </a:xfrm>
              <a:prstGeom prst="rect">
                <a:avLst/>
              </a:prstGeom>
            </p:spPr>
          </p:pic>
        </p:grpSp>
        <p:grpSp>
          <p:nvGrpSpPr>
            <p:cNvPr id="200" name="组合 199"/>
            <p:cNvGrpSpPr/>
            <p:nvPr/>
          </p:nvGrpSpPr>
          <p:grpSpPr>
            <a:xfrm>
              <a:off x="6067" y="7287"/>
              <a:ext cx="5586" cy="1134"/>
              <a:chOff x="9198" y="7287"/>
              <a:chExt cx="5586" cy="1134"/>
            </a:xfrm>
          </p:grpSpPr>
          <p:pic>
            <p:nvPicPr>
              <p:cNvPr id="201" name="图片 200" descr="qwen-color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98" y="7287"/>
                <a:ext cx="1134" cy="1134"/>
              </a:xfrm>
              <a:prstGeom prst="rect">
                <a:avLst/>
              </a:prstGeom>
            </p:spPr>
          </p:pic>
          <p:sp>
            <p:nvSpPr>
              <p:cNvPr id="202" name="圆角矩形 201"/>
              <p:cNvSpPr/>
              <p:nvPr/>
            </p:nvSpPr>
            <p:spPr>
              <a:xfrm>
                <a:off x="11833" y="7514"/>
                <a:ext cx="2951" cy="68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智能体协调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203" name="图片 202" descr="10787419814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658" y="7429"/>
                <a:ext cx="850" cy="850"/>
              </a:xfrm>
              <a:prstGeom prst="rect">
                <a:avLst/>
              </a:prstGeom>
            </p:spPr>
          </p:pic>
        </p:grpSp>
        <p:grpSp>
          <p:nvGrpSpPr>
            <p:cNvPr id="204" name="组合 203"/>
            <p:cNvGrpSpPr/>
            <p:nvPr/>
          </p:nvGrpSpPr>
          <p:grpSpPr>
            <a:xfrm>
              <a:off x="6067" y="9143"/>
              <a:ext cx="5585" cy="1134"/>
              <a:chOff x="11039" y="9143"/>
              <a:chExt cx="5585" cy="1134"/>
            </a:xfrm>
          </p:grpSpPr>
          <p:pic>
            <p:nvPicPr>
              <p:cNvPr id="205" name="图片 204" descr="qwen-color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39" y="9143"/>
                <a:ext cx="1134" cy="1134"/>
              </a:xfrm>
              <a:prstGeom prst="rect">
                <a:avLst/>
              </a:prstGeom>
            </p:spPr>
          </p:pic>
          <p:sp>
            <p:nvSpPr>
              <p:cNvPr id="206" name="圆角矩形 205"/>
              <p:cNvSpPr/>
              <p:nvPr/>
            </p:nvSpPr>
            <p:spPr>
              <a:xfrm>
                <a:off x="13674" y="9370"/>
                <a:ext cx="2950" cy="68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异常处理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207" name="图片 206" descr="10787419814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2499" y="9285"/>
                <a:ext cx="850" cy="850"/>
              </a:xfrm>
              <a:prstGeom prst="rect">
                <a:avLst/>
              </a:prstGeom>
            </p:spPr>
          </p:pic>
        </p:grpSp>
        <p:cxnSp>
          <p:nvCxnSpPr>
            <p:cNvPr id="208" name="直接箭头连接符 207"/>
            <p:cNvCxnSpPr/>
            <p:nvPr/>
          </p:nvCxnSpPr>
          <p:spPr>
            <a:xfrm>
              <a:off x="9978" y="2626"/>
              <a:ext cx="0" cy="1176"/>
            </a:xfrm>
            <a:prstGeom prst="straightConnector1">
              <a:avLst/>
            </a:prstGeom>
            <a:ln w="3492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9" name="直接箭头连接符 208"/>
            <p:cNvCxnSpPr/>
            <p:nvPr/>
          </p:nvCxnSpPr>
          <p:spPr>
            <a:xfrm>
              <a:off x="9978" y="4482"/>
              <a:ext cx="0" cy="1176"/>
            </a:xfrm>
            <a:prstGeom prst="straightConnector1">
              <a:avLst/>
            </a:prstGeom>
            <a:ln w="3492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0" name="直接箭头连接符 209"/>
            <p:cNvCxnSpPr/>
            <p:nvPr/>
          </p:nvCxnSpPr>
          <p:spPr>
            <a:xfrm>
              <a:off x="9978" y="6338"/>
              <a:ext cx="0" cy="1176"/>
            </a:xfrm>
            <a:prstGeom prst="straightConnector1">
              <a:avLst/>
            </a:prstGeom>
            <a:ln w="3492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1" name="直接箭头连接符 210"/>
            <p:cNvCxnSpPr/>
            <p:nvPr/>
          </p:nvCxnSpPr>
          <p:spPr>
            <a:xfrm>
              <a:off x="9978" y="8194"/>
              <a:ext cx="0" cy="1176"/>
            </a:xfrm>
            <a:prstGeom prst="straightConnector1">
              <a:avLst/>
            </a:prstGeom>
            <a:ln w="3492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12" name="组合 211"/>
            <p:cNvGrpSpPr/>
            <p:nvPr/>
          </p:nvGrpSpPr>
          <p:grpSpPr>
            <a:xfrm>
              <a:off x="11490" y="2694"/>
              <a:ext cx="3828" cy="6852"/>
              <a:chOff x="11630" y="2669"/>
              <a:chExt cx="3828" cy="6852"/>
            </a:xfrm>
          </p:grpSpPr>
          <p:pic>
            <p:nvPicPr>
              <p:cNvPr id="213" name="图片 212" descr="记忆图片"/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flipH="1">
                <a:off x="12694" y="2669"/>
                <a:ext cx="1701" cy="1701"/>
              </a:xfrm>
              <a:prstGeom prst="rect">
                <a:avLst/>
              </a:prstGeom>
            </p:spPr>
          </p:pic>
          <p:sp>
            <p:nvSpPr>
              <p:cNvPr id="214" name="文本框 213"/>
              <p:cNvSpPr txBox="1"/>
              <p:nvPr/>
            </p:nvSpPr>
            <p:spPr>
              <a:xfrm>
                <a:off x="11630" y="4664"/>
                <a:ext cx="3828" cy="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b="1"/>
                  <a:t>本地记忆库</a:t>
                </a:r>
                <a:endParaRPr lang="zh-CN" altLang="en-US" sz="2400" b="1"/>
              </a:p>
            </p:txBody>
          </p:sp>
          <p:sp>
            <p:nvSpPr>
              <p:cNvPr id="215" name="文本框 214"/>
              <p:cNvSpPr txBox="1"/>
              <p:nvPr/>
            </p:nvSpPr>
            <p:spPr>
              <a:xfrm>
                <a:off x="11630" y="8646"/>
                <a:ext cx="3828" cy="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b="1"/>
                  <a:t>网络知识库</a:t>
                </a:r>
                <a:endParaRPr lang="zh-CN" altLang="en-US" sz="2400" b="1"/>
              </a:p>
            </p:txBody>
          </p:sp>
          <p:pic>
            <p:nvPicPr>
              <p:cNvPr id="216" name="图片 215" descr="网络推广"/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2694" y="6778"/>
                <a:ext cx="1701" cy="1701"/>
              </a:xfrm>
              <a:prstGeom prst="rect">
                <a:avLst/>
              </a:prstGeom>
            </p:spPr>
          </p:pic>
        </p:grpSp>
        <p:sp>
          <p:nvSpPr>
            <p:cNvPr id="217" name="文本框 216"/>
            <p:cNvSpPr txBox="1"/>
            <p:nvPr/>
          </p:nvSpPr>
          <p:spPr>
            <a:xfrm>
              <a:off x="1337" y="713"/>
              <a:ext cx="2550" cy="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/>
                <a:t>用户输入</a:t>
              </a:r>
              <a:endParaRPr lang="zh-CN" altLang="en-US" sz="2000" b="1"/>
            </a:p>
          </p:txBody>
        </p:sp>
        <p:sp>
          <p:nvSpPr>
            <p:cNvPr id="218" name="文本框 217"/>
            <p:cNvSpPr txBox="1"/>
            <p:nvPr/>
          </p:nvSpPr>
          <p:spPr>
            <a:xfrm>
              <a:off x="506" y="1701"/>
              <a:ext cx="3268" cy="2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extLst>
                  <a:ext uri="{35155182-B16C-46BC-9424-99874614C6A1}">
                    <wpsdc:indentchars xmlns:wpsdc="http://www.wps.cn/officeDocument/2017/drawingmlCustomData" val="200" checksum="59296752"/>
                  </a:ext>
                </a:extLst>
              </a:pPr>
              <a:r>
                <a:rPr lang="zh-CN" altLang="en-US"/>
                <a:t>分析一下京昆路口的</a:t>
              </a:r>
              <a:r>
                <a:rPr lang="zh-CN" altLang="en-US"/>
                <a:t>路况</a:t>
              </a:r>
              <a:endParaRPr lang="zh-CN" altLang="en-US"/>
            </a:p>
          </p:txBody>
        </p:sp>
        <p:pic>
          <p:nvPicPr>
            <p:cNvPr id="219" name="图片 218" descr="10758983265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873" y="2135"/>
              <a:ext cx="1440" cy="1440"/>
            </a:xfrm>
            <a:prstGeom prst="rect">
              <a:avLst/>
            </a:prstGeom>
          </p:spPr>
        </p:pic>
        <p:sp>
          <p:nvSpPr>
            <p:cNvPr id="220" name="圆角矩形 219"/>
            <p:cNvSpPr/>
            <p:nvPr/>
          </p:nvSpPr>
          <p:spPr>
            <a:xfrm>
              <a:off x="445" y="5658"/>
              <a:ext cx="3329" cy="4780"/>
            </a:xfrm>
            <a:prstGeom prst="roundRect">
              <a:avLst>
                <a:gd name="adj" fmla="val 9752"/>
              </a:avLst>
            </a:prstGeom>
            <a:solidFill>
              <a:srgbClr val="DAE3F3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文本框 220"/>
            <p:cNvSpPr txBox="1"/>
            <p:nvPr/>
          </p:nvSpPr>
          <p:spPr>
            <a:xfrm>
              <a:off x="356" y="5915"/>
              <a:ext cx="2550" cy="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/>
                <a:t>模型输出</a:t>
              </a:r>
              <a:endParaRPr lang="zh-CN" altLang="en-US" sz="2000" b="1"/>
            </a:p>
          </p:txBody>
        </p:sp>
        <p:sp>
          <p:nvSpPr>
            <p:cNvPr id="222" name="文本框 221"/>
            <p:cNvSpPr txBox="1"/>
            <p:nvPr/>
          </p:nvSpPr>
          <p:spPr>
            <a:xfrm>
              <a:off x="477" y="6763"/>
              <a:ext cx="3268" cy="2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extLst>
                  <a:ext uri="{35155182-B16C-46BC-9424-99874614C6A1}">
                    <wpsdc:indentchars xmlns:wpsdc="http://www.wps.cn/officeDocument/2017/drawingmlCustomData" val="200" checksum="59296752"/>
                  </a:ext>
                </a:extLst>
              </a:pPr>
              <a:r>
                <a:rPr lang="zh-CN" altLang="en-US"/>
                <a:t>交通流量较大，建议谨慎出行</a:t>
              </a:r>
              <a:r>
                <a:rPr lang="en-US" altLang="zh-CN"/>
                <a:t>！</a:t>
              </a:r>
              <a:endParaRPr lang="en-US" altLang="zh-CN"/>
            </a:p>
          </p:txBody>
        </p:sp>
        <p:pic>
          <p:nvPicPr>
            <p:cNvPr id="223" name="图片 222" descr="10758983265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3844" y="7337"/>
              <a:ext cx="1440" cy="1440"/>
            </a:xfrm>
            <a:prstGeom prst="rect">
              <a:avLst/>
            </a:prstGeom>
          </p:spPr>
        </p:pic>
        <p:pic>
          <p:nvPicPr>
            <p:cNvPr id="224" name="图片 223" descr="qwen-color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49" y="5830"/>
              <a:ext cx="907" cy="907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 advTm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274"/>
            <a:ext cx="47967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-758781" y="1501348"/>
            <a:ext cx="573709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b="1" spc="300" dirty="0">
                <a:solidFill>
                  <a:schemeClr val="bg1"/>
                </a:solidFill>
              </a:rPr>
              <a:t>P</a:t>
            </a:r>
            <a:r>
              <a:rPr lang="en-US" altLang="zh-CN" sz="9600" b="1" spc="300" dirty="0">
                <a:solidFill>
                  <a:schemeClr val="bg1"/>
                </a:solidFill>
              </a:rPr>
              <a:t>art</a:t>
            </a:r>
            <a:endParaRPr lang="zh-CN" altLang="en-US" sz="9600" b="1" spc="300" dirty="0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914074" y="2096314"/>
            <a:ext cx="1695279" cy="1510858"/>
            <a:chOff x="4436392" y="3027170"/>
            <a:chExt cx="720670" cy="642272"/>
          </a:xfrm>
        </p:grpSpPr>
        <p:sp>
          <p:nvSpPr>
            <p:cNvPr id="4" name="圆角矩形 3"/>
            <p:cNvSpPr/>
            <p:nvPr/>
          </p:nvSpPr>
          <p:spPr>
            <a:xfrm>
              <a:off x="4458288" y="3027170"/>
              <a:ext cx="673167" cy="642272"/>
            </a:xfrm>
            <a:prstGeom prst="roundRect">
              <a:avLst>
                <a:gd name="adj" fmla="val 11351"/>
              </a:avLst>
            </a:prstGeom>
            <a:ln w="444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540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36392" y="3117146"/>
              <a:ext cx="720670" cy="470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</a:rPr>
                <a:t>02</a:t>
              </a:r>
              <a:endParaRPr lang="zh-CN" altLang="en-US" sz="6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737334" y="2401763"/>
            <a:ext cx="34681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已完成的工作</a:t>
            </a:r>
            <a:endParaRPr lang="zh-CN" altLang="en-US" sz="32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 advTm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45" y="219693"/>
            <a:ext cx="179486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架构设计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 descr="image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135" y="511810"/>
            <a:ext cx="4954905" cy="6128385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9872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标准化交通数据原子文件定义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02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210" name="Google Shape;210;p23"/>
          <p:cNvGraphicFramePr/>
          <p:nvPr/>
        </p:nvGraphicFramePr>
        <p:xfrm>
          <a:off x="762000" y="1869757"/>
          <a:ext cx="10658475" cy="3000000"/>
        </p:xfrm>
        <a:graphic>
          <a:graphicData uri="http://schemas.openxmlformats.org/drawingml/2006/table">
            <a:tbl>
              <a:tblPr firstRow="1" bandRow="1">
                <a:noFill/>
                <a:tableStyleId>{929E7768-BB3E-418E-BA06-28C98E301195}</a:tableStyleId>
              </a:tblPr>
              <a:tblGrid>
                <a:gridCol w="1426675"/>
                <a:gridCol w="1173350"/>
                <a:gridCol w="3353400"/>
                <a:gridCol w="4705050"/>
              </a:tblGrid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文件类型</a:t>
                      </a:r>
                      <a:endParaRPr lang="en-US" sz="1500" b="1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核心维度</a:t>
                      </a:r>
                      <a:endParaRPr lang="en-US" sz="1500" b="1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关键字段</a:t>
                      </a:r>
                      <a:endParaRPr lang="en-US" sz="1500" b="1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功能描述</a:t>
                      </a:r>
                      <a:endParaRPr lang="en-US" sz="1500" b="1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.geo</a:t>
                      </a:r>
                      <a:endParaRPr lang="en-US" sz="1500" b="1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地理实体</a:t>
                      </a:r>
                      <a:endParaRPr lang="en-US" sz="1500" b="0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geo_id, coordinates</a:t>
                      </a:r>
                      <a:endParaRPr lang="en-US" sz="1500" b="0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存储传感器静态属性，Point经纬度坐标。</a:t>
                      </a:r>
                      <a:endParaRPr lang="en-US" sz="1500" b="0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.rel</a:t>
                      </a:r>
                      <a:endParaRPr lang="en-US" sz="1500" b="1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空间关联</a:t>
                      </a:r>
                      <a:endParaRPr lang="en-US" sz="1500" b="0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origin_id, destination_id, weight</a:t>
                      </a:r>
                      <a:endParaRPr lang="en-US" sz="1500" b="0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记录实体交互逻辑，定义流量传输路径。</a:t>
                      </a:r>
                      <a:endParaRPr lang="en-US" sz="1500" b="0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.dyna</a:t>
                      </a:r>
                      <a:endParaRPr lang="en-US" sz="1500" b="1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动态时序</a:t>
                      </a:r>
                      <a:endParaRPr lang="en-US" sz="1500" b="0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dyna_id, time, entity_id, val</a:t>
                      </a:r>
                      <a:endParaRPr lang="en-US" sz="1500" b="0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记录流量动态演化，遵循ISO-8601标准。</a:t>
                      </a:r>
                      <a:endParaRPr lang="en-US" sz="1500" b="0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config.json</a:t>
                      </a:r>
                      <a:endParaRPr lang="en-US" sz="1500" b="1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元数据</a:t>
                      </a:r>
                      <a:endParaRPr lang="en-US" sz="1500" b="0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dataset_name, time_interval</a:t>
                      </a:r>
                      <a:endParaRPr lang="en-US" sz="1500" b="0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4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描述表结构，规定任务超参数与初始化逻辑。</a:t>
                      </a:r>
                      <a:endParaRPr lang="en-US" sz="1500" b="0" i="0" u="none" strike="noStrike" cap="none">
                        <a:solidFill>
                          <a:srgbClr val="444444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34391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zh-CN" altLang="en-US" sz="2800" b="1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数据采集与预处理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94" name="Google Shape;194;p22"/>
          <p:cNvSpPr txBox="1"/>
          <p:nvPr>
            <p:custDataLst>
              <p:tags r:id="rId1"/>
            </p:custDataLst>
          </p:nvPr>
        </p:nvSpPr>
        <p:spPr>
          <a:xfrm>
            <a:off x="1043305" y="1716722"/>
            <a:ext cx="1033462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多维采集：</a:t>
            </a:r>
            <a:r>
              <a:rPr lang="en-US" sz="1500" b="0" i="0" u="none" strike="noStrike" cap="non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涵盖7个传感器节点，包括机动车、非机动车及行人流量。</a:t>
            </a:r>
            <a:endParaRPr lang="en-US" sz="1500" b="0" i="0" u="none" strike="noStrike" cap="non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5" name="Google Shape;195;p22"/>
          <p:cNvSpPr txBox="1"/>
          <p:nvPr>
            <p:custDataLst>
              <p:tags r:id="rId2"/>
            </p:custDataLst>
          </p:nvPr>
        </p:nvSpPr>
        <p:spPr>
          <a:xfrm>
            <a:off x="1043305" y="2164397"/>
            <a:ext cx="1033462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聚合重采样：</a:t>
            </a:r>
            <a:r>
              <a:rPr lang="en-US" sz="1500" b="0" i="0" u="none" strike="noStrike" cap="non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利用Resampling技术将1分钟观测聚合为5分钟步长，平滑噪声。</a:t>
            </a:r>
            <a:endParaRPr lang="en-US" sz="1500" b="0" i="0" u="none" strike="noStrike" cap="non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6" name="Google Shape;196;p22"/>
          <p:cNvSpPr txBox="1"/>
          <p:nvPr>
            <p:custDataLst>
              <p:tags r:id="rId3"/>
            </p:custDataLst>
          </p:nvPr>
        </p:nvSpPr>
        <p:spPr>
          <a:xfrm>
            <a:off x="1043305" y="2612072"/>
            <a:ext cx="1033462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时序对齐：</a:t>
            </a:r>
            <a:r>
              <a:rPr lang="en-US" sz="1500" b="0" i="0" u="none" strike="noStrike" cap="non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通过计算全局最大最小时间戳，构建标准化时间网格，全零填充缺失槽位。</a:t>
            </a:r>
            <a:endParaRPr lang="en-US" sz="1500" b="0" i="0" u="none" strike="noStrike" cap="non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7" name="Google Shape;197;p22"/>
          <p:cNvSpPr txBox="1"/>
          <p:nvPr>
            <p:custDataLst>
              <p:tags r:id="rId4"/>
            </p:custDataLst>
          </p:nvPr>
        </p:nvSpPr>
        <p:spPr>
          <a:xfrm>
            <a:off x="1043305" y="3059747"/>
            <a:ext cx="1033462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标准化输出：</a:t>
            </a:r>
            <a:r>
              <a:rPr lang="en-US" sz="1500" b="0" i="0" u="none" strike="noStrike" cap="non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适配LibCity原子文件标准，生成.dyna与.rel文件。</a:t>
            </a:r>
            <a:endParaRPr lang="en-US" sz="1500" b="0" i="0" u="none" strike="noStrike" cap="non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8" name="Google Shape;198;p22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709930" y="175006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 descr="image.png"/>
          <p:cNvPicPr preferRelativeResize="0"/>
          <p:nvPr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709930" y="219773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 descr="image.png"/>
          <p:cNvPicPr preferRelativeResize="0"/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709930" y="264541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 descr="image.png"/>
          <p:cNvPicPr preferRelativeResize="0"/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709930" y="3093085"/>
            <a:ext cx="148232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advTm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33870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zh-CN" altLang="en-US" sz="2800" b="1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数据采集与预处理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4040" y="1576070"/>
            <a:ext cx="7171690" cy="3908425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857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空间拓扑关系的数学</a:t>
            </a:r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建模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855" y="1991360"/>
            <a:ext cx="5843270" cy="10312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950" y="3355340"/>
            <a:ext cx="1888490" cy="8718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99280" y="48983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构建图</a:t>
            </a:r>
            <a:r>
              <a:rPr lang="zh-CN" altLang="en-US"/>
              <a:t>网络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845425" y="2322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计算节点间的球面大圆</a:t>
            </a:r>
            <a:r>
              <a:rPr lang="zh-CN" altLang="en-US"/>
              <a:t>距离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972425" y="37757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距离转化为相似度</a:t>
            </a:r>
            <a:r>
              <a:rPr lang="zh-CN" altLang="en-US"/>
              <a:t>权重</a:t>
            </a:r>
            <a:endParaRPr lang="zh-CN" altLang="en-US"/>
          </a:p>
        </p:txBody>
      </p:sp>
    </p:spTree>
  </p:cSld>
  <p:clrMapOvr>
    <a:masterClrMapping/>
  </p:clrMapOvr>
  <p:transition spd="slow" advTm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217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智能体核心推理节点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05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243" name="Google Shape;243;p27" descr="image.png"/>
          <p:cNvPicPr preferRelativeResize="0"/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762000" y="2528887"/>
            <a:ext cx="336545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7" descr="image.png"/>
          <p:cNvPicPr preferRelativeResize="0"/>
          <p:nvPr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4413200" y="2528887"/>
            <a:ext cx="336545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8064400" y="2528887"/>
            <a:ext cx="336545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 txBox="1"/>
          <p:nvPr>
            <p:custDataLst>
              <p:tags r:id="rId7"/>
            </p:custDataLst>
          </p:nvPr>
        </p:nvSpPr>
        <p:spPr>
          <a:xfrm>
            <a:off x="1057275" y="3443287"/>
            <a:ext cx="291364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意图识别 (Intent)</a:t>
            </a:r>
            <a:endParaRPr lang="en-US" sz="2100" b="1" i="0" u="none" strike="noStrike" cap="non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8" name="Google Shape;248;p27"/>
          <p:cNvSpPr txBox="1"/>
          <p:nvPr>
            <p:custDataLst>
              <p:tags r:id="rId8"/>
            </p:custDataLst>
          </p:nvPr>
        </p:nvSpPr>
        <p:spPr>
          <a:xfrm>
            <a:off x="1057275" y="3948112"/>
            <a:ext cx="2774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将请求归类为数值查询、预测或深度分析。零样本学习能力防止产生交通幻觉。</a:t>
            </a:r>
            <a:endParaRPr lang="en-US" sz="1500" b="0" i="0" u="none" strike="noStrike" cap="non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9" name="Google Shape;249;p27"/>
          <p:cNvSpPr txBox="1"/>
          <p:nvPr>
            <p:custDataLst>
              <p:tags r:id="rId9"/>
            </p:custDataLst>
          </p:nvPr>
        </p:nvSpPr>
        <p:spPr>
          <a:xfrm>
            <a:off x="4708475" y="3443287"/>
            <a:ext cx="291364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实体提取 (Extract)</a:t>
            </a:r>
            <a:endParaRPr lang="en-US" sz="2100" b="1" i="0" u="none" strike="noStrike" cap="non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0" name="Google Shape;250;p27"/>
          <p:cNvSpPr txBox="1"/>
          <p:nvPr>
            <p:custDataLst>
              <p:tags r:id="rId10"/>
            </p:custDataLst>
          </p:nvPr>
        </p:nvSpPr>
        <p:spPr>
          <a:xfrm>
            <a:off x="4708475" y="3948112"/>
            <a:ext cx="2774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完形填空模式，将口语化表述映射为标准ID与ISO-8601时间戳。</a:t>
            </a:r>
            <a:endParaRPr lang="en-US" sz="1500" b="0" i="0" u="none" strike="noStrike" cap="non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1" name="Google Shape;251;p27"/>
          <p:cNvSpPr txBox="1"/>
          <p:nvPr>
            <p:custDataLst>
              <p:tags r:id="rId11"/>
            </p:custDataLst>
          </p:nvPr>
        </p:nvSpPr>
        <p:spPr>
          <a:xfrm>
            <a:off x="8359675" y="3443287"/>
            <a:ext cx="291364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条件路由 (Router)</a:t>
            </a:r>
            <a:endParaRPr lang="en-US" sz="2100" b="1" i="0" u="none" strike="noStrike" cap="non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2" name="Google Shape;252;p27"/>
          <p:cNvSpPr txBox="1"/>
          <p:nvPr>
            <p:custDataLst>
              <p:tags r:id="rId12"/>
            </p:custDataLst>
          </p:nvPr>
        </p:nvSpPr>
        <p:spPr>
          <a:xfrm>
            <a:off x="8359675" y="3948112"/>
            <a:ext cx="2774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动态选择执行路径，增强非线性流转的异常处理能力与扩展性。</a:t>
            </a:r>
            <a:endParaRPr lang="en-US" sz="1500" b="0" i="0" u="none" strike="noStrike" cap="none">
              <a:solidFill>
                <a:srgbClr val="44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53" name="Google Shape;253;p27" descr="image.png"/>
          <p:cNvPicPr preferRelativeResize="0"/>
          <p:nvPr>
            <p:custDataLst>
              <p:tags r:id="rId13"/>
            </p:custDataLst>
          </p:nvPr>
        </p:nvPicPr>
        <p:blipFill rotWithShape="1">
          <a:blip r:embed="rId14"/>
          <a:srcRect/>
          <a:stretch>
            <a:fillRect/>
          </a:stretch>
        </p:blipFill>
        <p:spPr>
          <a:xfrm>
            <a:off x="1057275" y="285273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7" descr="image.png"/>
          <p:cNvPicPr preferRelativeResize="0"/>
          <p:nvPr>
            <p:custDataLst>
              <p:tags r:id="rId15"/>
            </p:custDataLst>
          </p:nvPr>
        </p:nvPicPr>
        <p:blipFill rotWithShape="1">
          <a:blip r:embed="rId16"/>
          <a:srcRect/>
          <a:stretch>
            <a:fillRect/>
          </a:stretch>
        </p:blipFill>
        <p:spPr>
          <a:xfrm>
            <a:off x="4708475" y="285273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7" descr="image.png"/>
          <p:cNvPicPr preferRelativeResize="0"/>
          <p:nvPr>
            <p:custDataLst>
              <p:tags r:id="rId17"/>
            </p:custDataLst>
          </p:nvPr>
        </p:nvPicPr>
        <p:blipFill rotWithShape="1">
          <a:blip r:embed="rId18"/>
          <a:srcRect/>
          <a:stretch>
            <a:fillRect/>
          </a:stretch>
        </p:blipFill>
        <p:spPr>
          <a:xfrm>
            <a:off x="8359675" y="2852737"/>
            <a:ext cx="29646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advTm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164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智能体核心推理节点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05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219200"/>
            <a:ext cx="9753600" cy="5118100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54692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PDFormer 模型实现与分析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06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5280" y="1054100"/>
            <a:ext cx="5952490" cy="5036185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856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PDFormer 模型实现与分析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06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1950" y="1603375"/>
            <a:ext cx="5387340" cy="3938270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06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265" y="1603375"/>
            <a:ext cx="10894060" cy="43510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50265" y="91503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PeMS04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38885" y="219710"/>
            <a:ext cx="4856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PDFormer 模型实现与分析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 advTm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06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725" y="1603375"/>
            <a:ext cx="9449435" cy="48348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38885" y="219710"/>
            <a:ext cx="4856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PDFormer 模型实现与分析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0265" y="91503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PeMS04</a:t>
            </a:r>
            <a:endParaRPr lang="zh-CN" altLang="en-US"/>
          </a:p>
        </p:txBody>
      </p:sp>
    </p:spTree>
  </p:cSld>
  <p:clrMapOvr>
    <a:masterClrMapping/>
  </p:clrMapOvr>
  <p:transition spd="slow" advTm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06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r="6417"/>
          <a:stretch>
            <a:fillRect/>
          </a:stretch>
        </p:blipFill>
        <p:spPr>
          <a:xfrm>
            <a:off x="62865" y="1772285"/>
            <a:ext cx="5788025" cy="27368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r="8042"/>
          <a:stretch>
            <a:fillRect/>
          </a:stretch>
        </p:blipFill>
        <p:spPr>
          <a:xfrm>
            <a:off x="6095365" y="1772285"/>
            <a:ext cx="5786755" cy="27432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238885" y="219710"/>
            <a:ext cx="4856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PDFormer 模型实现与分析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 advTm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45" y="219693"/>
            <a:ext cx="179486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系统集成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07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775" y="1457325"/>
            <a:ext cx="7367905" cy="27432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484755" y="44742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基础流量感知任务交互示例</a:t>
            </a:r>
            <a:endParaRPr lang="zh-CN" altLang="en-US"/>
          </a:p>
        </p:txBody>
      </p:sp>
    </p:spTree>
  </p:cSld>
  <p:clrMapOvr>
    <a:masterClrMapping/>
  </p:clrMapOvr>
  <p:transition spd="slow" advTm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45" y="219693"/>
            <a:ext cx="179486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系统集成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07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590" y="1704975"/>
            <a:ext cx="8896985" cy="26701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822575" y="4787900"/>
            <a:ext cx="5080000" cy="245110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ts val="1200"/>
              </a:lnSpc>
            </a:pPr>
            <a:r>
              <a:rPr lang="zh-CN" altLang="en-US" sz="1600" b="0">
                <a:solidFill>
                  <a:schemeClr val="tx1"/>
                </a:solidFill>
              </a:rPr>
              <a:t>深度交通态势分析报告生成示例</a:t>
            </a:r>
            <a:endParaRPr lang="zh-CN" altLang="en-US" sz="16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 advTm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45" y="219693"/>
            <a:ext cx="179486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系统集成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07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335" y="1270635"/>
            <a:ext cx="9159240" cy="29883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822575" y="4787900"/>
            <a:ext cx="5080000" cy="245110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ts val="1200"/>
              </a:lnSpc>
            </a:pPr>
            <a:r>
              <a:rPr lang="zh-CN" altLang="en-US" sz="1600" b="0">
                <a:solidFill>
                  <a:schemeClr val="tx1"/>
                </a:solidFill>
              </a:rPr>
              <a:t>未来流量预测示例</a:t>
            </a:r>
            <a:endParaRPr lang="zh-CN" altLang="en-US" sz="16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 advTm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274"/>
            <a:ext cx="47967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-758781" y="1501348"/>
            <a:ext cx="573709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b="1" spc="300" dirty="0">
                <a:solidFill>
                  <a:schemeClr val="bg1"/>
                </a:solidFill>
              </a:rPr>
              <a:t>P</a:t>
            </a:r>
            <a:r>
              <a:rPr lang="en-US" altLang="zh-CN" sz="9600" b="1" spc="300" dirty="0">
                <a:solidFill>
                  <a:schemeClr val="bg1"/>
                </a:solidFill>
              </a:rPr>
              <a:t>art</a:t>
            </a:r>
            <a:endParaRPr lang="zh-CN" altLang="en-US" sz="9600" b="1" spc="300" dirty="0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914074" y="2096314"/>
            <a:ext cx="1695279" cy="1510858"/>
            <a:chOff x="4436392" y="3027170"/>
            <a:chExt cx="720670" cy="642272"/>
          </a:xfrm>
        </p:grpSpPr>
        <p:sp>
          <p:nvSpPr>
            <p:cNvPr id="4" name="圆角矩形 3"/>
            <p:cNvSpPr/>
            <p:nvPr/>
          </p:nvSpPr>
          <p:spPr>
            <a:xfrm>
              <a:off x="4458288" y="3027170"/>
              <a:ext cx="673167" cy="642272"/>
            </a:xfrm>
            <a:prstGeom prst="roundRect">
              <a:avLst>
                <a:gd name="adj" fmla="val 11351"/>
              </a:avLst>
            </a:prstGeom>
            <a:ln w="444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540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36392" y="3117146"/>
              <a:ext cx="720670" cy="470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</a:rPr>
                <a:t>03</a:t>
              </a:r>
              <a:endParaRPr lang="zh-CN" altLang="en-US" sz="6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737334" y="2401763"/>
            <a:ext cx="34681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存在的问题</a:t>
            </a:r>
            <a:endParaRPr lang="zh-CN" altLang="en-US" sz="32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 advTm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45" y="219693"/>
            <a:ext cx="179486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预测</a:t>
            </a:r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误差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65" y="1129030"/>
            <a:ext cx="4662170" cy="3682365"/>
          </a:xfrm>
          <a:prstGeom prst="rect">
            <a:avLst/>
          </a:prstGeom>
        </p:spPr>
      </p:pic>
      <p:pic>
        <p:nvPicPr>
          <p:cNvPr id="11" name="图片 10" descr="图表&#10;&#10;AI 生成的内容可能不正确。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68595" y="1636395"/>
            <a:ext cx="6323330" cy="2110105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274"/>
            <a:ext cx="47967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-758781" y="1501348"/>
            <a:ext cx="573709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b="1" spc="300" dirty="0">
                <a:solidFill>
                  <a:schemeClr val="bg1"/>
                </a:solidFill>
              </a:rPr>
              <a:t>P</a:t>
            </a:r>
            <a:r>
              <a:rPr lang="en-US" altLang="zh-CN" sz="9600" b="1" spc="300" dirty="0">
                <a:solidFill>
                  <a:schemeClr val="bg1"/>
                </a:solidFill>
              </a:rPr>
              <a:t>art</a:t>
            </a:r>
            <a:endParaRPr lang="zh-CN" altLang="en-US" sz="9600" b="1" spc="300" dirty="0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914074" y="2096314"/>
            <a:ext cx="1695279" cy="1510858"/>
            <a:chOff x="4436392" y="3027170"/>
            <a:chExt cx="720670" cy="642272"/>
          </a:xfrm>
        </p:grpSpPr>
        <p:sp>
          <p:nvSpPr>
            <p:cNvPr id="4" name="圆角矩形 3"/>
            <p:cNvSpPr/>
            <p:nvPr/>
          </p:nvSpPr>
          <p:spPr>
            <a:xfrm>
              <a:off x="4458288" y="3027170"/>
              <a:ext cx="673167" cy="642272"/>
            </a:xfrm>
            <a:prstGeom prst="roundRect">
              <a:avLst>
                <a:gd name="adj" fmla="val 11351"/>
              </a:avLst>
            </a:prstGeom>
            <a:ln w="444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540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36392" y="3117146"/>
              <a:ext cx="720670" cy="470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</a:rPr>
                <a:t>04</a:t>
              </a:r>
              <a:endParaRPr lang="zh-CN" altLang="en-US" sz="6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737334" y="2401763"/>
            <a:ext cx="3468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参考文献及总结</a:t>
            </a:r>
            <a:endParaRPr lang="zh-CN" altLang="en-US" sz="32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66949" y="3574930"/>
            <a:ext cx="1639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参考文献</a:t>
            </a:r>
            <a:endParaRPr lang="zh-CN" altLang="en-US" sz="16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5858359" y="3601720"/>
            <a:ext cx="284974" cy="284974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45" y="219693"/>
            <a:ext cx="1794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参考文献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15380"/>
          <a:stretch>
            <a:fillRect/>
          </a:stretch>
        </p:blipFill>
        <p:spPr>
          <a:xfrm>
            <a:off x="313690" y="962025"/>
            <a:ext cx="5149850" cy="53035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950" y="962025"/>
            <a:ext cx="4984750" cy="9842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50" y="1958975"/>
            <a:ext cx="5022850" cy="4616450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45" y="219693"/>
            <a:ext cx="1794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参考文献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16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640" y="1132840"/>
            <a:ext cx="5054600" cy="24003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b="15745"/>
          <a:stretch>
            <a:fillRect/>
          </a:stretch>
        </p:blipFill>
        <p:spPr>
          <a:xfrm>
            <a:off x="675640" y="3533140"/>
            <a:ext cx="4984750" cy="272859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132840"/>
            <a:ext cx="5156200" cy="4273550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2561866" y="-185945"/>
            <a:ext cx="12192000" cy="6858000"/>
            <a:chOff x="-9441874" y="-1384720"/>
            <a:chExt cx="12192000" cy="6858000"/>
          </a:xfrm>
        </p:grpSpPr>
        <p:pic>
          <p:nvPicPr>
            <p:cNvPr id="1026" name="Picture 2" descr="http://pic.97uimg.com/back_pic/00/01/88/75/dab74c05ca1b40a8122bedf0e8ad055b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420"/>
            <a:stretch>
              <a:fillRect/>
            </a:stretch>
          </p:blipFill>
          <p:spPr bwMode="auto">
            <a:xfrm>
              <a:off x="-9441599" y="-1384719"/>
              <a:ext cx="12191450" cy="6857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/>
            <p:cNvSpPr/>
            <p:nvPr/>
          </p:nvSpPr>
          <p:spPr>
            <a:xfrm>
              <a:off x="-9441874" y="-1384720"/>
              <a:ext cx="12192000" cy="68580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252652" y="2173931"/>
            <a:ext cx="8939348" cy="2138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782210" y="2938825"/>
            <a:ext cx="5626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4800" b="1" spc="300" dirty="0">
                <a:solidFill>
                  <a:schemeClr val="bg1"/>
                </a:solidFill>
              </a:rPr>
              <a:t>北京航空航天大学</a:t>
            </a:r>
            <a:endParaRPr lang="zh-CN" altLang="en-US" sz="4800" b="1" spc="300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50915" y="4338955"/>
            <a:ext cx="203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答辩人：周佳琪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16763" y="4312179"/>
            <a:ext cx="201679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导师：王静远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688155" y="5875923"/>
            <a:ext cx="342764" cy="342764"/>
            <a:chOff x="4688155" y="5875923"/>
            <a:chExt cx="342764" cy="342764"/>
          </a:xfrm>
        </p:grpSpPr>
        <p:sp>
          <p:nvSpPr>
            <p:cNvPr id="59" name="椭圆 58"/>
            <p:cNvSpPr/>
            <p:nvPr/>
          </p:nvSpPr>
          <p:spPr>
            <a:xfrm>
              <a:off x="4688155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4763028" y="5947390"/>
              <a:ext cx="193018" cy="199830"/>
              <a:chOff x="5753100" y="3041650"/>
              <a:chExt cx="682626" cy="771526"/>
            </a:xfrm>
            <a:solidFill>
              <a:schemeClr val="accent1"/>
            </a:solidFill>
          </p:grpSpPr>
          <p:sp>
            <p:nvSpPr>
              <p:cNvPr id="61" name="Oval 202"/>
              <p:cNvSpPr>
                <a:spLocks noChangeArrowheads="1"/>
              </p:cNvSpPr>
              <p:nvPr/>
            </p:nvSpPr>
            <p:spPr bwMode="auto">
              <a:xfrm>
                <a:off x="5908675" y="3041650"/>
                <a:ext cx="119063" cy="147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 203"/>
              <p:cNvSpPr/>
              <p:nvPr/>
            </p:nvSpPr>
            <p:spPr bwMode="auto">
              <a:xfrm>
                <a:off x="6103938" y="3413125"/>
                <a:ext cx="46038" cy="84138"/>
              </a:xfrm>
              <a:custGeom>
                <a:avLst/>
                <a:gdLst>
                  <a:gd name="T0" fmla="*/ 2 w 12"/>
                  <a:gd name="T1" fmla="*/ 22 h 22"/>
                  <a:gd name="T2" fmla="*/ 10 w 12"/>
                  <a:gd name="T3" fmla="*/ 22 h 22"/>
                  <a:gd name="T4" fmla="*/ 12 w 12"/>
                  <a:gd name="T5" fmla="*/ 20 h 22"/>
                  <a:gd name="T6" fmla="*/ 12 w 12"/>
                  <a:gd name="T7" fmla="*/ 2 h 22"/>
                  <a:gd name="T8" fmla="*/ 10 w 12"/>
                  <a:gd name="T9" fmla="*/ 0 h 22"/>
                  <a:gd name="T10" fmla="*/ 2 w 12"/>
                  <a:gd name="T11" fmla="*/ 0 h 22"/>
                  <a:gd name="T12" fmla="*/ 0 w 12"/>
                  <a:gd name="T13" fmla="*/ 2 h 22"/>
                  <a:gd name="T14" fmla="*/ 0 w 12"/>
                  <a:gd name="T15" fmla="*/ 20 h 22"/>
                  <a:gd name="T16" fmla="*/ 2 w 12"/>
                  <a:gd name="T1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22">
                    <a:moveTo>
                      <a:pt x="2" y="22"/>
                    </a:moveTo>
                    <a:cubicBezTo>
                      <a:pt x="10" y="22"/>
                      <a:pt x="10" y="22"/>
                      <a:pt x="10" y="22"/>
                    </a:cubicBezTo>
                    <a:cubicBezTo>
                      <a:pt x="11" y="22"/>
                      <a:pt x="12" y="21"/>
                      <a:pt x="12" y="20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1" y="0"/>
                      <a:pt x="1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1"/>
                      <a:pt x="1" y="22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204"/>
              <p:cNvSpPr/>
              <p:nvPr/>
            </p:nvSpPr>
            <p:spPr bwMode="auto">
              <a:xfrm>
                <a:off x="6313488" y="3413125"/>
                <a:ext cx="46038" cy="84138"/>
              </a:xfrm>
              <a:custGeom>
                <a:avLst/>
                <a:gdLst>
                  <a:gd name="T0" fmla="*/ 3 w 12"/>
                  <a:gd name="T1" fmla="*/ 22 h 22"/>
                  <a:gd name="T2" fmla="*/ 10 w 12"/>
                  <a:gd name="T3" fmla="*/ 22 h 22"/>
                  <a:gd name="T4" fmla="*/ 12 w 12"/>
                  <a:gd name="T5" fmla="*/ 20 h 22"/>
                  <a:gd name="T6" fmla="*/ 12 w 12"/>
                  <a:gd name="T7" fmla="*/ 2 h 22"/>
                  <a:gd name="T8" fmla="*/ 10 w 12"/>
                  <a:gd name="T9" fmla="*/ 0 h 22"/>
                  <a:gd name="T10" fmla="*/ 3 w 12"/>
                  <a:gd name="T11" fmla="*/ 0 h 22"/>
                  <a:gd name="T12" fmla="*/ 0 w 12"/>
                  <a:gd name="T13" fmla="*/ 2 h 22"/>
                  <a:gd name="T14" fmla="*/ 0 w 12"/>
                  <a:gd name="T15" fmla="*/ 20 h 22"/>
                  <a:gd name="T16" fmla="*/ 3 w 12"/>
                  <a:gd name="T1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22">
                    <a:moveTo>
                      <a:pt x="3" y="22"/>
                    </a:moveTo>
                    <a:cubicBezTo>
                      <a:pt x="10" y="22"/>
                      <a:pt x="10" y="22"/>
                      <a:pt x="10" y="22"/>
                    </a:cubicBezTo>
                    <a:cubicBezTo>
                      <a:pt x="12" y="22"/>
                      <a:pt x="12" y="21"/>
                      <a:pt x="12" y="20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2" y="0"/>
                      <a:pt x="1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1"/>
                      <a:pt x="1" y="22"/>
                      <a:pt x="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205"/>
              <p:cNvSpPr>
                <a:spLocks noEditPoints="1"/>
              </p:cNvSpPr>
              <p:nvPr/>
            </p:nvSpPr>
            <p:spPr bwMode="auto">
              <a:xfrm>
                <a:off x="6030913" y="3444875"/>
                <a:ext cx="404813" cy="360363"/>
              </a:xfrm>
              <a:custGeom>
                <a:avLst/>
                <a:gdLst>
                  <a:gd name="T0" fmla="*/ 94 w 106"/>
                  <a:gd name="T1" fmla="*/ 0 h 95"/>
                  <a:gd name="T2" fmla="*/ 91 w 106"/>
                  <a:gd name="T3" fmla="*/ 0 h 95"/>
                  <a:gd name="T4" fmla="*/ 91 w 106"/>
                  <a:gd name="T5" fmla="*/ 12 h 95"/>
                  <a:gd name="T6" fmla="*/ 84 w 106"/>
                  <a:gd name="T7" fmla="*/ 18 h 95"/>
                  <a:gd name="T8" fmla="*/ 77 w 106"/>
                  <a:gd name="T9" fmla="*/ 18 h 95"/>
                  <a:gd name="T10" fmla="*/ 70 w 106"/>
                  <a:gd name="T11" fmla="*/ 12 h 95"/>
                  <a:gd name="T12" fmla="*/ 70 w 106"/>
                  <a:gd name="T13" fmla="*/ 0 h 95"/>
                  <a:gd name="T14" fmla="*/ 36 w 106"/>
                  <a:gd name="T15" fmla="*/ 0 h 95"/>
                  <a:gd name="T16" fmla="*/ 36 w 106"/>
                  <a:gd name="T17" fmla="*/ 12 h 95"/>
                  <a:gd name="T18" fmla="*/ 29 w 106"/>
                  <a:gd name="T19" fmla="*/ 18 h 95"/>
                  <a:gd name="T20" fmla="*/ 21 w 106"/>
                  <a:gd name="T21" fmla="*/ 18 h 95"/>
                  <a:gd name="T22" fmla="*/ 15 w 106"/>
                  <a:gd name="T23" fmla="*/ 12 h 95"/>
                  <a:gd name="T24" fmla="*/ 15 w 106"/>
                  <a:gd name="T25" fmla="*/ 0 h 95"/>
                  <a:gd name="T26" fmla="*/ 12 w 106"/>
                  <a:gd name="T27" fmla="*/ 0 h 95"/>
                  <a:gd name="T28" fmla="*/ 0 w 106"/>
                  <a:gd name="T29" fmla="*/ 13 h 95"/>
                  <a:gd name="T30" fmla="*/ 0 w 106"/>
                  <a:gd name="T31" fmla="*/ 36 h 95"/>
                  <a:gd name="T32" fmla="*/ 0 w 106"/>
                  <a:gd name="T33" fmla="*/ 83 h 95"/>
                  <a:gd name="T34" fmla="*/ 12 w 106"/>
                  <a:gd name="T35" fmla="*/ 95 h 95"/>
                  <a:gd name="T36" fmla="*/ 94 w 106"/>
                  <a:gd name="T37" fmla="*/ 95 h 95"/>
                  <a:gd name="T38" fmla="*/ 106 w 106"/>
                  <a:gd name="T39" fmla="*/ 83 h 95"/>
                  <a:gd name="T40" fmla="*/ 106 w 106"/>
                  <a:gd name="T41" fmla="*/ 36 h 95"/>
                  <a:gd name="T42" fmla="*/ 106 w 106"/>
                  <a:gd name="T43" fmla="*/ 13 h 95"/>
                  <a:gd name="T44" fmla="*/ 94 w 106"/>
                  <a:gd name="T45" fmla="*/ 0 h 95"/>
                  <a:gd name="T46" fmla="*/ 98 w 106"/>
                  <a:gd name="T47" fmla="*/ 83 h 95"/>
                  <a:gd name="T48" fmla="*/ 94 w 106"/>
                  <a:gd name="T49" fmla="*/ 88 h 95"/>
                  <a:gd name="T50" fmla="*/ 12 w 106"/>
                  <a:gd name="T51" fmla="*/ 88 h 95"/>
                  <a:gd name="T52" fmla="*/ 8 w 106"/>
                  <a:gd name="T53" fmla="*/ 83 h 95"/>
                  <a:gd name="T54" fmla="*/ 8 w 106"/>
                  <a:gd name="T55" fmla="*/ 36 h 95"/>
                  <a:gd name="T56" fmla="*/ 98 w 106"/>
                  <a:gd name="T57" fmla="*/ 36 h 95"/>
                  <a:gd name="T58" fmla="*/ 98 w 106"/>
                  <a:gd name="T59" fmla="*/ 8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6" h="95">
                    <a:moveTo>
                      <a:pt x="94" y="0"/>
                    </a:moveTo>
                    <a:cubicBezTo>
                      <a:pt x="91" y="0"/>
                      <a:pt x="91" y="0"/>
                      <a:pt x="91" y="0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5"/>
                      <a:pt x="88" y="18"/>
                      <a:pt x="84" y="18"/>
                    </a:cubicBezTo>
                    <a:cubicBezTo>
                      <a:pt x="77" y="18"/>
                      <a:pt x="77" y="18"/>
                      <a:pt x="77" y="18"/>
                    </a:cubicBezTo>
                    <a:cubicBezTo>
                      <a:pt x="73" y="18"/>
                      <a:pt x="70" y="15"/>
                      <a:pt x="70" y="12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36" y="15"/>
                      <a:pt x="33" y="18"/>
                      <a:pt x="29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18" y="18"/>
                      <a:pt x="15" y="15"/>
                      <a:pt x="15" y="12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6"/>
                      <a:pt x="0" y="13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90"/>
                      <a:pt x="5" y="95"/>
                      <a:pt x="12" y="95"/>
                    </a:cubicBezTo>
                    <a:cubicBezTo>
                      <a:pt x="94" y="95"/>
                      <a:pt x="94" y="95"/>
                      <a:pt x="94" y="95"/>
                    </a:cubicBezTo>
                    <a:cubicBezTo>
                      <a:pt x="100" y="95"/>
                      <a:pt x="106" y="90"/>
                      <a:pt x="106" y="83"/>
                    </a:cubicBezTo>
                    <a:cubicBezTo>
                      <a:pt x="106" y="36"/>
                      <a:pt x="106" y="36"/>
                      <a:pt x="106" y="36"/>
                    </a:cubicBezTo>
                    <a:cubicBezTo>
                      <a:pt x="106" y="13"/>
                      <a:pt x="106" y="13"/>
                      <a:pt x="106" y="13"/>
                    </a:cubicBezTo>
                    <a:cubicBezTo>
                      <a:pt x="106" y="6"/>
                      <a:pt x="100" y="0"/>
                      <a:pt x="94" y="0"/>
                    </a:cubicBezTo>
                    <a:close/>
                    <a:moveTo>
                      <a:pt x="98" y="83"/>
                    </a:moveTo>
                    <a:cubicBezTo>
                      <a:pt x="98" y="86"/>
                      <a:pt x="96" y="88"/>
                      <a:pt x="94" y="88"/>
                    </a:cubicBezTo>
                    <a:cubicBezTo>
                      <a:pt x="12" y="88"/>
                      <a:pt x="12" y="88"/>
                      <a:pt x="12" y="88"/>
                    </a:cubicBezTo>
                    <a:cubicBezTo>
                      <a:pt x="10" y="88"/>
                      <a:pt x="8" y="86"/>
                      <a:pt x="8" y="83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98" y="36"/>
                      <a:pt x="98" y="36"/>
                      <a:pt x="98" y="36"/>
                    </a:cubicBezTo>
                    <a:lnTo>
                      <a:pt x="98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Rectangle 206"/>
              <p:cNvSpPr>
                <a:spLocks noChangeArrowheads="1"/>
              </p:cNvSpPr>
              <p:nvPr/>
            </p:nvSpPr>
            <p:spPr bwMode="auto">
              <a:xfrm>
                <a:off x="6084888" y="3611563"/>
                <a:ext cx="79375" cy="301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Rectangle 207"/>
              <p:cNvSpPr>
                <a:spLocks noChangeArrowheads="1"/>
              </p:cNvSpPr>
              <p:nvPr/>
            </p:nvSpPr>
            <p:spPr bwMode="auto">
              <a:xfrm>
                <a:off x="6191250" y="3611563"/>
                <a:ext cx="79375" cy="301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Rectangle 208"/>
              <p:cNvSpPr>
                <a:spLocks noChangeArrowheads="1"/>
              </p:cNvSpPr>
              <p:nvPr/>
            </p:nvSpPr>
            <p:spPr bwMode="auto">
              <a:xfrm>
                <a:off x="6294438" y="3611563"/>
                <a:ext cx="79375" cy="301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Rectangle 209"/>
              <p:cNvSpPr>
                <a:spLocks noChangeArrowheads="1"/>
              </p:cNvSpPr>
              <p:nvPr/>
            </p:nvSpPr>
            <p:spPr bwMode="auto">
              <a:xfrm>
                <a:off x="6084888" y="3663950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Rectangle 210"/>
              <p:cNvSpPr>
                <a:spLocks noChangeArrowheads="1"/>
              </p:cNvSpPr>
              <p:nvPr/>
            </p:nvSpPr>
            <p:spPr bwMode="auto">
              <a:xfrm>
                <a:off x="6191250" y="3663950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Rectangle 211"/>
              <p:cNvSpPr>
                <a:spLocks noChangeArrowheads="1"/>
              </p:cNvSpPr>
              <p:nvPr/>
            </p:nvSpPr>
            <p:spPr bwMode="auto">
              <a:xfrm>
                <a:off x="6294438" y="3663950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Rectangle 212"/>
              <p:cNvSpPr>
                <a:spLocks noChangeArrowheads="1"/>
              </p:cNvSpPr>
              <p:nvPr/>
            </p:nvSpPr>
            <p:spPr bwMode="auto">
              <a:xfrm>
                <a:off x="6084888" y="3713163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Rectangle 213"/>
              <p:cNvSpPr>
                <a:spLocks noChangeArrowheads="1"/>
              </p:cNvSpPr>
              <p:nvPr/>
            </p:nvSpPr>
            <p:spPr bwMode="auto">
              <a:xfrm>
                <a:off x="6191250" y="3713163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Rectangle 214"/>
              <p:cNvSpPr>
                <a:spLocks noChangeArrowheads="1"/>
              </p:cNvSpPr>
              <p:nvPr/>
            </p:nvSpPr>
            <p:spPr bwMode="auto">
              <a:xfrm>
                <a:off x="6294438" y="3713163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Rectangle 215"/>
              <p:cNvSpPr>
                <a:spLocks noChangeArrowheads="1"/>
              </p:cNvSpPr>
              <p:nvPr/>
            </p:nvSpPr>
            <p:spPr bwMode="auto">
              <a:xfrm>
                <a:off x="5965825" y="3398838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216"/>
              <p:cNvSpPr>
                <a:spLocks noEditPoints="1"/>
              </p:cNvSpPr>
              <p:nvPr/>
            </p:nvSpPr>
            <p:spPr bwMode="auto">
              <a:xfrm>
                <a:off x="5753100" y="3208338"/>
                <a:ext cx="427038" cy="604838"/>
              </a:xfrm>
              <a:custGeom>
                <a:avLst/>
                <a:gdLst>
                  <a:gd name="T0" fmla="*/ 111 w 112"/>
                  <a:gd name="T1" fmla="*/ 23 h 159"/>
                  <a:gd name="T2" fmla="*/ 106 w 112"/>
                  <a:gd name="T3" fmla="*/ 19 h 159"/>
                  <a:gd name="T4" fmla="*/ 83 w 112"/>
                  <a:gd name="T5" fmla="*/ 2 h 159"/>
                  <a:gd name="T6" fmla="*/ 77 w 112"/>
                  <a:gd name="T7" fmla="*/ 0 h 159"/>
                  <a:gd name="T8" fmla="*/ 70 w 112"/>
                  <a:gd name="T9" fmla="*/ 0 h 159"/>
                  <a:gd name="T10" fmla="*/ 68 w 112"/>
                  <a:gd name="T11" fmla="*/ 10 h 159"/>
                  <a:gd name="T12" fmla="*/ 56 w 112"/>
                  <a:gd name="T13" fmla="*/ 50 h 159"/>
                  <a:gd name="T14" fmla="*/ 56 w 112"/>
                  <a:gd name="T15" fmla="*/ 51 h 159"/>
                  <a:gd name="T16" fmla="*/ 56 w 112"/>
                  <a:gd name="T17" fmla="*/ 50 h 159"/>
                  <a:gd name="T18" fmla="*/ 45 w 112"/>
                  <a:gd name="T19" fmla="*/ 10 h 159"/>
                  <a:gd name="T20" fmla="*/ 43 w 112"/>
                  <a:gd name="T21" fmla="*/ 0 h 159"/>
                  <a:gd name="T22" fmla="*/ 35 w 112"/>
                  <a:gd name="T23" fmla="*/ 0 h 159"/>
                  <a:gd name="T24" fmla="*/ 28 w 112"/>
                  <a:gd name="T25" fmla="*/ 4 h 159"/>
                  <a:gd name="T26" fmla="*/ 0 w 112"/>
                  <a:gd name="T27" fmla="*/ 44 h 159"/>
                  <a:gd name="T28" fmla="*/ 0 w 112"/>
                  <a:gd name="T29" fmla="*/ 44 h 159"/>
                  <a:gd name="T30" fmla="*/ 0 w 112"/>
                  <a:gd name="T31" fmla="*/ 45 h 159"/>
                  <a:gd name="T32" fmla="*/ 2 w 112"/>
                  <a:gd name="T33" fmla="*/ 48 h 159"/>
                  <a:gd name="T34" fmla="*/ 9 w 112"/>
                  <a:gd name="T35" fmla="*/ 61 h 159"/>
                  <a:gd name="T36" fmla="*/ 29 w 112"/>
                  <a:gd name="T37" fmla="*/ 72 h 159"/>
                  <a:gd name="T38" fmla="*/ 29 w 112"/>
                  <a:gd name="T39" fmla="*/ 84 h 159"/>
                  <a:gd name="T40" fmla="*/ 34 w 112"/>
                  <a:gd name="T41" fmla="*/ 159 h 159"/>
                  <a:gd name="T42" fmla="*/ 55 w 112"/>
                  <a:gd name="T43" fmla="*/ 84 h 159"/>
                  <a:gd name="T44" fmla="*/ 60 w 112"/>
                  <a:gd name="T45" fmla="*/ 159 h 159"/>
                  <a:gd name="T46" fmla="*/ 67 w 112"/>
                  <a:gd name="T47" fmla="*/ 145 h 159"/>
                  <a:gd name="T48" fmla="*/ 76 w 112"/>
                  <a:gd name="T49" fmla="*/ 59 h 159"/>
                  <a:gd name="T50" fmla="*/ 110 w 112"/>
                  <a:gd name="T51" fmla="*/ 41 h 159"/>
                  <a:gd name="T52" fmla="*/ 112 w 112"/>
                  <a:gd name="T53" fmla="*/ 24 h 159"/>
                  <a:gd name="T54" fmla="*/ 27 w 112"/>
                  <a:gd name="T55" fmla="*/ 51 h 159"/>
                  <a:gd name="T56" fmla="*/ 21 w 112"/>
                  <a:gd name="T57" fmla="*/ 40 h 159"/>
                  <a:gd name="T58" fmla="*/ 30 w 112"/>
                  <a:gd name="T59" fmla="*/ 55 h 159"/>
                  <a:gd name="T60" fmla="*/ 68 w 112"/>
                  <a:gd name="T61" fmla="*/ 39 h 159"/>
                  <a:gd name="T62" fmla="*/ 82 w 112"/>
                  <a:gd name="T63" fmla="*/ 25 h 159"/>
                  <a:gd name="T64" fmla="*/ 88 w 112"/>
                  <a:gd name="T65" fmla="*/ 3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2" h="159">
                    <a:moveTo>
                      <a:pt x="112" y="24"/>
                    </a:moveTo>
                    <a:cubicBezTo>
                      <a:pt x="111" y="23"/>
                      <a:pt x="111" y="23"/>
                      <a:pt x="111" y="23"/>
                    </a:cubicBezTo>
                    <a:cubicBezTo>
                      <a:pt x="110" y="22"/>
                      <a:pt x="110" y="22"/>
                      <a:pt x="110" y="22"/>
                    </a:cubicBezTo>
                    <a:cubicBezTo>
                      <a:pt x="106" y="19"/>
                      <a:pt x="106" y="19"/>
                      <a:pt x="106" y="19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1" y="1"/>
                      <a:pt x="80" y="0"/>
                      <a:pt x="78" y="0"/>
                    </a:cubicBezTo>
                    <a:cubicBezTo>
                      <a:pt x="78" y="0"/>
                      <a:pt x="78" y="0"/>
                      <a:pt x="77" y="0"/>
                    </a:cubicBezTo>
                    <a:cubicBezTo>
                      <a:pt x="75" y="0"/>
                      <a:pt x="72" y="0"/>
                      <a:pt x="70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6" y="5"/>
                      <a:pt x="76" y="5"/>
                      <a:pt x="76" y="5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56" y="50"/>
                      <a:pt x="56" y="50"/>
                      <a:pt x="56" y="50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56" y="51"/>
                      <a:pt x="56" y="51"/>
                      <a:pt x="56" y="51"/>
                    </a:cubicBezTo>
                    <a:cubicBezTo>
                      <a:pt x="56" y="51"/>
                      <a:pt x="56" y="51"/>
                      <a:pt x="56" y="51"/>
                    </a:cubicBezTo>
                    <a:cubicBezTo>
                      <a:pt x="56" y="50"/>
                      <a:pt x="56" y="50"/>
                      <a:pt x="56" y="50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1" y="0"/>
                      <a:pt x="38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2" y="1"/>
                      <a:pt x="30" y="2"/>
                      <a:pt x="28" y="4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1" y="46"/>
                      <a:pt x="1" y="46"/>
                      <a:pt x="1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22" y="76"/>
                      <a:pt x="26" y="74"/>
                      <a:pt x="29" y="72"/>
                    </a:cubicBezTo>
                    <a:cubicBezTo>
                      <a:pt x="29" y="76"/>
                      <a:pt x="29" y="80"/>
                      <a:pt x="29" y="83"/>
                    </a:cubicBezTo>
                    <a:cubicBezTo>
                      <a:pt x="29" y="83"/>
                      <a:pt x="29" y="84"/>
                      <a:pt x="29" y="84"/>
                    </a:cubicBezTo>
                    <a:cubicBezTo>
                      <a:pt x="30" y="84"/>
                      <a:pt x="31" y="84"/>
                      <a:pt x="31" y="84"/>
                    </a:cubicBezTo>
                    <a:cubicBezTo>
                      <a:pt x="34" y="159"/>
                      <a:pt x="34" y="159"/>
                      <a:pt x="34" y="159"/>
                    </a:cubicBezTo>
                    <a:cubicBezTo>
                      <a:pt x="55" y="159"/>
                      <a:pt x="55" y="159"/>
                      <a:pt x="55" y="159"/>
                    </a:cubicBezTo>
                    <a:cubicBezTo>
                      <a:pt x="56" y="137"/>
                      <a:pt x="56" y="99"/>
                      <a:pt x="55" y="84"/>
                    </a:cubicBezTo>
                    <a:cubicBezTo>
                      <a:pt x="56" y="84"/>
                      <a:pt x="57" y="84"/>
                      <a:pt x="58" y="84"/>
                    </a:cubicBezTo>
                    <a:cubicBezTo>
                      <a:pt x="60" y="159"/>
                      <a:pt x="60" y="159"/>
                      <a:pt x="60" y="15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0" y="156"/>
                      <a:pt x="67" y="151"/>
                      <a:pt x="67" y="145"/>
                    </a:cubicBezTo>
                    <a:cubicBezTo>
                      <a:pt x="67" y="75"/>
                      <a:pt x="67" y="75"/>
                      <a:pt x="67" y="75"/>
                    </a:cubicBezTo>
                    <a:cubicBezTo>
                      <a:pt x="67" y="68"/>
                      <a:pt x="71" y="62"/>
                      <a:pt x="76" y="59"/>
                    </a:cubicBezTo>
                    <a:cubicBezTo>
                      <a:pt x="77" y="60"/>
                      <a:pt x="78" y="61"/>
                      <a:pt x="78" y="6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0"/>
                      <a:pt x="111" y="40"/>
                      <a:pt x="111" y="40"/>
                    </a:cubicBezTo>
                    <a:lnTo>
                      <a:pt x="112" y="24"/>
                    </a:lnTo>
                    <a:close/>
                    <a:moveTo>
                      <a:pt x="30" y="55"/>
                    </a:moveTo>
                    <a:cubicBezTo>
                      <a:pt x="27" y="51"/>
                      <a:pt x="27" y="51"/>
                      <a:pt x="27" y="51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37"/>
                      <a:pt x="30" y="46"/>
                      <a:pt x="30" y="55"/>
                    </a:cubicBezTo>
                    <a:close/>
                    <a:moveTo>
                      <a:pt x="70" y="41"/>
                    </a:moveTo>
                    <a:cubicBezTo>
                      <a:pt x="68" y="39"/>
                      <a:pt x="68" y="39"/>
                      <a:pt x="68" y="39"/>
                    </a:cubicBezTo>
                    <a:cubicBezTo>
                      <a:pt x="82" y="30"/>
                      <a:pt x="82" y="30"/>
                      <a:pt x="82" y="30"/>
                    </a:cubicBezTo>
                    <a:cubicBezTo>
                      <a:pt x="82" y="28"/>
                      <a:pt x="82" y="27"/>
                      <a:pt x="82" y="25"/>
                    </a:cubicBezTo>
                    <a:cubicBezTo>
                      <a:pt x="86" y="28"/>
                      <a:pt x="86" y="28"/>
                      <a:pt x="86" y="28"/>
                    </a:cubicBezTo>
                    <a:cubicBezTo>
                      <a:pt x="88" y="30"/>
                      <a:pt x="88" y="30"/>
                      <a:pt x="88" y="30"/>
                    </a:cubicBezTo>
                    <a:lnTo>
                      <a:pt x="70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217"/>
              <p:cNvSpPr/>
              <p:nvPr/>
            </p:nvSpPr>
            <p:spPr bwMode="auto">
              <a:xfrm>
                <a:off x="5946775" y="3201988"/>
                <a:ext cx="42863" cy="44450"/>
              </a:xfrm>
              <a:custGeom>
                <a:avLst/>
                <a:gdLst>
                  <a:gd name="T0" fmla="*/ 22 w 27"/>
                  <a:gd name="T1" fmla="*/ 0 h 28"/>
                  <a:gd name="T2" fmla="*/ 27 w 27"/>
                  <a:gd name="T3" fmla="*/ 16 h 28"/>
                  <a:gd name="T4" fmla="*/ 12 w 27"/>
                  <a:gd name="T5" fmla="*/ 28 h 28"/>
                  <a:gd name="T6" fmla="*/ 0 w 27"/>
                  <a:gd name="T7" fmla="*/ 16 h 28"/>
                  <a:gd name="T8" fmla="*/ 5 w 27"/>
                  <a:gd name="T9" fmla="*/ 0 h 28"/>
                  <a:gd name="T10" fmla="*/ 22 w 27"/>
                  <a:gd name="T1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" h="28">
                    <a:moveTo>
                      <a:pt x="22" y="0"/>
                    </a:moveTo>
                    <a:lnTo>
                      <a:pt x="27" y="16"/>
                    </a:lnTo>
                    <a:lnTo>
                      <a:pt x="12" y="28"/>
                    </a:lnTo>
                    <a:lnTo>
                      <a:pt x="0" y="16"/>
                    </a:lnTo>
                    <a:lnTo>
                      <a:pt x="5" y="0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218"/>
              <p:cNvSpPr/>
              <p:nvPr/>
            </p:nvSpPr>
            <p:spPr bwMode="auto">
              <a:xfrm>
                <a:off x="5946775" y="3232150"/>
                <a:ext cx="42863" cy="185738"/>
              </a:xfrm>
              <a:custGeom>
                <a:avLst/>
                <a:gdLst>
                  <a:gd name="T0" fmla="*/ 22 w 27"/>
                  <a:gd name="T1" fmla="*/ 0 h 117"/>
                  <a:gd name="T2" fmla="*/ 27 w 27"/>
                  <a:gd name="T3" fmla="*/ 105 h 117"/>
                  <a:gd name="T4" fmla="*/ 12 w 27"/>
                  <a:gd name="T5" fmla="*/ 117 h 117"/>
                  <a:gd name="T6" fmla="*/ 0 w 27"/>
                  <a:gd name="T7" fmla="*/ 105 h 117"/>
                  <a:gd name="T8" fmla="*/ 5 w 27"/>
                  <a:gd name="T9" fmla="*/ 0 h 117"/>
                  <a:gd name="T10" fmla="*/ 22 w 27"/>
                  <a:gd name="T11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" h="117">
                    <a:moveTo>
                      <a:pt x="22" y="0"/>
                    </a:moveTo>
                    <a:lnTo>
                      <a:pt x="27" y="105"/>
                    </a:lnTo>
                    <a:lnTo>
                      <a:pt x="12" y="117"/>
                    </a:lnTo>
                    <a:lnTo>
                      <a:pt x="0" y="105"/>
                    </a:lnTo>
                    <a:lnTo>
                      <a:pt x="5" y="0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5306387" y="5875923"/>
            <a:ext cx="342764" cy="342764"/>
            <a:chOff x="5306387" y="5875923"/>
            <a:chExt cx="342764" cy="342764"/>
          </a:xfrm>
        </p:grpSpPr>
        <p:sp>
          <p:nvSpPr>
            <p:cNvPr id="51" name="椭圆 50"/>
            <p:cNvSpPr/>
            <p:nvPr/>
          </p:nvSpPr>
          <p:spPr>
            <a:xfrm>
              <a:off x="5306387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5370562" y="5961635"/>
              <a:ext cx="214413" cy="171339"/>
              <a:chOff x="5738813" y="3144838"/>
              <a:chExt cx="711200" cy="568325"/>
            </a:xfrm>
            <a:solidFill>
              <a:schemeClr val="accent1"/>
            </a:solidFill>
          </p:grpSpPr>
          <p:sp>
            <p:nvSpPr>
              <p:cNvPr id="52" name="Freeform 103"/>
              <p:cNvSpPr/>
              <p:nvPr/>
            </p:nvSpPr>
            <p:spPr bwMode="auto">
              <a:xfrm>
                <a:off x="5821363" y="3159126"/>
                <a:ext cx="533400" cy="371475"/>
              </a:xfrm>
              <a:custGeom>
                <a:avLst/>
                <a:gdLst>
                  <a:gd name="T0" fmla="*/ 22 w 336"/>
                  <a:gd name="T1" fmla="*/ 234 h 234"/>
                  <a:gd name="T2" fmla="*/ 0 w 336"/>
                  <a:gd name="T3" fmla="*/ 215 h 234"/>
                  <a:gd name="T4" fmla="*/ 135 w 336"/>
                  <a:gd name="T5" fmla="*/ 56 h 234"/>
                  <a:gd name="T6" fmla="*/ 216 w 336"/>
                  <a:gd name="T7" fmla="*/ 126 h 234"/>
                  <a:gd name="T8" fmla="*/ 312 w 336"/>
                  <a:gd name="T9" fmla="*/ 0 h 234"/>
                  <a:gd name="T10" fmla="*/ 336 w 336"/>
                  <a:gd name="T11" fmla="*/ 17 h 234"/>
                  <a:gd name="T12" fmla="*/ 219 w 336"/>
                  <a:gd name="T13" fmla="*/ 171 h 234"/>
                  <a:gd name="T14" fmla="*/ 137 w 336"/>
                  <a:gd name="T15" fmla="*/ 99 h 234"/>
                  <a:gd name="T16" fmla="*/ 22 w 336"/>
                  <a:gd name="T17" fmla="*/ 234 h 234"/>
                  <a:gd name="T18" fmla="*/ 22 w 336"/>
                  <a:gd name="T19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6" h="234">
                    <a:moveTo>
                      <a:pt x="22" y="234"/>
                    </a:moveTo>
                    <a:lnTo>
                      <a:pt x="0" y="215"/>
                    </a:lnTo>
                    <a:lnTo>
                      <a:pt x="135" y="56"/>
                    </a:lnTo>
                    <a:lnTo>
                      <a:pt x="216" y="126"/>
                    </a:lnTo>
                    <a:lnTo>
                      <a:pt x="312" y="0"/>
                    </a:lnTo>
                    <a:lnTo>
                      <a:pt x="336" y="17"/>
                    </a:lnTo>
                    <a:lnTo>
                      <a:pt x="219" y="171"/>
                    </a:lnTo>
                    <a:lnTo>
                      <a:pt x="137" y="99"/>
                    </a:lnTo>
                    <a:lnTo>
                      <a:pt x="22" y="234"/>
                    </a:lnTo>
                    <a:lnTo>
                      <a:pt x="22" y="2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 104"/>
              <p:cNvSpPr/>
              <p:nvPr/>
            </p:nvSpPr>
            <p:spPr bwMode="auto">
              <a:xfrm>
                <a:off x="6248401" y="3148013"/>
                <a:ext cx="117475" cy="119063"/>
              </a:xfrm>
              <a:custGeom>
                <a:avLst/>
                <a:gdLst>
                  <a:gd name="T0" fmla="*/ 0 w 74"/>
                  <a:gd name="T1" fmla="*/ 0 h 75"/>
                  <a:gd name="T2" fmla="*/ 74 w 74"/>
                  <a:gd name="T3" fmla="*/ 0 h 75"/>
                  <a:gd name="T4" fmla="*/ 74 w 74"/>
                  <a:gd name="T5" fmla="*/ 75 h 75"/>
                  <a:gd name="T6" fmla="*/ 0 w 74"/>
                  <a:gd name="T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" h="75">
                    <a:moveTo>
                      <a:pt x="0" y="0"/>
                    </a:moveTo>
                    <a:lnTo>
                      <a:pt x="74" y="0"/>
                    </a:lnTo>
                    <a:lnTo>
                      <a:pt x="74" y="7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 105"/>
              <p:cNvSpPr/>
              <p:nvPr/>
            </p:nvSpPr>
            <p:spPr bwMode="auto">
              <a:xfrm>
                <a:off x="5738813" y="3144838"/>
                <a:ext cx="711200" cy="568325"/>
              </a:xfrm>
              <a:custGeom>
                <a:avLst/>
                <a:gdLst>
                  <a:gd name="T0" fmla="*/ 448 w 448"/>
                  <a:gd name="T1" fmla="*/ 358 h 358"/>
                  <a:gd name="T2" fmla="*/ 0 w 448"/>
                  <a:gd name="T3" fmla="*/ 358 h 358"/>
                  <a:gd name="T4" fmla="*/ 0 w 448"/>
                  <a:gd name="T5" fmla="*/ 0 h 358"/>
                  <a:gd name="T6" fmla="*/ 26 w 448"/>
                  <a:gd name="T7" fmla="*/ 0 h 358"/>
                  <a:gd name="T8" fmla="*/ 26 w 448"/>
                  <a:gd name="T9" fmla="*/ 334 h 358"/>
                  <a:gd name="T10" fmla="*/ 448 w 448"/>
                  <a:gd name="T11" fmla="*/ 334 h 358"/>
                  <a:gd name="T12" fmla="*/ 448 w 448"/>
                  <a:gd name="T13" fmla="*/ 358 h 358"/>
                  <a:gd name="T14" fmla="*/ 448 w 448"/>
                  <a:gd name="T15" fmla="*/ 358 h 3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8" h="358">
                    <a:moveTo>
                      <a:pt x="448" y="358"/>
                    </a:moveTo>
                    <a:lnTo>
                      <a:pt x="0" y="358"/>
                    </a:lnTo>
                    <a:lnTo>
                      <a:pt x="0" y="0"/>
                    </a:lnTo>
                    <a:lnTo>
                      <a:pt x="26" y="0"/>
                    </a:lnTo>
                    <a:lnTo>
                      <a:pt x="26" y="334"/>
                    </a:lnTo>
                    <a:lnTo>
                      <a:pt x="448" y="334"/>
                    </a:lnTo>
                    <a:lnTo>
                      <a:pt x="448" y="358"/>
                    </a:lnTo>
                    <a:lnTo>
                      <a:pt x="448" y="3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Rectangle 106"/>
              <p:cNvSpPr>
                <a:spLocks noChangeArrowheads="1"/>
              </p:cNvSpPr>
              <p:nvPr/>
            </p:nvSpPr>
            <p:spPr bwMode="auto">
              <a:xfrm>
                <a:off x="5853113" y="3560763"/>
                <a:ext cx="79375" cy="1222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Rectangle 107"/>
              <p:cNvSpPr>
                <a:spLocks noChangeArrowheads="1"/>
              </p:cNvSpPr>
              <p:nvPr/>
            </p:nvSpPr>
            <p:spPr bwMode="auto">
              <a:xfrm>
                <a:off x="5997576" y="3408363"/>
                <a:ext cx="79375" cy="2746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Rectangle 108"/>
              <p:cNvSpPr>
                <a:spLocks noChangeArrowheads="1"/>
              </p:cNvSpPr>
              <p:nvPr/>
            </p:nvSpPr>
            <p:spPr bwMode="auto">
              <a:xfrm>
                <a:off x="6142038" y="3487738"/>
                <a:ext cx="79375" cy="195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Rectangle 109"/>
              <p:cNvSpPr>
                <a:spLocks noChangeArrowheads="1"/>
              </p:cNvSpPr>
              <p:nvPr/>
            </p:nvSpPr>
            <p:spPr bwMode="auto">
              <a:xfrm>
                <a:off x="6286501" y="3305176"/>
                <a:ext cx="79375" cy="3778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5924618" y="5875923"/>
            <a:ext cx="342764" cy="342764"/>
            <a:chOff x="5924618" y="5875923"/>
            <a:chExt cx="342764" cy="342764"/>
          </a:xfrm>
        </p:grpSpPr>
        <p:sp>
          <p:nvSpPr>
            <p:cNvPr id="44" name="椭圆 43"/>
            <p:cNvSpPr/>
            <p:nvPr/>
          </p:nvSpPr>
          <p:spPr>
            <a:xfrm>
              <a:off x="5924618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5999323" y="5949431"/>
              <a:ext cx="193355" cy="195748"/>
              <a:chOff x="5778500" y="3105150"/>
              <a:chExt cx="641350" cy="649288"/>
            </a:xfrm>
            <a:solidFill>
              <a:schemeClr val="accent1"/>
            </a:solidFill>
          </p:grpSpPr>
          <p:sp>
            <p:nvSpPr>
              <p:cNvPr id="45" name="Freeform 425"/>
              <p:cNvSpPr/>
              <p:nvPr/>
            </p:nvSpPr>
            <p:spPr bwMode="auto">
              <a:xfrm>
                <a:off x="5959475" y="3227388"/>
                <a:ext cx="217488" cy="438150"/>
              </a:xfrm>
              <a:custGeom>
                <a:avLst/>
                <a:gdLst>
                  <a:gd name="T0" fmla="*/ 36 w 137"/>
                  <a:gd name="T1" fmla="*/ 276 h 276"/>
                  <a:gd name="T2" fmla="*/ 101 w 137"/>
                  <a:gd name="T3" fmla="*/ 276 h 276"/>
                  <a:gd name="T4" fmla="*/ 101 w 137"/>
                  <a:gd name="T5" fmla="*/ 69 h 276"/>
                  <a:gd name="T6" fmla="*/ 137 w 137"/>
                  <a:gd name="T7" fmla="*/ 69 h 276"/>
                  <a:gd name="T8" fmla="*/ 67 w 137"/>
                  <a:gd name="T9" fmla="*/ 0 h 276"/>
                  <a:gd name="T10" fmla="*/ 0 w 137"/>
                  <a:gd name="T11" fmla="*/ 69 h 276"/>
                  <a:gd name="T12" fmla="*/ 36 w 137"/>
                  <a:gd name="T13" fmla="*/ 69 h 276"/>
                  <a:gd name="T14" fmla="*/ 36 w 137"/>
                  <a:gd name="T15" fmla="*/ 276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276">
                    <a:moveTo>
                      <a:pt x="36" y="276"/>
                    </a:moveTo>
                    <a:lnTo>
                      <a:pt x="101" y="276"/>
                    </a:lnTo>
                    <a:lnTo>
                      <a:pt x="101" y="69"/>
                    </a:lnTo>
                    <a:lnTo>
                      <a:pt x="137" y="69"/>
                    </a:lnTo>
                    <a:lnTo>
                      <a:pt x="67" y="0"/>
                    </a:lnTo>
                    <a:lnTo>
                      <a:pt x="0" y="69"/>
                    </a:lnTo>
                    <a:lnTo>
                      <a:pt x="36" y="69"/>
                    </a:lnTo>
                    <a:lnTo>
                      <a:pt x="36" y="2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426"/>
              <p:cNvSpPr/>
              <p:nvPr/>
            </p:nvSpPr>
            <p:spPr bwMode="auto">
              <a:xfrm>
                <a:off x="5783263" y="3398838"/>
                <a:ext cx="214313" cy="266700"/>
              </a:xfrm>
              <a:custGeom>
                <a:avLst/>
                <a:gdLst>
                  <a:gd name="T0" fmla="*/ 36 w 135"/>
                  <a:gd name="T1" fmla="*/ 168 h 168"/>
                  <a:gd name="T2" fmla="*/ 98 w 135"/>
                  <a:gd name="T3" fmla="*/ 168 h 168"/>
                  <a:gd name="T4" fmla="*/ 98 w 135"/>
                  <a:gd name="T5" fmla="*/ 70 h 168"/>
                  <a:gd name="T6" fmla="*/ 135 w 135"/>
                  <a:gd name="T7" fmla="*/ 70 h 168"/>
                  <a:gd name="T8" fmla="*/ 67 w 135"/>
                  <a:gd name="T9" fmla="*/ 0 h 168"/>
                  <a:gd name="T10" fmla="*/ 0 w 135"/>
                  <a:gd name="T11" fmla="*/ 70 h 168"/>
                  <a:gd name="T12" fmla="*/ 36 w 135"/>
                  <a:gd name="T13" fmla="*/ 70 h 168"/>
                  <a:gd name="T14" fmla="*/ 36 w 135"/>
                  <a:gd name="T15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5" h="168">
                    <a:moveTo>
                      <a:pt x="36" y="168"/>
                    </a:moveTo>
                    <a:lnTo>
                      <a:pt x="98" y="168"/>
                    </a:lnTo>
                    <a:lnTo>
                      <a:pt x="98" y="70"/>
                    </a:lnTo>
                    <a:lnTo>
                      <a:pt x="135" y="70"/>
                    </a:lnTo>
                    <a:lnTo>
                      <a:pt x="67" y="0"/>
                    </a:lnTo>
                    <a:lnTo>
                      <a:pt x="0" y="70"/>
                    </a:lnTo>
                    <a:lnTo>
                      <a:pt x="36" y="70"/>
                    </a:lnTo>
                    <a:lnTo>
                      <a:pt x="36" y="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Rectangle 427"/>
              <p:cNvSpPr>
                <a:spLocks noChangeArrowheads="1"/>
              </p:cNvSpPr>
              <p:nvPr/>
            </p:nvSpPr>
            <p:spPr bwMode="auto">
              <a:xfrm>
                <a:off x="5778500" y="3692525"/>
                <a:ext cx="641350" cy="619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Oval 428"/>
              <p:cNvSpPr>
                <a:spLocks noChangeArrowheads="1"/>
              </p:cNvSpPr>
              <p:nvPr/>
            </p:nvSpPr>
            <p:spPr bwMode="auto">
              <a:xfrm>
                <a:off x="6248400" y="3105150"/>
                <a:ext cx="88900" cy="1095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429"/>
              <p:cNvSpPr/>
              <p:nvPr/>
            </p:nvSpPr>
            <p:spPr bwMode="auto">
              <a:xfrm>
                <a:off x="6188075" y="3222625"/>
                <a:ext cx="206375" cy="442913"/>
              </a:xfrm>
              <a:custGeom>
                <a:avLst/>
                <a:gdLst>
                  <a:gd name="T0" fmla="*/ 7 w 54"/>
                  <a:gd name="T1" fmla="*/ 61 h 116"/>
                  <a:gd name="T2" fmla="*/ 8 w 54"/>
                  <a:gd name="T3" fmla="*/ 61 h 116"/>
                  <a:gd name="T4" fmla="*/ 9 w 54"/>
                  <a:gd name="T5" fmla="*/ 61 h 116"/>
                  <a:gd name="T6" fmla="*/ 11 w 54"/>
                  <a:gd name="T7" fmla="*/ 116 h 116"/>
                  <a:gd name="T8" fmla="*/ 26 w 54"/>
                  <a:gd name="T9" fmla="*/ 116 h 116"/>
                  <a:gd name="T10" fmla="*/ 26 w 54"/>
                  <a:gd name="T11" fmla="*/ 61 h 116"/>
                  <a:gd name="T12" fmla="*/ 28 w 54"/>
                  <a:gd name="T13" fmla="*/ 61 h 116"/>
                  <a:gd name="T14" fmla="*/ 30 w 54"/>
                  <a:gd name="T15" fmla="*/ 116 h 116"/>
                  <a:gd name="T16" fmla="*/ 45 w 54"/>
                  <a:gd name="T17" fmla="*/ 116 h 116"/>
                  <a:gd name="T18" fmla="*/ 45 w 54"/>
                  <a:gd name="T19" fmla="*/ 61 h 116"/>
                  <a:gd name="T20" fmla="*/ 46 w 54"/>
                  <a:gd name="T21" fmla="*/ 61 h 116"/>
                  <a:gd name="T22" fmla="*/ 47 w 54"/>
                  <a:gd name="T23" fmla="*/ 61 h 116"/>
                  <a:gd name="T24" fmla="*/ 47 w 54"/>
                  <a:gd name="T25" fmla="*/ 61 h 116"/>
                  <a:gd name="T26" fmla="*/ 54 w 54"/>
                  <a:gd name="T27" fmla="*/ 61 h 116"/>
                  <a:gd name="T28" fmla="*/ 50 w 54"/>
                  <a:gd name="T29" fmla="*/ 8 h 116"/>
                  <a:gd name="T30" fmla="*/ 43 w 54"/>
                  <a:gd name="T31" fmla="*/ 1 h 116"/>
                  <a:gd name="T32" fmla="*/ 37 w 54"/>
                  <a:gd name="T33" fmla="*/ 0 h 116"/>
                  <a:gd name="T34" fmla="*/ 37 w 54"/>
                  <a:gd name="T35" fmla="*/ 1 h 116"/>
                  <a:gd name="T36" fmla="*/ 41 w 54"/>
                  <a:gd name="T37" fmla="*/ 5 h 116"/>
                  <a:gd name="T38" fmla="*/ 36 w 54"/>
                  <a:gd name="T39" fmla="*/ 8 h 116"/>
                  <a:gd name="T40" fmla="*/ 38 w 54"/>
                  <a:gd name="T41" fmla="*/ 12 h 116"/>
                  <a:gd name="T42" fmla="*/ 31 w 54"/>
                  <a:gd name="T43" fmla="*/ 28 h 116"/>
                  <a:gd name="T44" fmla="*/ 30 w 54"/>
                  <a:gd name="T45" fmla="*/ 6 h 116"/>
                  <a:gd name="T46" fmla="*/ 31 w 54"/>
                  <a:gd name="T47" fmla="*/ 5 h 116"/>
                  <a:gd name="T48" fmla="*/ 30 w 54"/>
                  <a:gd name="T49" fmla="*/ 0 h 116"/>
                  <a:gd name="T50" fmla="*/ 25 w 54"/>
                  <a:gd name="T51" fmla="*/ 0 h 116"/>
                  <a:gd name="T52" fmla="*/ 23 w 54"/>
                  <a:gd name="T53" fmla="*/ 5 h 116"/>
                  <a:gd name="T54" fmla="*/ 24 w 54"/>
                  <a:gd name="T55" fmla="*/ 6 h 116"/>
                  <a:gd name="T56" fmla="*/ 23 w 54"/>
                  <a:gd name="T57" fmla="*/ 29 h 116"/>
                  <a:gd name="T58" fmla="*/ 16 w 54"/>
                  <a:gd name="T59" fmla="*/ 12 h 116"/>
                  <a:gd name="T60" fmla="*/ 18 w 54"/>
                  <a:gd name="T61" fmla="*/ 8 h 116"/>
                  <a:gd name="T62" fmla="*/ 13 w 54"/>
                  <a:gd name="T63" fmla="*/ 5 h 116"/>
                  <a:gd name="T64" fmla="*/ 17 w 54"/>
                  <a:gd name="T65" fmla="*/ 1 h 116"/>
                  <a:gd name="T66" fmla="*/ 17 w 54"/>
                  <a:gd name="T67" fmla="*/ 0 h 116"/>
                  <a:gd name="T68" fmla="*/ 11 w 54"/>
                  <a:gd name="T69" fmla="*/ 1 h 116"/>
                  <a:gd name="T70" fmla="*/ 4 w 54"/>
                  <a:gd name="T71" fmla="*/ 8 h 116"/>
                  <a:gd name="T72" fmla="*/ 0 w 54"/>
                  <a:gd name="T73" fmla="*/ 61 h 116"/>
                  <a:gd name="T74" fmla="*/ 7 w 54"/>
                  <a:gd name="T75" fmla="*/ 61 h 116"/>
                  <a:gd name="T76" fmla="*/ 7 w 54"/>
                  <a:gd name="T77" fmla="*/ 6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54" h="116">
                    <a:moveTo>
                      <a:pt x="7" y="61"/>
                    </a:moveTo>
                    <a:cubicBezTo>
                      <a:pt x="8" y="61"/>
                      <a:pt x="8" y="61"/>
                      <a:pt x="8" y="61"/>
                    </a:cubicBezTo>
                    <a:cubicBezTo>
                      <a:pt x="8" y="61"/>
                      <a:pt x="9" y="61"/>
                      <a:pt x="9" y="61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26" y="116"/>
                      <a:pt x="26" y="116"/>
                      <a:pt x="26" y="116"/>
                    </a:cubicBezTo>
                    <a:cubicBezTo>
                      <a:pt x="27" y="100"/>
                      <a:pt x="27" y="72"/>
                      <a:pt x="26" y="61"/>
                    </a:cubicBezTo>
                    <a:cubicBezTo>
                      <a:pt x="27" y="61"/>
                      <a:pt x="27" y="61"/>
                      <a:pt x="28" y="61"/>
                    </a:cubicBezTo>
                    <a:cubicBezTo>
                      <a:pt x="30" y="116"/>
                      <a:pt x="30" y="116"/>
                      <a:pt x="30" y="116"/>
                    </a:cubicBezTo>
                    <a:cubicBezTo>
                      <a:pt x="45" y="116"/>
                      <a:pt x="45" y="116"/>
                      <a:pt x="45" y="116"/>
                    </a:cubicBezTo>
                    <a:cubicBezTo>
                      <a:pt x="46" y="100"/>
                      <a:pt x="45" y="72"/>
                      <a:pt x="45" y="61"/>
                    </a:cubicBezTo>
                    <a:cubicBezTo>
                      <a:pt x="46" y="61"/>
                      <a:pt x="46" y="61"/>
                      <a:pt x="46" y="61"/>
                    </a:cubicBezTo>
                    <a:cubicBezTo>
                      <a:pt x="46" y="61"/>
                      <a:pt x="47" y="61"/>
                      <a:pt x="47" y="61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9" y="61"/>
                      <a:pt x="52" y="61"/>
                      <a:pt x="54" y="61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50" y="4"/>
                      <a:pt x="47" y="1"/>
                      <a:pt x="43" y="1"/>
                    </a:cubicBezTo>
                    <a:cubicBezTo>
                      <a:pt x="43" y="1"/>
                      <a:pt x="38" y="1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41" y="5"/>
                      <a:pt x="41" y="5"/>
                      <a:pt x="41" y="5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8" y="12"/>
                      <a:pt x="38" y="12"/>
                      <a:pt x="38" y="12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1" y="1"/>
                      <a:pt x="11" y="1"/>
                    </a:cubicBezTo>
                    <a:cubicBezTo>
                      <a:pt x="8" y="1"/>
                      <a:pt x="5" y="4"/>
                      <a:pt x="4" y="8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3" y="61"/>
                      <a:pt x="5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6542850" y="5875923"/>
            <a:ext cx="342764" cy="342764"/>
            <a:chOff x="6542850" y="5875923"/>
            <a:chExt cx="342764" cy="342764"/>
          </a:xfrm>
        </p:grpSpPr>
        <p:sp>
          <p:nvSpPr>
            <p:cNvPr id="40" name="椭圆 39"/>
            <p:cNvSpPr/>
            <p:nvPr/>
          </p:nvSpPr>
          <p:spPr>
            <a:xfrm>
              <a:off x="6542850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6626221" y="5960251"/>
              <a:ext cx="200055" cy="198141"/>
              <a:chOff x="5767388" y="3098800"/>
              <a:chExt cx="663575" cy="657225"/>
            </a:xfrm>
            <a:solidFill>
              <a:schemeClr val="accent1"/>
            </a:solidFill>
          </p:grpSpPr>
          <p:sp>
            <p:nvSpPr>
              <p:cNvPr id="41" name="Freeform 253"/>
              <p:cNvSpPr>
                <a:spLocks noEditPoints="1"/>
              </p:cNvSpPr>
              <p:nvPr/>
            </p:nvSpPr>
            <p:spPr bwMode="auto">
              <a:xfrm>
                <a:off x="5767388" y="3098800"/>
                <a:ext cx="663575" cy="519113"/>
              </a:xfrm>
              <a:custGeom>
                <a:avLst/>
                <a:gdLst>
                  <a:gd name="T0" fmla="*/ 165 w 174"/>
                  <a:gd name="T1" fmla="*/ 0 h 136"/>
                  <a:gd name="T2" fmla="*/ 9 w 174"/>
                  <a:gd name="T3" fmla="*/ 0 h 136"/>
                  <a:gd name="T4" fmla="*/ 0 w 174"/>
                  <a:gd name="T5" fmla="*/ 9 h 136"/>
                  <a:gd name="T6" fmla="*/ 0 w 174"/>
                  <a:gd name="T7" fmla="*/ 128 h 136"/>
                  <a:gd name="T8" fmla="*/ 9 w 174"/>
                  <a:gd name="T9" fmla="*/ 136 h 136"/>
                  <a:gd name="T10" fmla="*/ 50 w 174"/>
                  <a:gd name="T11" fmla="*/ 136 h 136"/>
                  <a:gd name="T12" fmla="*/ 41 w 174"/>
                  <a:gd name="T13" fmla="*/ 121 h 136"/>
                  <a:gd name="T14" fmla="*/ 17 w 174"/>
                  <a:gd name="T15" fmla="*/ 121 h 136"/>
                  <a:gd name="T16" fmla="*/ 17 w 174"/>
                  <a:gd name="T17" fmla="*/ 16 h 136"/>
                  <a:gd name="T18" fmla="*/ 157 w 174"/>
                  <a:gd name="T19" fmla="*/ 16 h 136"/>
                  <a:gd name="T20" fmla="*/ 157 w 174"/>
                  <a:gd name="T21" fmla="*/ 121 h 136"/>
                  <a:gd name="T22" fmla="*/ 133 w 174"/>
                  <a:gd name="T23" fmla="*/ 121 h 136"/>
                  <a:gd name="T24" fmla="*/ 133 w 174"/>
                  <a:gd name="T25" fmla="*/ 127 h 136"/>
                  <a:gd name="T26" fmla="*/ 131 w 174"/>
                  <a:gd name="T27" fmla="*/ 136 h 136"/>
                  <a:gd name="T28" fmla="*/ 165 w 174"/>
                  <a:gd name="T29" fmla="*/ 136 h 136"/>
                  <a:gd name="T30" fmla="*/ 174 w 174"/>
                  <a:gd name="T31" fmla="*/ 128 h 136"/>
                  <a:gd name="T32" fmla="*/ 174 w 174"/>
                  <a:gd name="T33" fmla="*/ 9 h 136"/>
                  <a:gd name="T34" fmla="*/ 165 w 174"/>
                  <a:gd name="T35" fmla="*/ 0 h 136"/>
                  <a:gd name="T36" fmla="*/ 8 w 174"/>
                  <a:gd name="T37" fmla="*/ 74 h 136"/>
                  <a:gd name="T38" fmla="*/ 3 w 174"/>
                  <a:gd name="T39" fmla="*/ 68 h 136"/>
                  <a:gd name="T40" fmla="*/ 8 w 174"/>
                  <a:gd name="T41" fmla="*/ 63 h 136"/>
                  <a:gd name="T42" fmla="*/ 14 w 174"/>
                  <a:gd name="T43" fmla="*/ 68 h 136"/>
                  <a:gd name="T44" fmla="*/ 8 w 174"/>
                  <a:gd name="T45" fmla="*/ 7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74" h="136">
                    <a:moveTo>
                      <a:pt x="165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2"/>
                      <a:pt x="4" y="136"/>
                      <a:pt x="9" y="136"/>
                    </a:cubicBezTo>
                    <a:cubicBezTo>
                      <a:pt x="50" y="136"/>
                      <a:pt x="50" y="136"/>
                      <a:pt x="50" y="136"/>
                    </a:cubicBezTo>
                    <a:cubicBezTo>
                      <a:pt x="46" y="131"/>
                      <a:pt x="43" y="126"/>
                      <a:pt x="41" y="121"/>
                    </a:cubicBezTo>
                    <a:cubicBezTo>
                      <a:pt x="17" y="121"/>
                      <a:pt x="17" y="121"/>
                      <a:pt x="17" y="121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57" y="16"/>
                      <a:pt x="157" y="16"/>
                      <a:pt x="157" y="16"/>
                    </a:cubicBezTo>
                    <a:cubicBezTo>
                      <a:pt x="157" y="121"/>
                      <a:pt x="157" y="121"/>
                      <a:pt x="157" y="121"/>
                    </a:cubicBezTo>
                    <a:cubicBezTo>
                      <a:pt x="133" y="121"/>
                      <a:pt x="133" y="121"/>
                      <a:pt x="133" y="121"/>
                    </a:cubicBezTo>
                    <a:cubicBezTo>
                      <a:pt x="133" y="127"/>
                      <a:pt x="133" y="127"/>
                      <a:pt x="133" y="127"/>
                    </a:cubicBezTo>
                    <a:cubicBezTo>
                      <a:pt x="133" y="130"/>
                      <a:pt x="132" y="133"/>
                      <a:pt x="131" y="136"/>
                    </a:cubicBezTo>
                    <a:cubicBezTo>
                      <a:pt x="165" y="136"/>
                      <a:pt x="165" y="136"/>
                      <a:pt x="165" y="136"/>
                    </a:cubicBezTo>
                    <a:cubicBezTo>
                      <a:pt x="170" y="136"/>
                      <a:pt x="174" y="132"/>
                      <a:pt x="174" y="128"/>
                    </a:cubicBezTo>
                    <a:cubicBezTo>
                      <a:pt x="174" y="9"/>
                      <a:pt x="174" y="9"/>
                      <a:pt x="174" y="9"/>
                    </a:cubicBezTo>
                    <a:cubicBezTo>
                      <a:pt x="174" y="4"/>
                      <a:pt x="170" y="0"/>
                      <a:pt x="165" y="0"/>
                    </a:cubicBezTo>
                    <a:close/>
                    <a:moveTo>
                      <a:pt x="8" y="74"/>
                    </a:moveTo>
                    <a:cubicBezTo>
                      <a:pt x="5" y="74"/>
                      <a:pt x="3" y="71"/>
                      <a:pt x="3" y="68"/>
                    </a:cubicBezTo>
                    <a:cubicBezTo>
                      <a:pt x="3" y="65"/>
                      <a:pt x="5" y="63"/>
                      <a:pt x="8" y="63"/>
                    </a:cubicBezTo>
                    <a:cubicBezTo>
                      <a:pt x="11" y="63"/>
                      <a:pt x="14" y="65"/>
                      <a:pt x="14" y="68"/>
                    </a:cubicBezTo>
                    <a:cubicBezTo>
                      <a:pt x="14" y="71"/>
                      <a:pt x="11" y="74"/>
                      <a:pt x="8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254"/>
              <p:cNvSpPr/>
              <p:nvPr/>
            </p:nvSpPr>
            <p:spPr bwMode="auto">
              <a:xfrm>
                <a:off x="5913438" y="3235325"/>
                <a:ext cx="334963" cy="520700"/>
              </a:xfrm>
              <a:custGeom>
                <a:avLst/>
                <a:gdLst>
                  <a:gd name="T0" fmla="*/ 88 w 88"/>
                  <a:gd name="T1" fmla="*/ 72 h 136"/>
                  <a:gd name="T2" fmla="*/ 88 w 88"/>
                  <a:gd name="T3" fmla="*/ 69 h 136"/>
                  <a:gd name="T4" fmla="*/ 88 w 88"/>
                  <a:gd name="T5" fmla="*/ 47 h 136"/>
                  <a:gd name="T6" fmla="*/ 81 w 88"/>
                  <a:gd name="T7" fmla="*/ 40 h 136"/>
                  <a:gd name="T8" fmla="*/ 73 w 88"/>
                  <a:gd name="T9" fmla="*/ 47 h 136"/>
                  <a:gd name="T10" fmla="*/ 73 w 88"/>
                  <a:gd name="T11" fmla="*/ 49 h 136"/>
                  <a:gd name="T12" fmla="*/ 72 w 88"/>
                  <a:gd name="T13" fmla="*/ 48 h 136"/>
                  <a:gd name="T14" fmla="*/ 72 w 88"/>
                  <a:gd name="T15" fmla="*/ 37 h 136"/>
                  <a:gd name="T16" fmla="*/ 64 w 88"/>
                  <a:gd name="T17" fmla="*/ 30 h 136"/>
                  <a:gd name="T18" fmla="*/ 57 w 88"/>
                  <a:gd name="T19" fmla="*/ 37 h 136"/>
                  <a:gd name="T20" fmla="*/ 57 w 88"/>
                  <a:gd name="T21" fmla="*/ 43 h 136"/>
                  <a:gd name="T22" fmla="*/ 55 w 88"/>
                  <a:gd name="T23" fmla="*/ 43 h 136"/>
                  <a:gd name="T24" fmla="*/ 55 w 88"/>
                  <a:gd name="T25" fmla="*/ 31 h 136"/>
                  <a:gd name="T26" fmla="*/ 48 w 88"/>
                  <a:gd name="T27" fmla="*/ 24 h 136"/>
                  <a:gd name="T28" fmla="*/ 40 w 88"/>
                  <a:gd name="T29" fmla="*/ 31 h 136"/>
                  <a:gd name="T30" fmla="*/ 40 w 88"/>
                  <a:gd name="T31" fmla="*/ 40 h 136"/>
                  <a:gd name="T32" fmla="*/ 38 w 88"/>
                  <a:gd name="T33" fmla="*/ 41 h 136"/>
                  <a:gd name="T34" fmla="*/ 38 w 88"/>
                  <a:gd name="T35" fmla="*/ 7 h 136"/>
                  <a:gd name="T36" fmla="*/ 31 w 88"/>
                  <a:gd name="T37" fmla="*/ 0 h 136"/>
                  <a:gd name="T38" fmla="*/ 24 w 88"/>
                  <a:gd name="T39" fmla="*/ 7 h 136"/>
                  <a:gd name="T40" fmla="*/ 24 w 88"/>
                  <a:gd name="T41" fmla="*/ 67 h 136"/>
                  <a:gd name="T42" fmla="*/ 22 w 88"/>
                  <a:gd name="T43" fmla="*/ 56 h 136"/>
                  <a:gd name="T44" fmla="*/ 8 w 88"/>
                  <a:gd name="T45" fmla="*/ 40 h 136"/>
                  <a:gd name="T46" fmla="*/ 1 w 88"/>
                  <a:gd name="T47" fmla="*/ 46 h 136"/>
                  <a:gd name="T48" fmla="*/ 8 w 88"/>
                  <a:gd name="T49" fmla="*/ 73 h 136"/>
                  <a:gd name="T50" fmla="*/ 20 w 88"/>
                  <a:gd name="T51" fmla="*/ 98 h 136"/>
                  <a:gd name="T52" fmla="*/ 22 w 88"/>
                  <a:gd name="T53" fmla="*/ 101 h 136"/>
                  <a:gd name="T54" fmla="*/ 32 w 88"/>
                  <a:gd name="T55" fmla="*/ 111 h 136"/>
                  <a:gd name="T56" fmla="*/ 32 w 88"/>
                  <a:gd name="T57" fmla="*/ 136 h 136"/>
                  <a:gd name="T58" fmla="*/ 81 w 88"/>
                  <a:gd name="T59" fmla="*/ 136 h 136"/>
                  <a:gd name="T60" fmla="*/ 81 w 88"/>
                  <a:gd name="T61" fmla="*/ 110 h 136"/>
                  <a:gd name="T62" fmla="*/ 87 w 88"/>
                  <a:gd name="T63" fmla="*/ 91 h 136"/>
                  <a:gd name="T64" fmla="*/ 88 w 88"/>
                  <a:gd name="T65" fmla="*/ 72 h 136"/>
                  <a:gd name="T66" fmla="*/ 88 w 88"/>
                  <a:gd name="T67" fmla="*/ 72 h 136"/>
                  <a:gd name="T68" fmla="*/ 88 w 88"/>
                  <a:gd name="T69" fmla="*/ 72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8" h="136">
                    <a:moveTo>
                      <a:pt x="88" y="72"/>
                    </a:moveTo>
                    <a:cubicBezTo>
                      <a:pt x="88" y="71"/>
                      <a:pt x="88" y="70"/>
                      <a:pt x="88" y="69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3"/>
                      <a:pt x="85" y="40"/>
                      <a:pt x="81" y="40"/>
                    </a:cubicBezTo>
                    <a:cubicBezTo>
                      <a:pt x="77" y="40"/>
                      <a:pt x="73" y="43"/>
                      <a:pt x="73" y="47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73" y="49"/>
                      <a:pt x="72" y="48"/>
                      <a:pt x="72" y="48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3"/>
                      <a:pt x="68" y="30"/>
                      <a:pt x="64" y="30"/>
                    </a:cubicBezTo>
                    <a:cubicBezTo>
                      <a:pt x="60" y="30"/>
                      <a:pt x="57" y="33"/>
                      <a:pt x="57" y="37"/>
                    </a:cubicBezTo>
                    <a:cubicBezTo>
                      <a:pt x="57" y="43"/>
                      <a:pt x="57" y="43"/>
                      <a:pt x="57" y="43"/>
                    </a:cubicBezTo>
                    <a:cubicBezTo>
                      <a:pt x="56" y="43"/>
                      <a:pt x="56" y="43"/>
                      <a:pt x="55" y="43"/>
                    </a:cubicBezTo>
                    <a:cubicBezTo>
                      <a:pt x="55" y="31"/>
                      <a:pt x="55" y="31"/>
                      <a:pt x="55" y="31"/>
                    </a:cubicBezTo>
                    <a:cubicBezTo>
                      <a:pt x="55" y="27"/>
                      <a:pt x="52" y="24"/>
                      <a:pt x="48" y="24"/>
                    </a:cubicBezTo>
                    <a:cubicBezTo>
                      <a:pt x="44" y="24"/>
                      <a:pt x="40" y="27"/>
                      <a:pt x="40" y="31"/>
                    </a:cubicBezTo>
                    <a:cubicBezTo>
                      <a:pt x="40" y="40"/>
                      <a:pt x="40" y="40"/>
                      <a:pt x="40" y="40"/>
                    </a:cubicBezTo>
                    <a:cubicBezTo>
                      <a:pt x="40" y="40"/>
                      <a:pt x="39" y="40"/>
                      <a:pt x="38" y="41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3"/>
                      <a:pt x="35" y="0"/>
                      <a:pt x="31" y="0"/>
                    </a:cubicBezTo>
                    <a:cubicBezTo>
                      <a:pt x="27" y="0"/>
                      <a:pt x="24" y="3"/>
                      <a:pt x="24" y="7"/>
                    </a:cubicBezTo>
                    <a:cubicBezTo>
                      <a:pt x="24" y="67"/>
                      <a:pt x="24" y="67"/>
                      <a:pt x="24" y="67"/>
                    </a:cubicBezTo>
                    <a:cubicBezTo>
                      <a:pt x="22" y="63"/>
                      <a:pt x="22" y="59"/>
                      <a:pt x="22" y="56"/>
                    </a:cubicBezTo>
                    <a:cubicBezTo>
                      <a:pt x="19" y="44"/>
                      <a:pt x="12" y="39"/>
                      <a:pt x="8" y="40"/>
                    </a:cubicBezTo>
                    <a:cubicBezTo>
                      <a:pt x="7" y="40"/>
                      <a:pt x="0" y="43"/>
                      <a:pt x="1" y="46"/>
                    </a:cubicBezTo>
                    <a:cubicBezTo>
                      <a:pt x="2" y="48"/>
                      <a:pt x="7" y="60"/>
                      <a:pt x="8" y="73"/>
                    </a:cubicBezTo>
                    <a:cubicBezTo>
                      <a:pt x="8" y="82"/>
                      <a:pt x="14" y="91"/>
                      <a:pt x="20" y="98"/>
                    </a:cubicBezTo>
                    <a:cubicBezTo>
                      <a:pt x="20" y="99"/>
                      <a:pt x="21" y="100"/>
                      <a:pt x="22" y="101"/>
                    </a:cubicBezTo>
                    <a:cubicBezTo>
                      <a:pt x="32" y="111"/>
                      <a:pt x="32" y="111"/>
                      <a:pt x="32" y="111"/>
                    </a:cubicBezTo>
                    <a:cubicBezTo>
                      <a:pt x="32" y="136"/>
                      <a:pt x="32" y="136"/>
                      <a:pt x="32" y="136"/>
                    </a:cubicBezTo>
                    <a:cubicBezTo>
                      <a:pt x="81" y="136"/>
                      <a:pt x="81" y="136"/>
                      <a:pt x="81" y="136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5" y="104"/>
                      <a:pt x="87" y="97"/>
                      <a:pt x="87" y="91"/>
                    </a:cubicBezTo>
                    <a:cubicBezTo>
                      <a:pt x="88" y="85"/>
                      <a:pt x="88" y="78"/>
                      <a:pt x="88" y="72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88" y="72"/>
                      <a:pt x="88" y="72"/>
                      <a:pt x="88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7161082" y="5875923"/>
            <a:ext cx="342764" cy="342764"/>
            <a:chOff x="7161082" y="5875923"/>
            <a:chExt cx="342764" cy="342764"/>
          </a:xfrm>
        </p:grpSpPr>
        <p:sp>
          <p:nvSpPr>
            <p:cNvPr id="22" name="椭圆 21"/>
            <p:cNvSpPr/>
            <p:nvPr/>
          </p:nvSpPr>
          <p:spPr>
            <a:xfrm>
              <a:off x="7161082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/>
            <p:cNvGrpSpPr>
              <a:grpSpLocks noChangeAspect="1"/>
            </p:cNvGrpSpPr>
            <p:nvPr/>
          </p:nvGrpSpPr>
          <p:grpSpPr>
            <a:xfrm flipH="1">
              <a:off x="7229508" y="5947390"/>
              <a:ext cx="205911" cy="199830"/>
              <a:chOff x="5719763" y="3063875"/>
              <a:chExt cx="752475" cy="730250"/>
            </a:xfrm>
            <a:solidFill>
              <a:schemeClr val="accent1"/>
            </a:solidFill>
          </p:grpSpPr>
          <p:sp>
            <p:nvSpPr>
              <p:cNvPr id="23" name="Oval 154"/>
              <p:cNvSpPr>
                <a:spLocks noChangeArrowheads="1"/>
              </p:cNvSpPr>
              <p:nvPr/>
            </p:nvSpPr>
            <p:spPr bwMode="auto">
              <a:xfrm>
                <a:off x="6161088" y="3098800"/>
                <a:ext cx="95250" cy="1174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Rectangle 155"/>
              <p:cNvSpPr>
                <a:spLocks noChangeArrowheads="1"/>
              </p:cNvSpPr>
              <p:nvPr/>
            </p:nvSpPr>
            <p:spPr bwMode="auto">
              <a:xfrm>
                <a:off x="6210301" y="3387725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156"/>
              <p:cNvSpPr/>
              <p:nvPr/>
            </p:nvSpPr>
            <p:spPr bwMode="auto">
              <a:xfrm>
                <a:off x="6191251" y="3235325"/>
                <a:ext cx="33338" cy="33338"/>
              </a:xfrm>
              <a:custGeom>
                <a:avLst/>
                <a:gdLst>
                  <a:gd name="T0" fmla="*/ 17 w 21"/>
                  <a:gd name="T1" fmla="*/ 0 h 21"/>
                  <a:gd name="T2" fmla="*/ 21 w 21"/>
                  <a:gd name="T3" fmla="*/ 12 h 21"/>
                  <a:gd name="T4" fmla="*/ 12 w 21"/>
                  <a:gd name="T5" fmla="*/ 21 h 21"/>
                  <a:gd name="T6" fmla="*/ 0 w 21"/>
                  <a:gd name="T7" fmla="*/ 12 h 21"/>
                  <a:gd name="T8" fmla="*/ 5 w 21"/>
                  <a:gd name="T9" fmla="*/ 0 h 21"/>
                  <a:gd name="T10" fmla="*/ 17 w 21"/>
                  <a:gd name="T11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21">
                    <a:moveTo>
                      <a:pt x="17" y="0"/>
                    </a:moveTo>
                    <a:lnTo>
                      <a:pt x="21" y="12"/>
                    </a:lnTo>
                    <a:lnTo>
                      <a:pt x="12" y="21"/>
                    </a:lnTo>
                    <a:lnTo>
                      <a:pt x="0" y="12"/>
                    </a:lnTo>
                    <a:lnTo>
                      <a:pt x="5" y="0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157"/>
              <p:cNvSpPr/>
              <p:nvPr/>
            </p:nvSpPr>
            <p:spPr bwMode="auto">
              <a:xfrm>
                <a:off x="6191251" y="3257550"/>
                <a:ext cx="33338" cy="141288"/>
              </a:xfrm>
              <a:custGeom>
                <a:avLst/>
                <a:gdLst>
                  <a:gd name="T0" fmla="*/ 19 w 21"/>
                  <a:gd name="T1" fmla="*/ 0 h 89"/>
                  <a:gd name="T2" fmla="*/ 21 w 21"/>
                  <a:gd name="T3" fmla="*/ 82 h 89"/>
                  <a:gd name="T4" fmla="*/ 12 w 21"/>
                  <a:gd name="T5" fmla="*/ 89 h 89"/>
                  <a:gd name="T6" fmla="*/ 0 w 21"/>
                  <a:gd name="T7" fmla="*/ 82 h 89"/>
                  <a:gd name="T8" fmla="*/ 5 w 21"/>
                  <a:gd name="T9" fmla="*/ 0 h 89"/>
                  <a:gd name="T10" fmla="*/ 19 w 21"/>
                  <a:gd name="T1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89">
                    <a:moveTo>
                      <a:pt x="19" y="0"/>
                    </a:moveTo>
                    <a:lnTo>
                      <a:pt x="21" y="82"/>
                    </a:lnTo>
                    <a:lnTo>
                      <a:pt x="12" y="89"/>
                    </a:lnTo>
                    <a:lnTo>
                      <a:pt x="0" y="82"/>
                    </a:lnTo>
                    <a:lnTo>
                      <a:pt x="5" y="0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Oval 158"/>
              <p:cNvSpPr>
                <a:spLocks noChangeArrowheads="1"/>
              </p:cNvSpPr>
              <p:nvPr/>
            </p:nvSpPr>
            <p:spPr bwMode="auto">
              <a:xfrm>
                <a:off x="5856288" y="3063875"/>
                <a:ext cx="111125" cy="133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Rectangle 159"/>
              <p:cNvSpPr>
                <a:spLocks noChangeArrowheads="1"/>
              </p:cNvSpPr>
              <p:nvPr/>
            </p:nvSpPr>
            <p:spPr bwMode="auto">
              <a:xfrm>
                <a:off x="5913438" y="3387725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60"/>
              <p:cNvSpPr/>
              <p:nvPr/>
            </p:nvSpPr>
            <p:spPr bwMode="auto">
              <a:xfrm>
                <a:off x="5722938" y="3322638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Rectangle 161"/>
              <p:cNvSpPr>
                <a:spLocks noChangeArrowheads="1"/>
              </p:cNvSpPr>
              <p:nvPr/>
            </p:nvSpPr>
            <p:spPr bwMode="auto">
              <a:xfrm>
                <a:off x="5913438" y="3387725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62"/>
              <p:cNvSpPr/>
              <p:nvPr/>
            </p:nvSpPr>
            <p:spPr bwMode="auto">
              <a:xfrm>
                <a:off x="5894388" y="3205163"/>
                <a:ext cx="34925" cy="41275"/>
              </a:xfrm>
              <a:custGeom>
                <a:avLst/>
                <a:gdLst>
                  <a:gd name="T0" fmla="*/ 19 w 22"/>
                  <a:gd name="T1" fmla="*/ 0 h 26"/>
                  <a:gd name="T2" fmla="*/ 22 w 22"/>
                  <a:gd name="T3" fmla="*/ 16 h 26"/>
                  <a:gd name="T4" fmla="*/ 12 w 22"/>
                  <a:gd name="T5" fmla="*/ 26 h 26"/>
                  <a:gd name="T6" fmla="*/ 0 w 22"/>
                  <a:gd name="T7" fmla="*/ 16 h 26"/>
                  <a:gd name="T8" fmla="*/ 5 w 22"/>
                  <a:gd name="T9" fmla="*/ 0 h 26"/>
                  <a:gd name="T10" fmla="*/ 19 w 22"/>
                  <a:gd name="T1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26">
                    <a:moveTo>
                      <a:pt x="19" y="0"/>
                    </a:moveTo>
                    <a:lnTo>
                      <a:pt x="22" y="16"/>
                    </a:lnTo>
                    <a:lnTo>
                      <a:pt x="12" y="26"/>
                    </a:lnTo>
                    <a:lnTo>
                      <a:pt x="0" y="16"/>
                    </a:lnTo>
                    <a:lnTo>
                      <a:pt x="5" y="0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163"/>
              <p:cNvSpPr/>
              <p:nvPr/>
            </p:nvSpPr>
            <p:spPr bwMode="auto">
              <a:xfrm>
                <a:off x="5891213" y="3235325"/>
                <a:ext cx="41275" cy="166688"/>
              </a:xfrm>
              <a:custGeom>
                <a:avLst/>
                <a:gdLst>
                  <a:gd name="T0" fmla="*/ 21 w 26"/>
                  <a:gd name="T1" fmla="*/ 0 h 105"/>
                  <a:gd name="T2" fmla="*/ 26 w 26"/>
                  <a:gd name="T3" fmla="*/ 96 h 105"/>
                  <a:gd name="T4" fmla="*/ 14 w 26"/>
                  <a:gd name="T5" fmla="*/ 105 h 105"/>
                  <a:gd name="T6" fmla="*/ 0 w 26"/>
                  <a:gd name="T7" fmla="*/ 96 h 105"/>
                  <a:gd name="T8" fmla="*/ 4 w 26"/>
                  <a:gd name="T9" fmla="*/ 0 h 105"/>
                  <a:gd name="T10" fmla="*/ 21 w 26"/>
                  <a:gd name="T11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105">
                    <a:moveTo>
                      <a:pt x="21" y="0"/>
                    </a:moveTo>
                    <a:lnTo>
                      <a:pt x="26" y="96"/>
                    </a:lnTo>
                    <a:lnTo>
                      <a:pt x="14" y="105"/>
                    </a:lnTo>
                    <a:lnTo>
                      <a:pt x="0" y="96"/>
                    </a:lnTo>
                    <a:lnTo>
                      <a:pt x="4" y="0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164"/>
              <p:cNvSpPr>
                <a:spLocks noEditPoints="1"/>
              </p:cNvSpPr>
              <p:nvPr/>
            </p:nvSpPr>
            <p:spPr bwMode="auto">
              <a:xfrm>
                <a:off x="5719763" y="3211513"/>
                <a:ext cx="373063" cy="547688"/>
              </a:xfrm>
              <a:custGeom>
                <a:avLst/>
                <a:gdLst>
                  <a:gd name="T0" fmla="*/ 60 w 98"/>
                  <a:gd name="T1" fmla="*/ 74 h 144"/>
                  <a:gd name="T2" fmla="*/ 75 w 98"/>
                  <a:gd name="T3" fmla="*/ 57 h 144"/>
                  <a:gd name="T4" fmla="*/ 74 w 98"/>
                  <a:gd name="T5" fmla="*/ 36 h 144"/>
                  <a:gd name="T6" fmla="*/ 77 w 98"/>
                  <a:gd name="T7" fmla="*/ 40 h 144"/>
                  <a:gd name="T8" fmla="*/ 78 w 98"/>
                  <a:gd name="T9" fmla="*/ 57 h 144"/>
                  <a:gd name="T10" fmla="*/ 98 w 98"/>
                  <a:gd name="T11" fmla="*/ 57 h 144"/>
                  <a:gd name="T12" fmla="*/ 92 w 98"/>
                  <a:gd name="T13" fmla="*/ 31 h 144"/>
                  <a:gd name="T14" fmla="*/ 74 w 98"/>
                  <a:gd name="T15" fmla="*/ 4 h 144"/>
                  <a:gd name="T16" fmla="*/ 63 w 98"/>
                  <a:gd name="T17" fmla="*/ 0 h 144"/>
                  <a:gd name="T18" fmla="*/ 63 w 98"/>
                  <a:gd name="T19" fmla="*/ 0 h 144"/>
                  <a:gd name="T20" fmla="*/ 69 w 98"/>
                  <a:gd name="T21" fmla="*/ 5 h 144"/>
                  <a:gd name="T22" fmla="*/ 61 w 98"/>
                  <a:gd name="T23" fmla="*/ 9 h 144"/>
                  <a:gd name="T24" fmla="*/ 65 w 98"/>
                  <a:gd name="T25" fmla="*/ 15 h 144"/>
                  <a:gd name="T26" fmla="*/ 51 w 98"/>
                  <a:gd name="T27" fmla="*/ 46 h 144"/>
                  <a:gd name="T28" fmla="*/ 51 w 98"/>
                  <a:gd name="T29" fmla="*/ 46 h 144"/>
                  <a:gd name="T30" fmla="*/ 51 w 98"/>
                  <a:gd name="T31" fmla="*/ 46 h 144"/>
                  <a:gd name="T32" fmla="*/ 51 w 98"/>
                  <a:gd name="T33" fmla="*/ 46 h 144"/>
                  <a:gd name="T34" fmla="*/ 51 w 98"/>
                  <a:gd name="T35" fmla="*/ 46 h 144"/>
                  <a:gd name="T36" fmla="*/ 36 w 98"/>
                  <a:gd name="T37" fmla="*/ 15 h 144"/>
                  <a:gd name="T38" fmla="*/ 40 w 98"/>
                  <a:gd name="T39" fmla="*/ 9 h 144"/>
                  <a:gd name="T40" fmla="*/ 33 w 98"/>
                  <a:gd name="T41" fmla="*/ 5 h 144"/>
                  <a:gd name="T42" fmla="*/ 39 w 98"/>
                  <a:gd name="T43" fmla="*/ 0 h 144"/>
                  <a:gd name="T44" fmla="*/ 39 w 98"/>
                  <a:gd name="T45" fmla="*/ 0 h 144"/>
                  <a:gd name="T46" fmla="*/ 31 w 98"/>
                  <a:gd name="T47" fmla="*/ 0 h 144"/>
                  <a:gd name="T48" fmla="*/ 25 w 98"/>
                  <a:gd name="T49" fmla="*/ 3 h 144"/>
                  <a:gd name="T50" fmla="*/ 1 w 98"/>
                  <a:gd name="T51" fmla="*/ 29 h 144"/>
                  <a:gd name="T52" fmla="*/ 1 w 98"/>
                  <a:gd name="T53" fmla="*/ 29 h 144"/>
                  <a:gd name="T54" fmla="*/ 1 w 98"/>
                  <a:gd name="T55" fmla="*/ 30 h 144"/>
                  <a:gd name="T56" fmla="*/ 0 w 98"/>
                  <a:gd name="T57" fmla="*/ 40 h 144"/>
                  <a:gd name="T58" fmla="*/ 0 w 98"/>
                  <a:gd name="T59" fmla="*/ 41 h 144"/>
                  <a:gd name="T60" fmla="*/ 0 w 98"/>
                  <a:gd name="T61" fmla="*/ 42 h 144"/>
                  <a:gd name="T62" fmla="*/ 1 w 98"/>
                  <a:gd name="T63" fmla="*/ 44 h 144"/>
                  <a:gd name="T64" fmla="*/ 3 w 98"/>
                  <a:gd name="T65" fmla="*/ 48 h 144"/>
                  <a:gd name="T66" fmla="*/ 7 w 98"/>
                  <a:gd name="T67" fmla="*/ 55 h 144"/>
                  <a:gd name="T68" fmla="*/ 15 w 98"/>
                  <a:gd name="T69" fmla="*/ 71 h 144"/>
                  <a:gd name="T70" fmla="*/ 26 w 98"/>
                  <a:gd name="T71" fmla="*/ 65 h 144"/>
                  <a:gd name="T72" fmla="*/ 26 w 98"/>
                  <a:gd name="T73" fmla="*/ 75 h 144"/>
                  <a:gd name="T74" fmla="*/ 26 w 98"/>
                  <a:gd name="T75" fmla="*/ 76 h 144"/>
                  <a:gd name="T76" fmla="*/ 28 w 98"/>
                  <a:gd name="T77" fmla="*/ 76 h 144"/>
                  <a:gd name="T78" fmla="*/ 30 w 98"/>
                  <a:gd name="T79" fmla="*/ 144 h 144"/>
                  <a:gd name="T80" fmla="*/ 50 w 98"/>
                  <a:gd name="T81" fmla="*/ 144 h 144"/>
                  <a:gd name="T82" fmla="*/ 50 w 98"/>
                  <a:gd name="T83" fmla="*/ 76 h 144"/>
                  <a:gd name="T84" fmla="*/ 52 w 98"/>
                  <a:gd name="T85" fmla="*/ 76 h 144"/>
                  <a:gd name="T86" fmla="*/ 54 w 98"/>
                  <a:gd name="T87" fmla="*/ 144 h 144"/>
                  <a:gd name="T88" fmla="*/ 60 w 98"/>
                  <a:gd name="T89" fmla="*/ 144 h 144"/>
                  <a:gd name="T90" fmla="*/ 60 w 98"/>
                  <a:gd name="T91" fmla="*/ 74 h 144"/>
                  <a:gd name="T92" fmla="*/ 27 w 98"/>
                  <a:gd name="T93" fmla="*/ 50 h 144"/>
                  <a:gd name="T94" fmla="*/ 24 w 98"/>
                  <a:gd name="T95" fmla="*/ 46 h 144"/>
                  <a:gd name="T96" fmla="*/ 20 w 98"/>
                  <a:gd name="T97" fmla="*/ 39 h 144"/>
                  <a:gd name="T98" fmla="*/ 19 w 98"/>
                  <a:gd name="T99" fmla="*/ 36 h 144"/>
                  <a:gd name="T100" fmla="*/ 27 w 98"/>
                  <a:gd name="T101" fmla="*/ 26 h 144"/>
                  <a:gd name="T102" fmla="*/ 27 w 98"/>
                  <a:gd name="T103" fmla="*/ 50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8" h="144">
                    <a:moveTo>
                      <a:pt x="60" y="74"/>
                    </a:moveTo>
                    <a:cubicBezTo>
                      <a:pt x="60" y="66"/>
                      <a:pt x="66" y="58"/>
                      <a:pt x="75" y="57"/>
                    </a:cubicBezTo>
                    <a:cubicBezTo>
                      <a:pt x="75" y="50"/>
                      <a:pt x="75" y="43"/>
                      <a:pt x="74" y="36"/>
                    </a:cubicBezTo>
                    <a:cubicBezTo>
                      <a:pt x="77" y="40"/>
                      <a:pt x="77" y="40"/>
                      <a:pt x="77" y="40"/>
                    </a:cubicBezTo>
                    <a:cubicBezTo>
                      <a:pt x="78" y="41"/>
                      <a:pt x="78" y="49"/>
                      <a:pt x="78" y="57"/>
                    </a:cubicBezTo>
                    <a:cubicBezTo>
                      <a:pt x="98" y="57"/>
                      <a:pt x="98" y="57"/>
                      <a:pt x="98" y="57"/>
                    </a:cubicBezTo>
                    <a:cubicBezTo>
                      <a:pt x="98" y="50"/>
                      <a:pt x="98" y="43"/>
                      <a:pt x="92" y="31"/>
                    </a:cubicBezTo>
                    <a:cubicBezTo>
                      <a:pt x="74" y="4"/>
                      <a:pt x="74" y="4"/>
                      <a:pt x="74" y="4"/>
                    </a:cubicBezTo>
                    <a:cubicBezTo>
                      <a:pt x="71" y="0"/>
                      <a:pt x="64" y="0"/>
                      <a:pt x="63" y="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9" y="5"/>
                      <a:pt x="69" y="5"/>
                      <a:pt x="69" y="5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5" y="15"/>
                      <a:pt x="65" y="15"/>
                      <a:pt x="65" y="15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6" y="0"/>
                      <a:pt x="31" y="0"/>
                      <a:pt x="31" y="0"/>
                    </a:cubicBezTo>
                    <a:cubicBezTo>
                      <a:pt x="29" y="1"/>
                      <a:pt x="27" y="2"/>
                      <a:pt x="25" y="3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1" y="31"/>
                      <a:pt x="0" y="40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" y="44"/>
                      <a:pt x="1" y="44"/>
                      <a:pt x="1" y="44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15" y="71"/>
                      <a:pt x="15" y="71"/>
                      <a:pt x="15" y="71"/>
                    </a:cubicBezTo>
                    <a:cubicBezTo>
                      <a:pt x="19" y="69"/>
                      <a:pt x="23" y="67"/>
                      <a:pt x="26" y="65"/>
                    </a:cubicBezTo>
                    <a:cubicBezTo>
                      <a:pt x="26" y="69"/>
                      <a:pt x="26" y="72"/>
                      <a:pt x="26" y="75"/>
                    </a:cubicBezTo>
                    <a:cubicBezTo>
                      <a:pt x="26" y="76"/>
                      <a:pt x="26" y="76"/>
                      <a:pt x="26" y="76"/>
                    </a:cubicBezTo>
                    <a:cubicBezTo>
                      <a:pt x="27" y="76"/>
                      <a:pt x="27" y="76"/>
                      <a:pt x="28" y="76"/>
                    </a:cubicBezTo>
                    <a:cubicBezTo>
                      <a:pt x="30" y="144"/>
                      <a:pt x="30" y="144"/>
                      <a:pt x="30" y="144"/>
                    </a:cubicBezTo>
                    <a:cubicBezTo>
                      <a:pt x="50" y="144"/>
                      <a:pt x="50" y="144"/>
                      <a:pt x="50" y="144"/>
                    </a:cubicBezTo>
                    <a:cubicBezTo>
                      <a:pt x="50" y="124"/>
                      <a:pt x="50" y="89"/>
                      <a:pt x="50" y="76"/>
                    </a:cubicBezTo>
                    <a:cubicBezTo>
                      <a:pt x="50" y="76"/>
                      <a:pt x="51" y="76"/>
                      <a:pt x="52" y="76"/>
                    </a:cubicBezTo>
                    <a:cubicBezTo>
                      <a:pt x="54" y="144"/>
                      <a:pt x="54" y="144"/>
                      <a:pt x="54" y="144"/>
                    </a:cubicBezTo>
                    <a:cubicBezTo>
                      <a:pt x="60" y="144"/>
                      <a:pt x="60" y="144"/>
                      <a:pt x="60" y="144"/>
                    </a:cubicBezTo>
                    <a:lnTo>
                      <a:pt x="60" y="74"/>
                    </a:lnTo>
                    <a:close/>
                    <a:moveTo>
                      <a:pt x="27" y="50"/>
                    </a:moveTo>
                    <a:cubicBezTo>
                      <a:pt x="24" y="46"/>
                      <a:pt x="24" y="46"/>
                      <a:pt x="24" y="46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7" y="26"/>
                      <a:pt x="27" y="26"/>
                      <a:pt x="27" y="26"/>
                    </a:cubicBezTo>
                    <a:cubicBezTo>
                      <a:pt x="27" y="34"/>
                      <a:pt x="27" y="42"/>
                      <a:pt x="27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165"/>
              <p:cNvSpPr/>
              <p:nvPr/>
            </p:nvSpPr>
            <p:spPr bwMode="auto">
              <a:xfrm>
                <a:off x="6099176" y="3230563"/>
                <a:ext cx="220663" cy="198438"/>
              </a:xfrm>
              <a:custGeom>
                <a:avLst/>
                <a:gdLst>
                  <a:gd name="T0" fmla="*/ 1 w 58"/>
                  <a:gd name="T1" fmla="*/ 52 h 52"/>
                  <a:gd name="T2" fmla="*/ 30 w 58"/>
                  <a:gd name="T3" fmla="*/ 52 h 52"/>
                  <a:gd name="T4" fmla="*/ 58 w 58"/>
                  <a:gd name="T5" fmla="*/ 52 h 52"/>
                  <a:gd name="T6" fmla="*/ 55 w 58"/>
                  <a:gd name="T7" fmla="*/ 8 h 52"/>
                  <a:gd name="T8" fmla="*/ 47 w 58"/>
                  <a:gd name="T9" fmla="*/ 0 h 52"/>
                  <a:gd name="T10" fmla="*/ 40 w 58"/>
                  <a:gd name="T11" fmla="*/ 0 h 52"/>
                  <a:gd name="T12" fmla="*/ 45 w 58"/>
                  <a:gd name="T13" fmla="*/ 4 h 52"/>
                  <a:gd name="T14" fmla="*/ 38 w 58"/>
                  <a:gd name="T15" fmla="*/ 8 h 52"/>
                  <a:gd name="T16" fmla="*/ 41 w 58"/>
                  <a:gd name="T17" fmla="*/ 13 h 52"/>
                  <a:gd name="T18" fmla="*/ 29 w 58"/>
                  <a:gd name="T19" fmla="*/ 41 h 52"/>
                  <a:gd name="T20" fmla="*/ 29 w 58"/>
                  <a:gd name="T21" fmla="*/ 41 h 52"/>
                  <a:gd name="T22" fmla="*/ 29 w 58"/>
                  <a:gd name="T23" fmla="*/ 41 h 52"/>
                  <a:gd name="T24" fmla="*/ 29 w 58"/>
                  <a:gd name="T25" fmla="*/ 41 h 52"/>
                  <a:gd name="T26" fmla="*/ 29 w 58"/>
                  <a:gd name="T27" fmla="*/ 41 h 52"/>
                  <a:gd name="T28" fmla="*/ 16 w 58"/>
                  <a:gd name="T29" fmla="*/ 13 h 52"/>
                  <a:gd name="T30" fmla="*/ 19 w 58"/>
                  <a:gd name="T31" fmla="*/ 8 h 52"/>
                  <a:gd name="T32" fmla="*/ 12 w 58"/>
                  <a:gd name="T33" fmla="*/ 4 h 52"/>
                  <a:gd name="T34" fmla="*/ 17 w 58"/>
                  <a:gd name="T35" fmla="*/ 0 h 52"/>
                  <a:gd name="T36" fmla="*/ 11 w 58"/>
                  <a:gd name="T37" fmla="*/ 0 h 52"/>
                  <a:gd name="T38" fmla="*/ 11 w 58"/>
                  <a:gd name="T39" fmla="*/ 0 h 52"/>
                  <a:gd name="T40" fmla="*/ 3 w 58"/>
                  <a:gd name="T41" fmla="*/ 8 h 52"/>
                  <a:gd name="T42" fmla="*/ 0 w 58"/>
                  <a:gd name="T43" fmla="*/ 52 h 52"/>
                  <a:gd name="T44" fmla="*/ 1 w 58"/>
                  <a:gd name="T45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8" h="52">
                    <a:moveTo>
                      <a:pt x="1" y="52"/>
                    </a:moveTo>
                    <a:cubicBezTo>
                      <a:pt x="30" y="52"/>
                      <a:pt x="30" y="52"/>
                      <a:pt x="30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47" y="0"/>
                      <a:pt x="44" y="0"/>
                      <a:pt x="40" y="0"/>
                    </a:cubicBezTo>
                    <a:cubicBezTo>
                      <a:pt x="45" y="4"/>
                      <a:pt x="45" y="4"/>
                      <a:pt x="45" y="4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3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0"/>
                      <a:pt x="3" y="3"/>
                      <a:pt x="3" y="8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1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166"/>
              <p:cNvSpPr/>
              <p:nvPr/>
            </p:nvSpPr>
            <p:spPr bwMode="auto">
              <a:xfrm>
                <a:off x="6019801" y="3633788"/>
                <a:ext cx="111125" cy="103188"/>
              </a:xfrm>
              <a:custGeom>
                <a:avLst/>
                <a:gdLst>
                  <a:gd name="T0" fmla="*/ 27 w 29"/>
                  <a:gd name="T1" fmla="*/ 0 h 27"/>
                  <a:gd name="T2" fmla="*/ 26 w 29"/>
                  <a:gd name="T3" fmla="*/ 0 h 27"/>
                  <a:gd name="T4" fmla="*/ 1 w 29"/>
                  <a:gd name="T5" fmla="*/ 24 h 27"/>
                  <a:gd name="T6" fmla="*/ 1 w 29"/>
                  <a:gd name="T7" fmla="*/ 27 h 27"/>
                  <a:gd name="T8" fmla="*/ 2 w 29"/>
                  <a:gd name="T9" fmla="*/ 27 h 27"/>
                  <a:gd name="T10" fmla="*/ 4 w 29"/>
                  <a:gd name="T11" fmla="*/ 27 h 27"/>
                  <a:gd name="T12" fmla="*/ 29 w 29"/>
                  <a:gd name="T13" fmla="*/ 3 h 27"/>
                  <a:gd name="T14" fmla="*/ 29 w 29"/>
                  <a:gd name="T15" fmla="*/ 0 h 27"/>
                  <a:gd name="T16" fmla="*/ 27 w 29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27">
                    <a:moveTo>
                      <a:pt x="27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5"/>
                      <a:pt x="0" y="26"/>
                      <a:pt x="1" y="27"/>
                    </a:cubicBezTo>
                    <a:cubicBezTo>
                      <a:pt x="1" y="27"/>
                      <a:pt x="2" y="27"/>
                      <a:pt x="2" y="27"/>
                    </a:cubicBezTo>
                    <a:cubicBezTo>
                      <a:pt x="3" y="27"/>
                      <a:pt x="3" y="27"/>
                      <a:pt x="4" y="27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3"/>
                      <a:pt x="29" y="1"/>
                      <a:pt x="29" y="0"/>
                    </a:cubicBezTo>
                    <a:cubicBezTo>
                      <a:pt x="28" y="0"/>
                      <a:pt x="28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167"/>
              <p:cNvSpPr>
                <a:spLocks noEditPoints="1"/>
              </p:cNvSpPr>
              <p:nvPr/>
            </p:nvSpPr>
            <p:spPr bwMode="auto">
              <a:xfrm>
                <a:off x="5967413" y="3448050"/>
                <a:ext cx="504825" cy="346075"/>
              </a:xfrm>
              <a:custGeom>
                <a:avLst/>
                <a:gdLst>
                  <a:gd name="T0" fmla="*/ 128 w 133"/>
                  <a:gd name="T1" fmla="*/ 4 h 91"/>
                  <a:gd name="T2" fmla="*/ 118 w 133"/>
                  <a:gd name="T3" fmla="*/ 0 h 91"/>
                  <a:gd name="T4" fmla="*/ 15 w 133"/>
                  <a:gd name="T5" fmla="*/ 0 h 91"/>
                  <a:gd name="T6" fmla="*/ 5 w 133"/>
                  <a:gd name="T7" fmla="*/ 4 h 91"/>
                  <a:gd name="T8" fmla="*/ 0 w 133"/>
                  <a:gd name="T9" fmla="*/ 17 h 91"/>
                  <a:gd name="T10" fmla="*/ 0 w 133"/>
                  <a:gd name="T11" fmla="*/ 75 h 91"/>
                  <a:gd name="T12" fmla="*/ 15 w 133"/>
                  <a:gd name="T13" fmla="*/ 91 h 91"/>
                  <a:gd name="T14" fmla="*/ 118 w 133"/>
                  <a:gd name="T15" fmla="*/ 91 h 91"/>
                  <a:gd name="T16" fmla="*/ 133 w 133"/>
                  <a:gd name="T17" fmla="*/ 75 h 91"/>
                  <a:gd name="T18" fmla="*/ 133 w 133"/>
                  <a:gd name="T19" fmla="*/ 17 h 91"/>
                  <a:gd name="T20" fmla="*/ 128 w 133"/>
                  <a:gd name="T21" fmla="*/ 4 h 91"/>
                  <a:gd name="T22" fmla="*/ 66 w 133"/>
                  <a:gd name="T23" fmla="*/ 50 h 91"/>
                  <a:gd name="T24" fmla="*/ 17 w 133"/>
                  <a:gd name="T25" fmla="*/ 10 h 91"/>
                  <a:gd name="T26" fmla="*/ 115 w 133"/>
                  <a:gd name="T27" fmla="*/ 10 h 91"/>
                  <a:gd name="T28" fmla="*/ 66 w 133"/>
                  <a:gd name="T29" fmla="*/ 50 h 91"/>
                  <a:gd name="T30" fmla="*/ 123 w 133"/>
                  <a:gd name="T31" fmla="*/ 75 h 91"/>
                  <a:gd name="T32" fmla="*/ 118 w 133"/>
                  <a:gd name="T33" fmla="*/ 80 h 91"/>
                  <a:gd name="T34" fmla="*/ 15 w 133"/>
                  <a:gd name="T35" fmla="*/ 80 h 91"/>
                  <a:gd name="T36" fmla="*/ 10 w 133"/>
                  <a:gd name="T37" fmla="*/ 75 h 91"/>
                  <a:gd name="T38" fmla="*/ 10 w 133"/>
                  <a:gd name="T39" fmla="*/ 17 h 91"/>
                  <a:gd name="T40" fmla="*/ 62 w 133"/>
                  <a:gd name="T41" fmla="*/ 60 h 91"/>
                  <a:gd name="T42" fmla="*/ 66 w 133"/>
                  <a:gd name="T43" fmla="*/ 61 h 91"/>
                  <a:gd name="T44" fmla="*/ 70 w 133"/>
                  <a:gd name="T45" fmla="*/ 60 h 91"/>
                  <a:gd name="T46" fmla="*/ 123 w 133"/>
                  <a:gd name="T47" fmla="*/ 17 h 91"/>
                  <a:gd name="T48" fmla="*/ 123 w 133"/>
                  <a:gd name="T49" fmla="*/ 75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3" h="91">
                    <a:moveTo>
                      <a:pt x="128" y="4"/>
                    </a:moveTo>
                    <a:cubicBezTo>
                      <a:pt x="125" y="1"/>
                      <a:pt x="121" y="0"/>
                      <a:pt x="118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2" y="0"/>
                      <a:pt x="8" y="1"/>
                      <a:pt x="5" y="4"/>
                    </a:cubicBezTo>
                    <a:cubicBezTo>
                      <a:pt x="3" y="6"/>
                      <a:pt x="0" y="11"/>
                      <a:pt x="0" y="17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1"/>
                      <a:pt x="15" y="91"/>
                    </a:cubicBezTo>
                    <a:cubicBezTo>
                      <a:pt x="118" y="91"/>
                      <a:pt x="118" y="91"/>
                      <a:pt x="118" y="91"/>
                    </a:cubicBezTo>
                    <a:cubicBezTo>
                      <a:pt x="126" y="91"/>
                      <a:pt x="133" y="84"/>
                      <a:pt x="133" y="75"/>
                    </a:cubicBezTo>
                    <a:cubicBezTo>
                      <a:pt x="133" y="17"/>
                      <a:pt x="133" y="17"/>
                      <a:pt x="133" y="17"/>
                    </a:cubicBezTo>
                    <a:cubicBezTo>
                      <a:pt x="133" y="11"/>
                      <a:pt x="130" y="6"/>
                      <a:pt x="128" y="4"/>
                    </a:cubicBezTo>
                    <a:close/>
                    <a:moveTo>
                      <a:pt x="66" y="5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115" y="10"/>
                      <a:pt x="115" y="10"/>
                      <a:pt x="115" y="10"/>
                    </a:cubicBezTo>
                    <a:lnTo>
                      <a:pt x="66" y="50"/>
                    </a:lnTo>
                    <a:close/>
                    <a:moveTo>
                      <a:pt x="123" y="75"/>
                    </a:moveTo>
                    <a:cubicBezTo>
                      <a:pt x="123" y="78"/>
                      <a:pt x="120" y="80"/>
                      <a:pt x="118" y="80"/>
                    </a:cubicBezTo>
                    <a:cubicBezTo>
                      <a:pt x="15" y="80"/>
                      <a:pt x="15" y="80"/>
                      <a:pt x="15" y="80"/>
                    </a:cubicBezTo>
                    <a:cubicBezTo>
                      <a:pt x="12" y="80"/>
                      <a:pt x="10" y="78"/>
                      <a:pt x="10" y="7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62" y="60"/>
                      <a:pt x="62" y="60"/>
                      <a:pt x="62" y="60"/>
                    </a:cubicBezTo>
                    <a:cubicBezTo>
                      <a:pt x="64" y="61"/>
                      <a:pt x="65" y="61"/>
                      <a:pt x="66" y="61"/>
                    </a:cubicBezTo>
                    <a:cubicBezTo>
                      <a:pt x="68" y="61"/>
                      <a:pt x="69" y="61"/>
                      <a:pt x="70" y="60"/>
                    </a:cubicBezTo>
                    <a:cubicBezTo>
                      <a:pt x="123" y="17"/>
                      <a:pt x="123" y="17"/>
                      <a:pt x="123" y="17"/>
                    </a:cubicBezTo>
                    <a:lnTo>
                      <a:pt x="123" y="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168"/>
              <p:cNvSpPr/>
              <p:nvPr/>
            </p:nvSpPr>
            <p:spPr bwMode="auto">
              <a:xfrm>
                <a:off x="6305551" y="3633788"/>
                <a:ext cx="114300" cy="103188"/>
              </a:xfrm>
              <a:custGeom>
                <a:avLst/>
                <a:gdLst>
                  <a:gd name="T0" fmla="*/ 26 w 30"/>
                  <a:gd name="T1" fmla="*/ 27 h 27"/>
                  <a:gd name="T2" fmla="*/ 28 w 30"/>
                  <a:gd name="T3" fmla="*/ 27 h 27"/>
                  <a:gd name="T4" fmla="*/ 29 w 30"/>
                  <a:gd name="T5" fmla="*/ 27 h 27"/>
                  <a:gd name="T6" fmla="*/ 29 w 30"/>
                  <a:gd name="T7" fmla="*/ 24 h 27"/>
                  <a:gd name="T8" fmla="*/ 4 w 30"/>
                  <a:gd name="T9" fmla="*/ 0 h 27"/>
                  <a:gd name="T10" fmla="*/ 3 w 30"/>
                  <a:gd name="T11" fmla="*/ 0 h 27"/>
                  <a:gd name="T12" fmla="*/ 1 w 30"/>
                  <a:gd name="T13" fmla="*/ 0 h 27"/>
                  <a:gd name="T14" fmla="*/ 1 w 30"/>
                  <a:gd name="T15" fmla="*/ 3 h 27"/>
                  <a:gd name="T16" fmla="*/ 26 w 30"/>
                  <a:gd name="T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27">
                    <a:moveTo>
                      <a:pt x="26" y="27"/>
                    </a:moveTo>
                    <a:cubicBezTo>
                      <a:pt x="26" y="27"/>
                      <a:pt x="27" y="27"/>
                      <a:pt x="28" y="27"/>
                    </a:cubicBezTo>
                    <a:cubicBezTo>
                      <a:pt x="28" y="27"/>
                      <a:pt x="29" y="27"/>
                      <a:pt x="29" y="27"/>
                    </a:cubicBezTo>
                    <a:cubicBezTo>
                      <a:pt x="30" y="26"/>
                      <a:pt x="30" y="25"/>
                      <a:pt x="29" y="24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0" y="1"/>
                      <a:pt x="0" y="3"/>
                      <a:pt x="1" y="3"/>
                    </a:cubicBezTo>
                    <a:lnTo>
                      <a:pt x="26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169"/>
              <p:cNvSpPr/>
              <p:nvPr/>
            </p:nvSpPr>
            <p:spPr bwMode="auto">
              <a:xfrm>
                <a:off x="6016626" y="3413125"/>
                <a:ext cx="79375" cy="57150"/>
              </a:xfrm>
              <a:custGeom>
                <a:avLst/>
                <a:gdLst>
                  <a:gd name="T0" fmla="*/ 1 w 21"/>
                  <a:gd name="T1" fmla="*/ 15 h 15"/>
                  <a:gd name="T2" fmla="*/ 21 w 21"/>
                  <a:gd name="T3" fmla="*/ 14 h 15"/>
                  <a:gd name="T4" fmla="*/ 20 w 21"/>
                  <a:gd name="T5" fmla="*/ 0 h 15"/>
                  <a:gd name="T6" fmla="*/ 0 w 21"/>
                  <a:gd name="T7" fmla="*/ 0 h 15"/>
                  <a:gd name="T8" fmla="*/ 1 w 21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15">
                    <a:moveTo>
                      <a:pt x="1" y="15"/>
                    </a:moveTo>
                    <a:cubicBezTo>
                      <a:pt x="8" y="15"/>
                      <a:pt x="14" y="14"/>
                      <a:pt x="21" y="14"/>
                    </a:cubicBezTo>
                    <a:cubicBezTo>
                      <a:pt x="20" y="8"/>
                      <a:pt x="20" y="4"/>
                      <a:pt x="2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5"/>
                      <a:pt x="1" y="11"/>
                      <a:pt x="1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51" y="2662728"/>
            <a:ext cx="1399822" cy="1399822"/>
          </a:xfrm>
          <a:prstGeom prst="rect">
            <a:avLst/>
          </a:prstGeom>
        </p:spPr>
      </p:pic>
    </p:spTree>
  </p:cSld>
  <p:clrMapOvr>
    <a:masterClrMapping/>
  </p:clrMapOvr>
  <p:transition spd="slow" advTm="0"/>
  <p:timing>
    <p:tnLst>
      <p:par>
        <p:cTn id="1" dur="indefinite" restart="never" nodeType="tmRoot"/>
      </p:par>
    </p:tnLst>
    <p:bldLst>
      <p:bldP spid="4" grpId="0" animBg="1"/>
      <p:bldP spid="5" grpId="0"/>
      <p:bldP spid="11" grpId="0"/>
      <p:bldP spid="12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2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3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4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5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6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7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8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9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0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1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2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3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4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5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6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7.xml><?xml version="1.0" encoding="utf-8"?>
<p:tagLst xmlns:p="http://schemas.openxmlformats.org/presentationml/2006/main">
  <p:tag name="MH" val="20160511170643"/>
  <p:tag name="MH_LIBRARY" val="GRAPHIC"/>
  <p:tag name="MH_TYPE" val="Other"/>
  <p:tag name="MH_ORDER" val="1"/>
</p:tagLst>
</file>

<file path=ppt/tags/tag18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1"/>
</p:tagLst>
</file>

<file path=ppt/tags/tag19.xml><?xml version="1.0" encoding="utf-8"?>
<p:tagLst xmlns:p="http://schemas.openxmlformats.org/presentationml/2006/main">
  <p:tag name="MH" val="20160511170643"/>
  <p:tag name="MH_LIBRARY" val="GRAPHIC"/>
  <p:tag name="MH_TYPE" val="Other"/>
  <p:tag name="MH_ORDER" val="2"/>
</p:tagLst>
</file>

<file path=ppt/tags/tag20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2"/>
</p:tagLst>
</file>

<file path=ppt/tags/tag21.xml><?xml version="1.0" encoding="utf-8"?>
<p:tagLst xmlns:p="http://schemas.openxmlformats.org/presentationml/2006/main">
  <p:tag name="MH" val="20160511170643"/>
  <p:tag name="MH_LIBRARY" val="GRAPHIC"/>
  <p:tag name="MH_TYPE" val="Other"/>
  <p:tag name="MH_ORDER" val="3"/>
</p:tagLst>
</file>

<file path=ppt/tags/tag22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3"/>
</p:tagLst>
</file>

<file path=ppt/tags/tag23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4"/>
</p:tagLst>
</file>

<file path=ppt/tags/tag24.xml><?xml version="1.0" encoding="utf-8"?>
<p:tagLst xmlns:p="http://schemas.openxmlformats.org/presentationml/2006/main">
  <p:tag name="MH" val="20160511170830"/>
  <p:tag name="MH_LIBRARY" val="GRAPHIC"/>
  <p:tag name="MH_TYPE" val="Text"/>
  <p:tag name="MH_ORDER" val="1"/>
  <p:tag name="KSO_WM_DIAGRAM_VIRTUALLY_FRAME" val="{&quot;height&quot;:289.35653543307086,&quot;left&quot;:147.65125984251966,&quot;top&quot;:186.49181102362203,&quot;width&quot;:664.6975590551181}"/>
</p:tagLst>
</file>

<file path=ppt/tags/tag25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1"/>
  <p:tag name="KSO_WM_DIAGRAM_VIRTUALLY_FRAME" val="{&quot;height&quot;:289.35653543307086,&quot;left&quot;:147.65125984251966,&quot;top&quot;:186.49181102362203,&quot;width&quot;:664.6975590551181}"/>
</p:tagLst>
</file>

<file path=ppt/tags/tag26.xml><?xml version="1.0" encoding="utf-8"?>
<p:tagLst xmlns:p="http://schemas.openxmlformats.org/presentationml/2006/main">
  <p:tag name="MH" val="20160511170830"/>
  <p:tag name="MH_LIBRARY" val="GRAPHIC"/>
  <p:tag name="MH_TYPE" val="Text"/>
  <p:tag name="MH_ORDER" val="2"/>
  <p:tag name="KSO_WM_DIAGRAM_VIRTUALLY_FRAME" val="{&quot;height&quot;:289.35653543307086,&quot;left&quot;:147.65125984251966,&quot;top&quot;:186.49181102362203,&quot;width&quot;:664.6975590551181}"/>
</p:tagLst>
</file>

<file path=ppt/tags/tag27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2"/>
  <p:tag name="KSO_WM_DIAGRAM_VIRTUALLY_FRAME" val="{&quot;height&quot;:289.35653543307086,&quot;left&quot;:147.65125984251966,&quot;top&quot;:186.49181102362203,&quot;width&quot;:664.6975590551181}"/>
</p:tagLst>
</file>

<file path=ppt/tags/tag28.xml><?xml version="1.0" encoding="utf-8"?>
<p:tagLst xmlns:p="http://schemas.openxmlformats.org/presentationml/2006/main">
  <p:tag name="MH" val="20160511170830"/>
  <p:tag name="MH_LIBRARY" val="GRAPHIC"/>
  <p:tag name="MH_TYPE" val="Text"/>
  <p:tag name="MH_ORDER" val="3"/>
  <p:tag name="KSO_WM_DIAGRAM_VIRTUALLY_FRAME" val="{&quot;height&quot;:289.35653543307086,&quot;left&quot;:147.65125984251966,&quot;top&quot;:186.49181102362203,&quot;width&quot;:664.6975590551181}"/>
</p:tagLst>
</file>

<file path=ppt/tags/tag29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3"/>
  <p:tag name="KSO_WM_DIAGRAM_VIRTUALLY_FRAME" val="{&quot;height&quot;:289.35653543307086,&quot;left&quot;:147.65125984251966,&quot;top&quot;:186.49181102362203,&quot;width&quot;:664.6975590551181}"/>
</p:tagLst>
</file>

<file path=ppt/tags/tag30.xml><?xml version="1.0" encoding="utf-8"?>
<p:tagLst xmlns:p="http://schemas.openxmlformats.org/presentationml/2006/main">
  <p:tag name="MH" val="20160511170830"/>
  <p:tag name="MH_LIBRARY" val="GRAPHIC"/>
  <p:tag name="MH_TYPE" val="Text"/>
  <p:tag name="MH_ORDER" val="4"/>
  <p:tag name="KSO_WM_DIAGRAM_VIRTUALLY_FRAME" val="{&quot;height&quot;:289.35653543307086,&quot;left&quot;:147.65125984251966,&quot;top&quot;:186.49181102362203,&quot;width&quot;:664.6975590551181}"/>
</p:tagLst>
</file>

<file path=ppt/tags/tag31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4"/>
  <p:tag name="KSO_WM_DIAGRAM_VIRTUALLY_FRAME" val="{&quot;height&quot;:289.35653543307086,&quot;left&quot;:147.65125984251966,&quot;top&quot;:186.49181102362203,&quot;width&quot;:664.6975590551181}"/>
</p:tagLst>
</file>

<file path=ppt/tags/tag32.xml><?xml version="1.0" encoding="utf-8"?>
<p:tagLst xmlns:p="http://schemas.openxmlformats.org/presentationml/2006/main">
  <p:tag name="MH" val="20160511170830"/>
  <p:tag name="MH_LIBRARY" val="GRAPHIC"/>
  <p:tag name="MH_TYPE" val="Text"/>
  <p:tag name="MH_ORDER" val="5"/>
  <p:tag name="KSO_WM_DIAGRAM_VIRTUALLY_FRAME" val="{&quot;height&quot;:289.35653543307086,&quot;left&quot;:147.65125984251966,&quot;top&quot;:186.49181102362203,&quot;width&quot;:664.6975590551181}"/>
</p:tagLst>
</file>

<file path=ppt/tags/tag33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5"/>
  <p:tag name="KSO_WM_DIAGRAM_VIRTUALLY_FRAME" val="{&quot;height&quot;:289.35653543307086,&quot;left&quot;:147.65125984251966,&quot;top&quot;:186.49181102362203,&quot;width&quot;:664.6975590551181}"/>
</p:tagLst>
</file>

<file path=ppt/tags/tag34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5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6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7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8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9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40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41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42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3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4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5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6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7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8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9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0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1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2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3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4.xml><?xml version="1.0" encoding="utf-8"?>
<p:tagLst xmlns:p="http://schemas.openxmlformats.org/presentationml/2006/main">
  <p:tag name="KSO_WM_DIAGRAM_VIRTUALLY_FRAME" val="{&quot;height&quot;:470.97007874015753,&quot;left&quot;:19,&quot;top&quot;:60.16677165354331,&quot;width&quot;:924.5859842519685}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07C1CC"/>
      </a:accent2>
      <a:accent3>
        <a:srgbClr val="839192"/>
      </a:accent3>
      <a:accent4>
        <a:srgbClr val="156595"/>
      </a:accent4>
      <a:accent5>
        <a:srgbClr val="FBD78D"/>
      </a:accent5>
      <a:accent6>
        <a:srgbClr val="F25237"/>
      </a:accent6>
      <a:hlink>
        <a:srgbClr val="0563C1"/>
      </a:hlink>
      <a:folHlink>
        <a:srgbClr val="954F7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1686</Words>
  <Application>WPS 演示</Application>
  <PresentationFormat>宽屏</PresentationFormat>
  <Paragraphs>325</Paragraphs>
  <Slides>28</Slides>
  <Notes>22</Notes>
  <HiddenSlides>0</HiddenSlides>
  <MMClips>2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宋体</vt:lpstr>
      <vt:lpstr>Wingdings</vt:lpstr>
      <vt:lpstr>华文行楷</vt:lpstr>
      <vt:lpstr>Mangal</vt:lpstr>
      <vt:lpstr>黑体</vt:lpstr>
      <vt:lpstr>Calibri</vt:lpstr>
      <vt:lpstr>Arial</vt:lpstr>
      <vt:lpstr>Times New Roman</vt:lpstr>
      <vt:lpstr>DejaVu Math TeX Gyre</vt:lpstr>
      <vt:lpstr>微软雅黑</vt:lpstr>
      <vt:lpstr>Arial Unicode MS</vt:lpstr>
      <vt:lpstr>Noto Sans SC</vt:lpstr>
      <vt:lpstr>Consolas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mycomputer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chenjiawei</dc:creator>
  <cp:lastModifiedBy>周佳琪</cp:lastModifiedBy>
  <cp:revision>62</cp:revision>
  <dcterms:created xsi:type="dcterms:W3CDTF">2016-05-11T01:57:00Z</dcterms:created>
  <dcterms:modified xsi:type="dcterms:W3CDTF">2026-04-15T03:50:48Z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46522DE0146E405D9889E480BF3616BE_13</vt:lpwstr>
  </property>
</Properties>
</file>