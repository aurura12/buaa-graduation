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media/image10.svg" ContentType="image/svg+xml"/>
  <ns0:Override PartName="/ppt/media/image12.svg" ContentType="image/svg+xml"/>
  <ns0:Override PartName="/ppt/media/image14.svg" ContentType="image/svg+xml"/>
  <ns0:Override PartName="/ppt/media/image5.svg" ContentType="image/svg+xml"/>
  <ns0:Override PartName="/ppt/media/image8.svg" ContentType="image/svg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tags/tag17.xml" ContentType="application/vnd.openxmlformats-officedocument.presentationml.tags+xml"/>
  <ns0:Override PartName="/ppt/tags/tag18.xml" ContentType="application/vnd.openxmlformats-officedocument.presentationml.tags+xml"/>
  <ns0:Override PartName="/ppt/tags/tag19.xml" ContentType="application/vnd.openxmlformats-officedocument.presentationml.tags+xml"/>
  <ns0:Override PartName="/ppt/tags/tag2.xml" ContentType="application/vnd.openxmlformats-officedocument.presentationml.tags+xml"/>
  <ns0:Override PartName="/ppt/tags/tag20.xml" ContentType="application/vnd.openxmlformats-officedocument.presentationml.tags+xml"/>
  <ns0:Override PartName="/ppt/tags/tag21.xml" ContentType="application/vnd.openxmlformats-officedocument.presentationml.tags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25.xml" ContentType="application/vnd.openxmlformats-officedocument.presentationml.tags+xml"/>
  <ns0:Override PartName="/ppt/tags/tag26.xml" ContentType="application/vnd.openxmlformats-officedocument.presentationml.tags+xml"/>
  <ns0:Override PartName="/ppt/tags/tag27.xml" ContentType="application/vnd.openxmlformats-officedocument.presentationml.tags+xml"/>
  <ns0:Override PartName="/ppt/tags/tag28.xml" ContentType="application/vnd.openxmlformats-officedocument.presentationml.tags+xml"/>
  <ns0:Override PartName="/ppt/tags/tag29.xml" ContentType="application/vnd.openxmlformats-officedocument.presentationml.tags+xml"/>
  <ns0:Override PartName="/ppt/tags/tag3.xml" ContentType="application/vnd.openxmlformats-officedocument.presentationml.tags+xml"/>
  <ns0:Override PartName="/ppt/tags/tag30.xml" ContentType="application/vnd.openxmlformats-officedocument.presentationml.tags+xml"/>
  <ns0:Override PartName="/ppt/tags/tag31.xml" ContentType="application/vnd.openxmlformats-officedocument.presentationml.tags+xml"/>
  <ns0:Override PartName="/ppt/tags/tag32.xml" ContentType="application/vnd.openxmlformats-officedocument.presentationml.tags+xml"/>
  <ns0:Override PartName="/ppt/tags/tag33.xml" ContentType="application/vnd.openxmlformats-officedocument.presentationml.tags+xml"/>
  <ns0:Override PartName="/ppt/tags/tag34.xml" ContentType="application/vnd.openxmlformats-officedocument.presentationml.tags+xml"/>
  <ns0:Override PartName="/ppt/tags/tag35.xml" ContentType="application/vnd.openxmlformats-officedocument.presentationml.tags+xml"/>
  <ns0:Override PartName="/ppt/tags/tag36.xml" ContentType="application/vnd.openxmlformats-officedocument.presentationml.tags+xml"/>
  <ns0:Override PartName="/ppt/tags/tag37.xml" ContentType="application/vnd.openxmlformats-officedocument.presentationml.tags+xml"/>
  <ns0:Override PartName="/ppt/tags/tag38.xml" ContentType="application/vnd.openxmlformats-officedocument.presentationml.tags+xml"/>
  <ns0:Override PartName="/ppt/tags/tag39.xml" ContentType="application/vnd.openxmlformats-officedocument.presentationml.tags+xml"/>
  <ns0:Override PartName="/ppt/tags/tag4.xml" ContentType="application/vnd.openxmlformats-officedocument.presentationml.tags+xml"/>
  <ns0:Override PartName="/ppt/tags/tag40.xml" ContentType="application/vnd.openxmlformats-officedocument.presentationml.tags+xml"/>
  <ns0:Override PartName="/ppt/tags/tag41.xml" ContentType="application/vnd.openxmlformats-officedocument.presentationml.tags+xml"/>
  <ns0:Override PartName="/ppt/tags/tag42.xml" ContentType="application/vnd.openxmlformats-officedocument.presentationml.tags+xml"/>
  <ns0:Override PartName="/ppt/tags/tag43.xml" ContentType="application/vnd.openxmlformats-officedocument.presentationml.tags+xml"/>
  <ns0:Override PartName="/ppt/tags/tag44.xml" ContentType="application/vnd.openxmlformats-officedocument.presentationml.tags+xml"/>
  <ns0:Override PartName="/ppt/tags/tag45.xml" ContentType="application/vnd.openxmlformats-officedocument.presentationml.tags+xml"/>
  <ns0:Override PartName="/ppt/tags/tag46.xml" ContentType="application/vnd.openxmlformats-officedocument.presentationml.tags+xml"/>
  <ns0:Override PartName="/ppt/tags/tag47.xml" ContentType="application/vnd.openxmlformats-officedocument.presentationml.tags+xml"/>
  <ns0:Override PartName="/ppt/tags/tag48.xml" ContentType="application/vnd.openxmlformats-officedocument.presentationml.tags+xml"/>
  <ns0:Override PartName="/ppt/tags/tag49.xml" ContentType="application/vnd.openxmlformats-officedocument.presentationml.tags+xml"/>
  <ns0:Override PartName="/ppt/tags/tag5.xml" ContentType="application/vnd.openxmlformats-officedocument.presentationml.tags+xml"/>
  <ns0:Override PartName="/ppt/tags/tag50.xml" ContentType="application/vnd.openxmlformats-officedocument.presentationml.tags+xml"/>
  <ns0:Override PartName="/ppt/tags/tag51.xml" ContentType="application/vnd.openxmlformats-officedocument.presentationml.tags+xml"/>
  <ns0:Override PartName="/ppt/tags/tag52.xml" ContentType="application/vnd.openxmlformats-officedocument.presentationml.tags+xml"/>
  <ns0:Override PartName="/ppt/tags/tag53.xml" ContentType="application/vnd.openxmlformats-officedocument.presentationml.tags+xml"/>
  <ns0:Override PartName="/ppt/tags/tag54.xml" ContentType="application/vnd.openxmlformats-officedocument.presentationml.tags+xml"/>
  <ns0:Override PartName="/ppt/tags/tag6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1" r:id="rId7"/>
    <p:sldId id="272" r:id="rId8"/>
    <p:sldId id="283" r:id="rId9"/>
    <p:sldId id="259" r:id="rId10"/>
    <p:sldId id="289" r:id="rId11"/>
    <p:sldId id="290" r:id="rId12"/>
    <p:sldId id="269" r:id="rId13"/>
    <p:sldId id="294" r:id="rId14"/>
    <p:sldId id="292" r:id="rId15"/>
    <p:sldId id="291" r:id="rId16"/>
    <p:sldId id="293" r:id="rId17"/>
    <p:sldId id="295" r:id="rId18"/>
    <p:sldId id="297" r:id="rId19"/>
    <p:sldId id="296" r:id="rId20"/>
    <p:sldId id="298" r:id="rId21"/>
    <p:sldId id="300" r:id="rId22"/>
    <p:sldId id="284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38" userDrawn="1">
          <ns3:clr>
            <a:srgbClr val="A4A3A4"/>
          </ns3:clr>
        </ns3:guide>
        <ns3:guide id="3" pos="534" userDrawn="1">
          <ns3:clr>
            <a:srgbClr val="A4A3A4"/>
          </ns3:clr>
        </ns3:guide>
        <ns3:guide id="4" pos="7152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29E7768-BB3E-418E-BA06-28C98E301195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0" autoAdjust="0"/>
    <p:restoredTop sz="92866" autoAdjust="0"/>
  </p:normalViewPr>
  <p:slideViewPr>
    <p:cSldViewPr snapToGrid="0" showGuides="1">
      <p:cViewPr varScale="1">
        <p:scale>
          <a:sx n="108" d="100"/>
          <a:sy n="108" d="100"/>
        </p:scale>
        <p:origin x="100" y="420"/>
      </p:cViewPr>
      <p:guideLst>
        <p:guide orient="horz" pos="2160"/>
        <p:guide pos="3838"/>
        <p:guide pos="534"/>
        <p:guide pos="7152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-2016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slide" Target="slides/slide6.xml" /><Relationship Id="rId8" Type="http://schemas.openxmlformats.org/officeDocument/2006/relationships/slide" Target="slides/slide5.xml" /><Relationship Id="rId7" Type="http://schemas.openxmlformats.org/officeDocument/2006/relationships/slide" Target="slides/slide4.xml" /><Relationship Id="rId6" Type="http://schemas.openxmlformats.org/officeDocument/2006/relationships/slide" Target="slides/slide3.xml" /><Relationship Id="rId5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34" Type="http://schemas.openxmlformats.org/officeDocument/2006/relationships/tableStyles" Target="tableStyles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3" Type="http://schemas.openxmlformats.org/officeDocument/2006/relationships/slide" Target="slides/slide1.xml" /><Relationship Id="rId23" Type="http://schemas.openxmlformats.org/officeDocument/2006/relationships/slide" Target="slides/slide20.xml" /><Relationship Id="rId22" Type="http://schemas.openxmlformats.org/officeDocument/2006/relationships/slide" Target="slides/slide19.xml" /><Relationship Id="rId21" Type="http://schemas.openxmlformats.org/officeDocument/2006/relationships/slide" Target="slides/slide18.xml" /><Relationship Id="rId20" Type="http://schemas.openxmlformats.org/officeDocument/2006/relationships/slide" Target="slides/slide17.xml" /><Relationship Id="rId2" Type="http://schemas.openxmlformats.org/officeDocument/2006/relationships/theme" Target="theme/theme1.xml" /><Relationship Id="rId19" Type="http://schemas.openxmlformats.org/officeDocument/2006/relationships/slide" Target="slides/slide16.xml" /><Relationship Id="rId18" Type="http://schemas.openxmlformats.org/officeDocument/2006/relationships/slide" Target="slides/slide15.xml" /><Relationship Id="rId17" Type="http://schemas.openxmlformats.org/officeDocument/2006/relationships/slide" Target="slides/slide14.xml" /><Relationship Id="rId16" Type="http://schemas.openxmlformats.org/officeDocument/2006/relationships/slide" Target="slides/slide13.xml" /><Relationship Id="rId15" Type="http://schemas.openxmlformats.org/officeDocument/2006/relationships/slide" Target="slides/slide12.xml" /><Relationship Id="rId14" Type="http://schemas.openxmlformats.org/officeDocument/2006/relationships/slide" Target="slides/slide11.xml" /><Relationship Id="rId13" Type="http://schemas.openxmlformats.org/officeDocument/2006/relationships/slide" Target="slides/slide10.xml" /><Relationship Id="rId12" Type="http://schemas.openxmlformats.org/officeDocument/2006/relationships/slide" Target="slides/slide9.xml" /><Relationship Id="rId11" Type="http://schemas.openxmlformats.org/officeDocument/2006/relationships/slide" Target="slides/slide8.xml" /><Relationship Id="rId10" Type="http://schemas.openxmlformats.org/officeDocument/2006/relationships/slide" Target="slides/slide7.xml" /><Relationship Id="rId1" Type="http://schemas.openxmlformats.org/officeDocument/2006/relationships/slideMaster" Target="slideMasters/slide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3CA76-B799-4CDE-9068-35594054F5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T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image" Target="../media/image3.png" /><Relationship Id="rId1" Type="http://schemas.openxmlformats.org/officeDocument/2006/relationships/image" Target="../media/image2.jpeg" /></Relationships>
</file>

<file path=ppt/slides/_rels/slide2.xml.rels><?xml version='1.0' encoding='utf-8'?>
<Relationships xmlns="http://schemas.openxmlformats.org/package/2006/relationships"><Relationship Id="rId9" Type="http://schemas.openxmlformats.org/officeDocument/2006/relationships/tags" Target="../tags/tag9.xml" /><Relationship Id="rId8" Type="http://schemas.openxmlformats.org/officeDocument/2006/relationships/tags" Target="../tags/tag8.xml" /><Relationship Id="rId7" Type="http://schemas.openxmlformats.org/officeDocument/2006/relationships/tags" Target="../tags/tag7.xml" /><Relationship Id="rId6" Type="http://schemas.openxmlformats.org/officeDocument/2006/relationships/tags" Target="../tags/tag6.xml" /><Relationship Id="rId5" Type="http://schemas.openxmlformats.org/officeDocument/2006/relationships/tags" Target="../tags/tag5.xml" /><Relationship Id="rId4" Type="http://schemas.openxmlformats.org/officeDocument/2006/relationships/tags" Target="../tags/tag4.xml" /><Relationship Id="rId3" Type="http://schemas.openxmlformats.org/officeDocument/2006/relationships/tags" Target="../tags/tag3.xml" /><Relationship Id="rId2" Type="http://schemas.openxmlformats.org/officeDocument/2006/relationships/tags" Target="../tags/tag2.xml" /><Relationship Id="rId17" Type="http://schemas.openxmlformats.org/officeDocument/2006/relationships/slideLayout" Target="../slideLayouts/slideLayout7.xml" /><Relationship Id="rId16" Type="http://schemas.openxmlformats.org/officeDocument/2006/relationships/tags" Target="../tags/tag16.xml" /><Relationship Id="rId15" Type="http://schemas.openxmlformats.org/officeDocument/2006/relationships/tags" Target="../tags/tag15.xml" /><Relationship Id="rId14" Type="http://schemas.openxmlformats.org/officeDocument/2006/relationships/tags" Target="../tags/tag14.xml" /><Relationship Id="rId13" Type="http://schemas.openxmlformats.org/officeDocument/2006/relationships/tags" Target="../tags/tag13.xml" /><Relationship Id="rId12" Type="http://schemas.openxmlformats.org/officeDocument/2006/relationships/tags" Target="../tags/tag12.xml" /><Relationship Id="rId11" Type="http://schemas.openxmlformats.org/officeDocument/2006/relationships/tags" Target="../tags/tag11.xml" /><Relationship Id="rId10" Type="http://schemas.openxmlformats.org/officeDocument/2006/relationships/tags" Target="../tags/tag10.xml" /><Relationship Id="rId1" Type="http://schemas.openxmlformats.org/officeDocument/2006/relationships/tags" Target="../tags/tag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'1.0' encoding='utf-8'?>
<Relationships xmlns="http://schemas.openxmlformats.org/package/2006/relationships"><Relationship Id="rId8" Type="http://schemas.openxmlformats.org/officeDocument/2006/relationships/slideLayout" Target="../slideLayouts/slideLayout7.xml" /><Relationship Id="rId7" Type="http://schemas.openxmlformats.org/officeDocument/2006/relationships/tags" Target="../tags/tag23.xml" /><Relationship Id="rId6" Type="http://schemas.openxmlformats.org/officeDocument/2006/relationships/tags" Target="../tags/tag22.xml" /><Relationship Id="rId5" Type="http://schemas.openxmlformats.org/officeDocument/2006/relationships/tags" Target="../tags/tag21.xml" /><Relationship Id="rId4" Type="http://schemas.openxmlformats.org/officeDocument/2006/relationships/tags" Target="../tags/tag20.xml" /><Relationship Id="rId3" Type="http://schemas.openxmlformats.org/officeDocument/2006/relationships/tags" Target="../tags/tag19.xml" /><Relationship Id="rId2" Type="http://schemas.openxmlformats.org/officeDocument/2006/relationships/tags" Target="../tags/tag18.xml" /><Relationship Id="rId1" Type="http://schemas.openxmlformats.org/officeDocument/2006/relationships/tags" Target="../tags/tag17.xml" /></Relationships>
</file>

<file path=ppt/slides/_rels/slide5.xml.rels><?xml version='1.0' encoding='utf-8'?>
<Relationships xmlns="http://schemas.openxmlformats.org/package/2006/relationships"><Relationship Id="rId9" Type="http://schemas.openxmlformats.org/officeDocument/2006/relationships/tags" Target="../tags/tag32.xml" /><Relationship Id="rId8" Type="http://schemas.openxmlformats.org/officeDocument/2006/relationships/tags" Target="../tags/tag31.xml" /><Relationship Id="rId7" Type="http://schemas.openxmlformats.org/officeDocument/2006/relationships/tags" Target="../tags/tag30.xml" /><Relationship Id="rId6" Type="http://schemas.openxmlformats.org/officeDocument/2006/relationships/tags" Target="../tags/tag29.xml" /><Relationship Id="rId5" Type="http://schemas.openxmlformats.org/officeDocument/2006/relationships/tags" Target="../tags/tag28.xml" /><Relationship Id="rId4" Type="http://schemas.openxmlformats.org/officeDocument/2006/relationships/tags" Target="../tags/tag27.xml" /><Relationship Id="rId3" Type="http://schemas.openxmlformats.org/officeDocument/2006/relationships/tags" Target="../tags/tag26.xml" /><Relationship Id="rId2" Type="http://schemas.openxmlformats.org/officeDocument/2006/relationships/tags" Target="../tags/tag25.xml" /><Relationship Id="rId11" Type="http://schemas.openxmlformats.org/officeDocument/2006/relationships/slideLayout" Target="../slideLayouts/slideLayout7.xml" /><Relationship Id="rId10" Type="http://schemas.openxmlformats.org/officeDocument/2006/relationships/tags" Target="../tags/tag33.xml" /><Relationship Id="rId1" Type="http://schemas.openxmlformats.org/officeDocument/2006/relationships/tags" Target="../tags/tag24.xml" /></Relationships>
</file>

<file path=ppt/slides/_rels/slide6.xml.rels><?xml version='1.0' encoding='utf-8'?>
<Relationships xmlns="http://schemas.openxmlformats.org/package/2006/relationships"><Relationship Id="rId9" Type="http://schemas.openxmlformats.org/officeDocument/2006/relationships/image" Target="../media/image12.svg" /><Relationship Id="rId8" Type="http://schemas.openxmlformats.org/officeDocument/2006/relationships/image" Target="../media/image11.png" /><Relationship Id="rId7" Type="http://schemas.openxmlformats.org/officeDocument/2006/relationships/image" Target="../media/image10.svg" /><Relationship Id="rId6" Type="http://schemas.openxmlformats.org/officeDocument/2006/relationships/image" Target="../media/image9.png" /><Relationship Id="rId5" Type="http://schemas.openxmlformats.org/officeDocument/2006/relationships/image" Target="../media/image8.svg" /><Relationship Id="rId4" Type="http://schemas.openxmlformats.org/officeDocument/2006/relationships/image" Target="../media/image7.png" /><Relationship Id="rId3" Type="http://schemas.openxmlformats.org/officeDocument/2006/relationships/image" Target="../media/image6.png" /><Relationship Id="rId2" Type="http://schemas.openxmlformats.org/officeDocument/2006/relationships/image" Target="../media/image5.svg" /><Relationship Id="rId12" Type="http://schemas.openxmlformats.org/officeDocument/2006/relationships/slideLayout" Target="../slideLayouts/slideLayout7.xml" /><Relationship Id="rId11" Type="http://schemas.openxmlformats.org/officeDocument/2006/relationships/image" Target="../media/image14.svg" /><Relationship Id="rId10" Type="http://schemas.openxmlformats.org/officeDocument/2006/relationships/image" Target="../media/image13.png" /><Relationship Id="rId1" Type="http://schemas.openxmlformats.org/officeDocument/2006/relationships/image" Target="../media/image4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defense_image3.png" /></Relationships>
</file>

<file path=ppt/slides/_rels/slide8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15.png" /><Relationship Id="rId3" Type="http://schemas.openxmlformats.org/officeDocument/2006/relationships/image" Target="../media/defense_image14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9" Type="http://schemas.openxmlformats.org/officeDocument/2006/relationships/tags" Target="../tags/tag40.xml" /><Relationship Id="rId8" Type="http://schemas.openxmlformats.org/officeDocument/2006/relationships/image" Target="../media/image17.png" /><Relationship Id="rId7" Type="http://schemas.openxmlformats.org/officeDocument/2006/relationships/tags" Target="../tags/tag39.xml" /><Relationship Id="rId6" Type="http://schemas.openxmlformats.org/officeDocument/2006/relationships/image" Target="../media/image16.png" /><Relationship Id="rId5" Type="http://schemas.openxmlformats.org/officeDocument/2006/relationships/tags" Target="../tags/tag38.xml" /><Relationship Id="rId4" Type="http://schemas.openxmlformats.org/officeDocument/2006/relationships/tags" Target="../tags/tag37.xml" /><Relationship Id="rId3" Type="http://schemas.openxmlformats.org/officeDocument/2006/relationships/tags" Target="../tags/tag36.xml" /><Relationship Id="rId2" Type="http://schemas.openxmlformats.org/officeDocument/2006/relationships/tags" Target="../tags/tag35.xml" /><Relationship Id="rId13" Type="http://schemas.openxmlformats.org/officeDocument/2006/relationships/slideLayout" Target="../slideLayouts/slideLayout7.xml" /><Relationship Id="rId12" Type="http://schemas.openxmlformats.org/officeDocument/2006/relationships/image" Target="../media/image19.png" /><Relationship Id="rId11" Type="http://schemas.openxmlformats.org/officeDocument/2006/relationships/tags" Target="../tags/tag41.xml" /><Relationship Id="rId10" Type="http://schemas.openxmlformats.org/officeDocument/2006/relationships/image" Target="../media/image18.png" /><Relationship Id="rId1" Type="http://schemas.openxmlformats.org/officeDocument/2006/relationships/tags" Target="../tags/tag34.xml" /></Relationships>
</file>

<file path=ppt/slides/_rels/slide11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20.png" /></Relationships>
</file>

<file path=ppt/slides/_rels/slide12.xml.rels><?xml version='1.0' encoding='utf-8'?>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image" Target="../media/image22.png" /><Relationship Id="rId1" Type="http://schemas.openxmlformats.org/officeDocument/2006/relationships/image" Target="../media/image21.png" /></Relationships>
</file>

<file path=ppt/slides/_rels/slide13.xml.rels><?xml version='1.0' encoding='utf-8'?>
<Relationships xmlns="http://schemas.openxmlformats.org/package/2006/relationships"><Relationship Id="rId9" Type="http://schemas.openxmlformats.org/officeDocument/2006/relationships/tags" Target="../tags/tag47.xml" /><Relationship Id="rId8" Type="http://schemas.openxmlformats.org/officeDocument/2006/relationships/tags" Target="../tags/tag46.xml" /><Relationship Id="rId7" Type="http://schemas.openxmlformats.org/officeDocument/2006/relationships/tags" Target="../tags/tag45.xml" /><Relationship Id="rId6" Type="http://schemas.openxmlformats.org/officeDocument/2006/relationships/image" Target="../media/image25.png" /><Relationship Id="rId5" Type="http://schemas.openxmlformats.org/officeDocument/2006/relationships/tags" Target="../tags/tag44.xml" /><Relationship Id="rId4" Type="http://schemas.openxmlformats.org/officeDocument/2006/relationships/image" Target="../media/image24.png" /><Relationship Id="rId3" Type="http://schemas.openxmlformats.org/officeDocument/2006/relationships/tags" Target="../tags/tag43.xml" /><Relationship Id="rId2" Type="http://schemas.openxmlformats.org/officeDocument/2006/relationships/image" Target="../media/image23.png" /><Relationship Id="rId19" Type="http://schemas.openxmlformats.org/officeDocument/2006/relationships/slideLayout" Target="../slideLayouts/slideLayout7.xml" /><Relationship Id="rId18" Type="http://schemas.openxmlformats.org/officeDocument/2006/relationships/image" Target="../media/image28.png" /><Relationship Id="rId17" Type="http://schemas.openxmlformats.org/officeDocument/2006/relationships/tags" Target="../tags/tag53.xml" /><Relationship Id="rId16" Type="http://schemas.openxmlformats.org/officeDocument/2006/relationships/image" Target="../media/image27.png" /><Relationship Id="rId15" Type="http://schemas.openxmlformats.org/officeDocument/2006/relationships/tags" Target="../tags/tag52.xml" /><Relationship Id="rId14" Type="http://schemas.openxmlformats.org/officeDocument/2006/relationships/image" Target="../media/image26.png" /><Relationship Id="rId13" Type="http://schemas.openxmlformats.org/officeDocument/2006/relationships/tags" Target="../tags/tag51.xml" /><Relationship Id="rId12" Type="http://schemas.openxmlformats.org/officeDocument/2006/relationships/tags" Target="../tags/tag50.xml" /><Relationship Id="rId11" Type="http://schemas.openxmlformats.org/officeDocument/2006/relationships/tags" Target="../tags/tag49.xml" /><Relationship Id="rId10" Type="http://schemas.openxmlformats.org/officeDocument/2006/relationships/tags" Target="../tags/tag48.xml" /><Relationship Id="rId1" Type="http://schemas.openxmlformats.org/officeDocument/2006/relationships/tags" Target="../tags/tag42.xml" /><Relationship Id="rId20" Type="http://schemas.openxmlformats.org/officeDocument/2006/relationships/image" Target="../media/defense_image5.png" /><Relationship Id="rId21" Type="http://schemas.openxmlformats.org/officeDocument/2006/relationships/image" Target="../media/defense_image6.png" /></Relationships>
</file>

<file path=ppt/slides/_rels/slide14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29.png" /><Relationship Id="rId3" Type="http://schemas.openxmlformats.org/officeDocument/2006/relationships/image" Target="../media/defense_image9.png" /><Relationship Id="rId4" Type="http://schemas.openxmlformats.org/officeDocument/2006/relationships/image" Target="../media/defense_image10.png" /></Relationships>
</file>

<file path=ppt/slides/_rels/slide15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0.png" /><Relationship Id="rId3" Type="http://schemas.openxmlformats.org/officeDocument/2006/relationships/image" Target="../media/defense_image11.png" /></Relationships>
</file>

<file path=ppt/slides/_rels/slide16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1.png" /><Relationship Id="rId3" Type="http://schemas.openxmlformats.org/officeDocument/2006/relationships/image" Target="../media/defense_image12.png" /></Relationships>
</file>

<file path=ppt/slides/_rels/slide17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2.png" /><Relationship Id="rId3" Type="http://schemas.openxmlformats.org/officeDocument/2006/relationships/image" Target="../media/defense_image13.png" /></Relationships>
</file>

<file path=ppt/slides/_rels/slide18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3.png" /></Relationships>
</file>

<file path=ppt/slides/_rels/slide19.xml.rels><?xml version='1.0' encoding='utf-8'?>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image" Target="../media/image35.png" /><Relationship Id="rId1" Type="http://schemas.openxmlformats.org/officeDocument/2006/relationships/image" Target="../media/image34.png" /></Relationships>
</file>

<file path=ppt/slides/_rels/slide20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6.png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9002" name="Rect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03" name="Rect"/>
          <p:cNvSpPr/>
          <p:nvPr/>
        </p:nvSpPr>
        <p:spPr>
          <a:xfrm>
            <a:off x="2788920" y="0"/>
            <a:ext cx="73152" cy="68580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04" name="Text"/>
          <p:cNvSpPr txBox="1"/>
          <p:nvPr/>
        </p:nvSpPr>
        <p:spPr>
          <a:xfrm>
            <a:off x="438912" y="594360"/>
            <a:ext cx="2011680" cy="4572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500" b="1">
                <a:solidFill>
                  <a:srgbClr val="FFFFFF"/>
                </a:solidFill>
                <a:latin typeface="Microsoft YaHei"/>
                <a:ea typeface="Microsoft YaHei"/>
              </a:rPr>
              <a:t>BUAA</a:t>
            </a:r>
          </a:p>
        </p:txBody>
      </p:sp>
      <p:sp>
        <p:nvSpPr>
          <p:cNvPr id="9005" name="Text"/>
          <p:cNvSpPr txBox="1"/>
          <p:nvPr/>
        </p:nvSpPr>
        <p:spPr>
          <a:xfrm>
            <a:off x="384048" y="1078992"/>
            <a:ext cx="214884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本科毕业设计答辩</a:t>
            </a:r>
          </a:p>
        </p:txBody>
      </p:sp>
      <p:sp>
        <p:nvSpPr>
          <p:cNvPr id="9006" name="Text"/>
          <p:cNvSpPr txBox="1"/>
          <p:nvPr/>
        </p:nvSpPr>
        <p:spPr>
          <a:xfrm>
            <a:off x="3474720" y="1938528"/>
            <a:ext cx="7589520" cy="105156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3400" b="1">
                <a:solidFill>
                  <a:srgbClr val="17365D"/>
                </a:solidFill>
                <a:latin typeface="Microsoft YaHei"/>
                <a:ea typeface="Microsoft YaHei"/>
              </a:rPr>
              <a:t>基于大模型的交通智能体设计与实现</a:t>
            </a:r>
          </a:p>
        </p:txBody>
      </p:sp>
      <p:sp>
        <p:nvSpPr>
          <p:cNvPr id="9007" name="Rect"/>
          <p:cNvSpPr/>
          <p:nvPr/>
        </p:nvSpPr>
        <p:spPr>
          <a:xfrm>
            <a:off x="3529584" y="3218688"/>
            <a:ext cx="1874519" cy="54864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08" name="Text"/>
          <p:cNvSpPr txBox="1"/>
          <p:nvPr/>
        </p:nvSpPr>
        <p:spPr>
          <a:xfrm>
            <a:off x="3474720" y="3712463"/>
            <a:ext cx="2011680" cy="32004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答辩人：周佳琪</a:t>
            </a:r>
          </a:p>
        </p:txBody>
      </p:sp>
      <p:sp>
        <p:nvSpPr>
          <p:cNvPr id="9009" name="Text"/>
          <p:cNvSpPr txBox="1"/>
          <p:nvPr/>
        </p:nvSpPr>
        <p:spPr>
          <a:xfrm>
            <a:off x="5486400" y="3712463"/>
            <a:ext cx="2011680" cy="32004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导师：王静远</a:t>
            </a:r>
          </a:p>
        </p:txBody>
      </p:sp>
      <p:sp>
        <p:nvSpPr>
          <p:cNvPr id="9010" name="Text"/>
          <p:cNvSpPr txBox="1"/>
          <p:nvPr/>
        </p:nvSpPr>
        <p:spPr>
          <a:xfrm>
            <a:off x="3474720" y="4133087"/>
            <a:ext cx="4114800" cy="29260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400">
                <a:solidFill>
                  <a:srgbClr val="6B7280"/>
                </a:solidFill>
                <a:latin typeface="Microsoft YaHei"/>
                <a:ea typeface="Microsoft YaHei"/>
              </a:rPr>
              <a:t>计算机科学与技术  计算机学院</a:t>
            </a:r>
          </a:p>
        </p:txBody>
      </p:sp>
      <p:sp>
        <p:nvSpPr>
          <p:cNvPr id="9011" name="Text"/>
          <p:cNvSpPr txBox="1"/>
          <p:nvPr/>
        </p:nvSpPr>
        <p:spPr>
          <a:xfrm>
            <a:off x="3474720" y="4480560"/>
            <a:ext cx="2743200" cy="25603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2026 年 6 月</a:t>
            </a:r>
          </a:p>
        </p:txBody>
      </p:sp>
      <p:sp>
        <p:nvSpPr>
          <p:cNvPr id="9012" name="Text"/>
          <p:cNvSpPr txBox="1"/>
          <p:nvPr/>
        </p:nvSpPr>
        <p:spPr>
          <a:xfrm>
            <a:off x="9281160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3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9014" name="Rect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15" name="Text"/>
          <p:cNvSpPr txBox="1"/>
          <p:nvPr/>
        </p:nvSpPr>
        <p:spPr>
          <a:xfrm>
            <a:off x="658368" y="1051560"/>
            <a:ext cx="2743200" cy="59436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CONTENTS</a:t>
            </a:r>
          </a:p>
        </p:txBody>
      </p:sp>
      <p:sp>
        <p:nvSpPr>
          <p:cNvPr id="9016" name="Text"/>
          <p:cNvSpPr txBox="1"/>
          <p:nvPr/>
        </p:nvSpPr>
        <p:spPr>
          <a:xfrm>
            <a:off x="713232" y="1737360"/>
            <a:ext cx="1920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9017" name="Rect"/>
          <p:cNvSpPr/>
          <p:nvPr/>
        </p:nvSpPr>
        <p:spPr>
          <a:xfrm>
            <a:off x="731520" y="2304288"/>
            <a:ext cx="1188720" cy="5029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18" name="Text"/>
          <p:cNvSpPr txBox="1"/>
          <p:nvPr/>
        </p:nvSpPr>
        <p:spPr>
          <a:xfrm>
            <a:off x="4370832" y="1389888"/>
            <a:ext cx="5029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019" name="Text"/>
          <p:cNvSpPr txBox="1"/>
          <p:nvPr/>
        </p:nvSpPr>
        <p:spPr>
          <a:xfrm>
            <a:off x="5166360" y="1389888"/>
            <a:ext cx="4389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200" b="1">
                <a:solidFill>
                  <a:srgbClr val="24364B"/>
                </a:solidFill>
                <a:latin typeface="Microsoft YaHei"/>
                <a:ea typeface="Microsoft YaHei"/>
              </a:rPr>
              <a:t>研究背景与目标</a:t>
            </a:r>
          </a:p>
        </p:txBody>
      </p:sp>
      <p:sp>
        <p:nvSpPr>
          <p:cNvPr id="9020" name="Rect"/>
          <p:cNvSpPr/>
          <p:nvPr/>
        </p:nvSpPr>
        <p:spPr>
          <a:xfrm>
            <a:off x="5148072" y="1865376"/>
            <a:ext cx="3840480" cy="18288"/>
          </a:xfrm>
          <a:prstGeom prst="rect">
            <a:avLst/>
          </a:prstGeom>
          <a:solidFill>
            <a:srgbClr val="D7E3EA"/>
          </a:solidFill>
          <a:ln>
            <a:noFill/>
          </a:ln>
        </p:spPr>
      </p:sp>
      <p:sp>
        <p:nvSpPr>
          <p:cNvPr id="9021" name="Text"/>
          <p:cNvSpPr txBox="1"/>
          <p:nvPr/>
        </p:nvSpPr>
        <p:spPr>
          <a:xfrm>
            <a:off x="4370832" y="2423160"/>
            <a:ext cx="5029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9022" name="Text"/>
          <p:cNvSpPr txBox="1"/>
          <p:nvPr/>
        </p:nvSpPr>
        <p:spPr>
          <a:xfrm>
            <a:off x="5166360" y="2423160"/>
            <a:ext cx="4389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200" b="1">
                <a:solidFill>
                  <a:srgbClr val="24364B"/>
                </a:solidFill>
                <a:latin typeface="Microsoft YaHei"/>
                <a:ea typeface="Microsoft YaHei"/>
              </a:rPr>
              <a:t>系统设计与实现</a:t>
            </a:r>
          </a:p>
        </p:txBody>
      </p:sp>
      <p:sp>
        <p:nvSpPr>
          <p:cNvPr id="9023" name="Rect"/>
          <p:cNvSpPr/>
          <p:nvPr/>
        </p:nvSpPr>
        <p:spPr>
          <a:xfrm>
            <a:off x="5148072" y="2898648"/>
            <a:ext cx="3840480" cy="18288"/>
          </a:xfrm>
          <a:prstGeom prst="rect">
            <a:avLst/>
          </a:prstGeom>
          <a:solidFill>
            <a:srgbClr val="D7E3EA"/>
          </a:solidFill>
          <a:ln>
            <a:noFill/>
          </a:ln>
        </p:spPr>
      </p:sp>
      <p:sp>
        <p:nvSpPr>
          <p:cNvPr id="9024" name="Text"/>
          <p:cNvSpPr txBox="1"/>
          <p:nvPr/>
        </p:nvSpPr>
        <p:spPr>
          <a:xfrm>
            <a:off x="4370832" y="3456432"/>
            <a:ext cx="5029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9025" name="Text"/>
          <p:cNvSpPr txBox="1"/>
          <p:nvPr/>
        </p:nvSpPr>
        <p:spPr>
          <a:xfrm>
            <a:off x="5166360" y="3456432"/>
            <a:ext cx="4389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200" b="1">
                <a:solidFill>
                  <a:srgbClr val="24364B"/>
                </a:solidFill>
                <a:latin typeface="Microsoft YaHei"/>
                <a:ea typeface="Microsoft YaHei"/>
              </a:rPr>
              <a:t>实验结果与分析</a:t>
            </a:r>
          </a:p>
        </p:txBody>
      </p:sp>
      <p:sp>
        <p:nvSpPr>
          <p:cNvPr id="9026" name="Rect"/>
          <p:cNvSpPr/>
          <p:nvPr/>
        </p:nvSpPr>
        <p:spPr>
          <a:xfrm>
            <a:off x="5148072" y="3931920"/>
            <a:ext cx="3840480" cy="18288"/>
          </a:xfrm>
          <a:prstGeom prst="rect">
            <a:avLst/>
          </a:prstGeom>
          <a:solidFill>
            <a:srgbClr val="D7E3EA"/>
          </a:solidFill>
          <a:ln>
            <a:noFill/>
          </a:ln>
        </p:spPr>
      </p:sp>
      <p:sp>
        <p:nvSpPr>
          <p:cNvPr id="9027" name="Text"/>
          <p:cNvSpPr txBox="1"/>
          <p:nvPr/>
        </p:nvSpPr>
        <p:spPr>
          <a:xfrm>
            <a:off x="4370832" y="4489704"/>
            <a:ext cx="5029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028" name="Text"/>
          <p:cNvSpPr txBox="1"/>
          <p:nvPr/>
        </p:nvSpPr>
        <p:spPr>
          <a:xfrm>
            <a:off x="5166360" y="4489704"/>
            <a:ext cx="4389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200" b="1">
                <a:solidFill>
                  <a:srgbClr val="24364B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9029" name="Rect"/>
          <p:cNvSpPr/>
          <p:nvPr/>
        </p:nvSpPr>
        <p:spPr>
          <a:xfrm>
            <a:off x="5148072" y="4965192"/>
            <a:ext cx="3840480" cy="18288"/>
          </a:xfrm>
          <a:prstGeom prst="rect">
            <a:avLst/>
          </a:prstGeom>
          <a:solidFill>
            <a:srgbClr val="D7E3EA"/>
          </a:solidFill>
          <a:ln>
            <a:noFill/>
          </a:ln>
        </p:spPr>
      </p:sp>
      <p:sp>
        <p:nvSpPr>
          <p:cNvPr id="9030" name="Text"/>
          <p:cNvSpPr txBox="1"/>
          <p:nvPr/>
        </p:nvSpPr>
        <p:spPr>
          <a:xfrm>
            <a:off x="9098280" y="6263640"/>
            <a:ext cx="228600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r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德才兼备  知行合一</a:t>
            </a:r>
          </a:p>
        </p:txBody>
      </p:sp>
    </p:spTree>
  </p:cSld>
  <p:clrMapOvr>
    <a:masterClrMapping/>
  </p:clrMapOvr>
  <p:transition spd="slow" advTm="0"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32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33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9034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035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研究背景</a:t>
            </a:r>
          </a:p>
        </p:txBody>
      </p:sp>
      <p:sp>
        <p:nvSpPr>
          <p:cNvPr id="9036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37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为什么要做这个题</a:t>
            </a:r>
          </a:p>
        </p:txBody>
      </p:sp>
      <p:sp>
        <p:nvSpPr>
          <p:cNvPr id="9038" name="Rect"/>
          <p:cNvSpPr/>
          <p:nvPr/>
        </p:nvSpPr>
        <p:spPr>
          <a:xfrm>
            <a:off x="1170432" y="1426464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39" name="Text"/>
          <p:cNvSpPr txBox="1"/>
          <p:nvPr/>
        </p:nvSpPr>
        <p:spPr>
          <a:xfrm>
            <a:off x="1426464" y="1298448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交通系统每天都会产生大量传感器数据。</a:t>
            </a:r>
          </a:p>
        </p:txBody>
      </p:sp>
      <p:sp>
        <p:nvSpPr>
          <p:cNvPr id="9040" name="Rect"/>
          <p:cNvSpPr/>
          <p:nvPr/>
        </p:nvSpPr>
        <p:spPr>
          <a:xfrm>
            <a:off x="1170432" y="19568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41" name="Text"/>
          <p:cNvSpPr txBox="1"/>
          <p:nvPr/>
        </p:nvSpPr>
        <p:spPr>
          <a:xfrm>
            <a:off x="1426464" y="1828800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这些数据有流量、占有率和车速，但是用户想问的是路况。</a:t>
            </a:r>
          </a:p>
        </p:txBody>
      </p:sp>
      <p:sp>
        <p:nvSpPr>
          <p:cNvPr id="9042" name="Rect"/>
          <p:cNvSpPr/>
          <p:nvPr/>
        </p:nvSpPr>
        <p:spPr>
          <a:xfrm>
            <a:off x="1170432" y="24871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43" name="Text"/>
          <p:cNvSpPr txBox="1"/>
          <p:nvPr/>
        </p:nvSpPr>
        <p:spPr>
          <a:xfrm>
            <a:off x="1426464" y="2359152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传统报表需要先选点位、再选时间，使用门槛比较高。</a:t>
            </a:r>
          </a:p>
        </p:txBody>
      </p:sp>
      <p:sp>
        <p:nvSpPr>
          <p:cNvPr id="9044" name="Rect"/>
          <p:cNvSpPr/>
          <p:nvPr/>
        </p:nvSpPr>
        <p:spPr>
          <a:xfrm>
            <a:off x="1170432" y="30175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45" name="Text"/>
          <p:cNvSpPr txBox="1"/>
          <p:nvPr/>
        </p:nvSpPr>
        <p:spPr>
          <a:xfrm>
            <a:off x="1426464" y="2889503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我希望把一句自然语言问题，直接转成一次交通分析任务。</a:t>
            </a:r>
          </a:p>
        </p:txBody>
      </p:sp>
    </p:spTree>
  </p:cSld>
  <p:clrMapOvr>
    <a:masterClrMapping/>
  </p:clrMapOvr>
  <p:transition spd="slow" advTm="0"/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6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47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48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049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050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9051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52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我要让系统做到什么</a:t>
            </a:r>
          </a:p>
        </p:txBody>
      </p:sp>
      <p:sp>
        <p:nvSpPr>
          <p:cNvPr id="9053" name="Rect"/>
          <p:cNvSpPr/>
          <p:nvPr/>
        </p:nvSpPr>
        <p:spPr>
          <a:xfrm>
            <a:off x="914400" y="136245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54" name="Text"/>
          <p:cNvSpPr txBox="1"/>
          <p:nvPr/>
        </p:nvSpPr>
        <p:spPr>
          <a:xfrm>
            <a:off x="1170432" y="1234440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用户可以直接说“查一下 1 号传感器上午十点的流量”。</a:t>
            </a:r>
          </a:p>
        </p:txBody>
      </p:sp>
      <p:sp>
        <p:nvSpPr>
          <p:cNvPr id="9055" name="Rect"/>
          <p:cNvSpPr/>
          <p:nvPr/>
        </p:nvSpPr>
        <p:spPr>
          <a:xfrm>
            <a:off x="914400" y="189280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56" name="Text"/>
          <p:cNvSpPr txBox="1"/>
          <p:nvPr/>
        </p:nvSpPr>
        <p:spPr>
          <a:xfrm>
            <a:off x="1170432" y="1764792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智能体把这句话转成 entity_id 和 time 两个参数。</a:t>
            </a:r>
          </a:p>
        </p:txBody>
      </p:sp>
      <p:sp>
        <p:nvSpPr>
          <p:cNvPr id="9057" name="Rect"/>
          <p:cNvSpPr/>
          <p:nvPr/>
        </p:nvSpPr>
        <p:spPr>
          <a:xfrm>
            <a:off x="914400" y="242316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58" name="Text"/>
          <p:cNvSpPr txBox="1"/>
          <p:nvPr/>
        </p:nvSpPr>
        <p:spPr>
          <a:xfrm>
            <a:off x="1170432" y="2295144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系统根据问题自动选择查询、分析或预测工具。</a:t>
            </a:r>
          </a:p>
        </p:txBody>
      </p:sp>
      <p:sp>
        <p:nvSpPr>
          <p:cNvPr id="9059" name="Rect"/>
          <p:cNvSpPr/>
          <p:nvPr/>
        </p:nvSpPr>
        <p:spPr>
          <a:xfrm>
            <a:off x="914400" y="295351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60" name="Text"/>
          <p:cNvSpPr txBox="1"/>
          <p:nvPr/>
        </p:nvSpPr>
        <p:spPr>
          <a:xfrm>
            <a:off x="1170432" y="2825496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最后结果不是一串 JSON，而是一段能读懂的中文报告。</a:t>
            </a:r>
          </a:p>
        </p:txBody>
      </p:sp>
      <p:sp>
        <p:nvSpPr>
          <p:cNvPr id="9061" name="Rect"/>
          <p:cNvSpPr/>
          <p:nvPr/>
        </p:nvSpPr>
        <p:spPr>
          <a:xfrm>
            <a:off x="6080760" y="1234440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062" name="Text"/>
          <p:cNvSpPr txBox="1"/>
          <p:nvPr/>
        </p:nvSpPr>
        <p:spPr>
          <a:xfrm>
            <a:off x="6217920" y="1344168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查询</a:t>
            </a:r>
          </a:p>
        </p:txBody>
      </p:sp>
      <p:sp>
        <p:nvSpPr>
          <p:cNvPr id="9063" name="Text"/>
          <p:cNvSpPr txBox="1"/>
          <p:nvPr/>
        </p:nvSpPr>
        <p:spPr>
          <a:xfrm>
            <a:off x="6217920" y="1618488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simple_query</a:t>
            </a:r>
          </a:p>
        </p:txBody>
      </p:sp>
      <p:sp>
        <p:nvSpPr>
          <p:cNvPr id="9064" name="Text"/>
          <p:cNvSpPr txBox="1"/>
          <p:nvPr/>
        </p:nvSpPr>
        <p:spPr>
          <a:xfrm>
            <a:off x="6217920" y="2039112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单点交通状态</a:t>
            </a:r>
          </a:p>
        </p:txBody>
      </p:sp>
      <p:sp>
        <p:nvSpPr>
          <p:cNvPr id="9065" name="Rect"/>
          <p:cNvSpPr/>
          <p:nvPr/>
        </p:nvSpPr>
        <p:spPr>
          <a:xfrm>
            <a:off x="6080760" y="2532888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066" name="Text"/>
          <p:cNvSpPr txBox="1"/>
          <p:nvPr/>
        </p:nvSpPr>
        <p:spPr>
          <a:xfrm>
            <a:off x="6217920" y="2642616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分析</a:t>
            </a:r>
          </a:p>
        </p:txBody>
      </p:sp>
      <p:sp>
        <p:nvSpPr>
          <p:cNvPr id="9067" name="Text"/>
          <p:cNvSpPr txBox="1"/>
          <p:nvPr/>
        </p:nvSpPr>
        <p:spPr>
          <a:xfrm>
            <a:off x="6217920" y="2916936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deep_analysis</a:t>
            </a:r>
          </a:p>
        </p:txBody>
      </p:sp>
      <p:sp>
        <p:nvSpPr>
          <p:cNvPr id="9068" name="Text"/>
          <p:cNvSpPr txBox="1"/>
          <p:nvPr/>
        </p:nvSpPr>
        <p:spPr>
          <a:xfrm>
            <a:off x="6217920" y="3337560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历史趋势研判</a:t>
            </a:r>
          </a:p>
        </p:txBody>
      </p:sp>
      <p:sp>
        <p:nvSpPr>
          <p:cNvPr id="9069" name="Rect"/>
          <p:cNvSpPr/>
          <p:nvPr/>
        </p:nvSpPr>
        <p:spPr>
          <a:xfrm>
            <a:off x="6080760" y="3831335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070" name="Text"/>
          <p:cNvSpPr txBox="1"/>
          <p:nvPr/>
        </p:nvSpPr>
        <p:spPr>
          <a:xfrm>
            <a:off x="6217920" y="3941063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预测</a:t>
            </a:r>
          </a:p>
        </p:txBody>
      </p:sp>
      <p:sp>
        <p:nvSpPr>
          <p:cNvPr id="9071" name="Text"/>
          <p:cNvSpPr txBox="1"/>
          <p:nvPr/>
        </p:nvSpPr>
        <p:spPr>
          <a:xfrm>
            <a:off x="6217920" y="4215383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predict_traffic</a:t>
            </a:r>
          </a:p>
        </p:txBody>
      </p:sp>
      <p:sp>
        <p:nvSpPr>
          <p:cNvPr id="9072" name="Text"/>
          <p:cNvSpPr txBox="1"/>
          <p:nvPr/>
        </p:nvSpPr>
        <p:spPr>
          <a:xfrm>
            <a:off x="6217920" y="4636007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未来流量外推</a:t>
            </a:r>
          </a:p>
        </p:txBody>
      </p:sp>
    </p:spTree>
  </p:cSld>
  <p:clrMapOvr>
    <a:masterClrMapping/>
  </p:clrMapOvr>
  <p:transition spd="slow" advTm="0"/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3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74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75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9076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077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研究内容</a:t>
            </a:r>
          </a:p>
        </p:txBody>
      </p:sp>
      <p:sp>
        <p:nvSpPr>
          <p:cNvPr id="9078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79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这篇论文实际做了什么</a:t>
            </a:r>
          </a:p>
        </p:txBody>
      </p:sp>
      <p:sp>
        <p:nvSpPr>
          <p:cNvPr id="9080" name="Rect"/>
          <p:cNvSpPr/>
          <p:nvPr/>
        </p:nvSpPr>
        <p:spPr>
          <a:xfrm>
            <a:off x="1170432" y="1426464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81" name="Text"/>
          <p:cNvSpPr txBox="1"/>
          <p:nvPr/>
        </p:nvSpPr>
        <p:spPr>
          <a:xfrm>
            <a:off x="1426464" y="1298448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第一步，我把 PeMS08 数据整理成系统能读的格式。</a:t>
            </a:r>
          </a:p>
        </p:txBody>
      </p:sp>
      <p:sp>
        <p:nvSpPr>
          <p:cNvPr id="9082" name="Rect"/>
          <p:cNvSpPr/>
          <p:nvPr/>
        </p:nvSpPr>
        <p:spPr>
          <a:xfrm>
            <a:off x="1170432" y="19568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83" name="Text"/>
          <p:cNvSpPr txBox="1"/>
          <p:nvPr/>
        </p:nvSpPr>
        <p:spPr>
          <a:xfrm>
            <a:off x="1426464" y="1828800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第二步，我用 Qwen3.5-9B 做交通任务的理解和调度。</a:t>
            </a:r>
          </a:p>
        </p:txBody>
      </p:sp>
      <p:sp>
        <p:nvSpPr>
          <p:cNvPr id="9084" name="Rect"/>
          <p:cNvSpPr/>
          <p:nvPr/>
        </p:nvSpPr>
        <p:spPr>
          <a:xfrm>
            <a:off x="1170432" y="24871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85" name="Text"/>
          <p:cNvSpPr txBox="1"/>
          <p:nvPr/>
        </p:nvSpPr>
        <p:spPr>
          <a:xfrm>
            <a:off x="1426464" y="2359152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第三步，我把 PDFormer 预测模型接成智能体工具。</a:t>
            </a:r>
          </a:p>
        </p:txBody>
      </p:sp>
      <p:sp>
        <p:nvSpPr>
          <p:cNvPr id="9086" name="Rect"/>
          <p:cNvSpPr/>
          <p:nvPr/>
        </p:nvSpPr>
        <p:spPr>
          <a:xfrm>
            <a:off x="1170432" y="30175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87" name="Text"/>
          <p:cNvSpPr txBox="1"/>
          <p:nvPr/>
        </p:nvSpPr>
        <p:spPr>
          <a:xfrm>
            <a:off x="1426464" y="2889503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第四步，我用 37 条用例检查系统能不能稳定工作。</a:t>
            </a:r>
          </a:p>
        </p:txBody>
      </p:sp>
    </p:spTree>
  </p:cSld>
  <p:clrMapOvr>
    <a:masterClrMapping/>
  </p:clrMapOvr>
  <p:transition spd="slow" advTm="0"/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8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89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90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9091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092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总体技术路线</a:t>
            </a:r>
          </a:p>
        </p:txBody>
      </p:sp>
      <p:sp>
        <p:nvSpPr>
          <p:cNvPr id="9093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94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五层架构</a:t>
            </a:r>
          </a:p>
        </p:txBody>
      </p:sp>
      <p:sp>
        <p:nvSpPr>
          <p:cNvPr id="9095" name="Rect"/>
          <p:cNvSpPr/>
          <p:nvPr/>
        </p:nvSpPr>
        <p:spPr>
          <a:xfrm>
            <a:off x="914400" y="1453895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96" name="Text"/>
          <p:cNvSpPr txBox="1"/>
          <p:nvPr/>
        </p:nvSpPr>
        <p:spPr>
          <a:xfrm>
            <a:off x="1170432" y="1325880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感知层把交通数据整理成统一输入。</a:t>
            </a:r>
          </a:p>
        </p:txBody>
      </p:sp>
      <p:sp>
        <p:nvSpPr>
          <p:cNvPr id="9097" name="Rect"/>
          <p:cNvSpPr/>
          <p:nvPr/>
        </p:nvSpPr>
        <p:spPr>
          <a:xfrm>
            <a:off x="914400" y="198424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98" name="Text"/>
          <p:cNvSpPr txBox="1"/>
          <p:nvPr/>
        </p:nvSpPr>
        <p:spPr>
          <a:xfrm>
            <a:off x="1170432" y="1856231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认知层让大模型理解用户到底想查什么。</a:t>
            </a:r>
          </a:p>
        </p:txBody>
      </p:sp>
      <p:sp>
        <p:nvSpPr>
          <p:cNvPr id="9099" name="Rect"/>
          <p:cNvSpPr/>
          <p:nvPr/>
        </p:nvSpPr>
        <p:spPr>
          <a:xfrm>
            <a:off x="914400" y="251460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00" name="Text"/>
          <p:cNvSpPr txBox="1"/>
          <p:nvPr/>
        </p:nvSpPr>
        <p:spPr>
          <a:xfrm>
            <a:off x="1170432" y="2386584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决策层负责判断下一步该调用哪个工具。</a:t>
            </a:r>
          </a:p>
        </p:txBody>
      </p:sp>
      <p:sp>
        <p:nvSpPr>
          <p:cNvPr id="9101" name="Rect"/>
          <p:cNvSpPr/>
          <p:nvPr/>
        </p:nvSpPr>
        <p:spPr>
          <a:xfrm>
            <a:off x="914400" y="3044951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02" name="Text"/>
          <p:cNvSpPr txBox="1"/>
          <p:nvPr/>
        </p:nvSpPr>
        <p:spPr>
          <a:xfrm>
            <a:off x="1170432" y="2916935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执行层把查询、历史分析和预测模型封装成服务。</a:t>
            </a:r>
          </a:p>
        </p:txBody>
      </p:sp>
      <p:sp>
        <p:nvSpPr>
          <p:cNvPr id="9103" name="Rect"/>
          <p:cNvSpPr/>
          <p:nvPr/>
        </p:nvSpPr>
        <p:spPr>
          <a:xfrm>
            <a:off x="589788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04" name="Text"/>
          <p:cNvSpPr txBox="1"/>
          <p:nvPr/>
        </p:nvSpPr>
        <p:spPr>
          <a:xfrm>
            <a:off x="594360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感知层</a:t>
            </a:r>
          </a:p>
        </p:txBody>
      </p:sp>
      <p:sp>
        <p:nvSpPr>
          <p:cNvPr id="9105" name="Text"/>
          <p:cNvSpPr txBox="1"/>
          <p:nvPr/>
        </p:nvSpPr>
        <p:spPr>
          <a:xfrm>
            <a:off x="670255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06" name="Rect"/>
          <p:cNvSpPr/>
          <p:nvPr/>
        </p:nvSpPr>
        <p:spPr>
          <a:xfrm>
            <a:off x="690372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07" name="Text"/>
          <p:cNvSpPr txBox="1"/>
          <p:nvPr/>
        </p:nvSpPr>
        <p:spPr>
          <a:xfrm>
            <a:off x="694944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认知层</a:t>
            </a:r>
          </a:p>
        </p:txBody>
      </p:sp>
      <p:sp>
        <p:nvSpPr>
          <p:cNvPr id="9108" name="Text"/>
          <p:cNvSpPr txBox="1"/>
          <p:nvPr/>
        </p:nvSpPr>
        <p:spPr>
          <a:xfrm>
            <a:off x="770839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09" name="Rect"/>
          <p:cNvSpPr/>
          <p:nvPr/>
        </p:nvSpPr>
        <p:spPr>
          <a:xfrm>
            <a:off x="790956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10" name="Text"/>
          <p:cNvSpPr txBox="1"/>
          <p:nvPr/>
        </p:nvSpPr>
        <p:spPr>
          <a:xfrm>
            <a:off x="795528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决策层</a:t>
            </a:r>
          </a:p>
        </p:txBody>
      </p:sp>
      <p:sp>
        <p:nvSpPr>
          <p:cNvPr id="9111" name="Text"/>
          <p:cNvSpPr txBox="1"/>
          <p:nvPr/>
        </p:nvSpPr>
        <p:spPr>
          <a:xfrm>
            <a:off x="871423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12" name="Rect"/>
          <p:cNvSpPr/>
          <p:nvPr/>
        </p:nvSpPr>
        <p:spPr>
          <a:xfrm>
            <a:off x="891540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13" name="Text"/>
          <p:cNvSpPr txBox="1"/>
          <p:nvPr/>
        </p:nvSpPr>
        <p:spPr>
          <a:xfrm>
            <a:off x="896112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执行层</a:t>
            </a:r>
          </a:p>
        </p:txBody>
      </p:sp>
      <p:sp>
        <p:nvSpPr>
          <p:cNvPr id="9114" name="Text"/>
          <p:cNvSpPr txBox="1"/>
          <p:nvPr/>
        </p:nvSpPr>
        <p:spPr>
          <a:xfrm>
            <a:off x="972007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15" name="Rect"/>
          <p:cNvSpPr/>
          <p:nvPr/>
        </p:nvSpPr>
        <p:spPr>
          <a:xfrm>
            <a:off x="992124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16" name="Text"/>
          <p:cNvSpPr txBox="1"/>
          <p:nvPr/>
        </p:nvSpPr>
        <p:spPr>
          <a:xfrm>
            <a:off x="996696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应用层</a:t>
            </a:r>
          </a:p>
        </p:txBody>
      </p:sp>
    </p:spTree>
  </p:cSld>
  <p:clrMapOvr>
    <a:masterClrMapping/>
  </p:clrMapOvr>
  <p:transition spd="slow" advTm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7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118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119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9120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121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数据构建</a:t>
            </a:r>
          </a:p>
        </p:txBody>
      </p:sp>
      <p:sp>
        <p:nvSpPr>
          <p:cNvPr id="9122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23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PeMS08 数据处理</a:t>
            </a:r>
          </a:p>
        </p:txBody>
      </p:sp>
      <p:sp>
        <p:nvSpPr>
          <p:cNvPr id="9124" name="Rect"/>
          <p:cNvSpPr/>
          <p:nvPr/>
        </p:nvSpPr>
        <p:spPr>
          <a:xfrm>
            <a:off x="822960" y="12710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25" name="Text"/>
          <p:cNvSpPr txBox="1"/>
          <p:nvPr/>
        </p:nvSpPr>
        <p:spPr>
          <a:xfrm>
            <a:off x="1078992" y="1143000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论文实验使用 PeMS08 交通传感器数据。</a:t>
            </a:r>
          </a:p>
        </p:txBody>
      </p:sp>
      <p:sp>
        <p:nvSpPr>
          <p:cNvPr id="9126" name="Rect"/>
          <p:cNvSpPr/>
          <p:nvPr/>
        </p:nvSpPr>
        <p:spPr>
          <a:xfrm>
            <a:off x="822960" y="18013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27" name="Text"/>
          <p:cNvSpPr txBox="1"/>
          <p:nvPr/>
        </p:nvSpPr>
        <p:spPr>
          <a:xfrm>
            <a:off x="1078992" y="1673352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.dyna 文件保存每个传感器在各时间点的动态数值。</a:t>
            </a:r>
          </a:p>
        </p:txBody>
      </p:sp>
      <p:sp>
        <p:nvSpPr>
          <p:cNvPr id="9128" name="Rect"/>
          <p:cNvSpPr/>
          <p:nvPr/>
        </p:nvSpPr>
        <p:spPr>
          <a:xfrm>
            <a:off x="822960" y="23317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29" name="Text"/>
          <p:cNvSpPr txBox="1"/>
          <p:nvPr/>
        </p:nvSpPr>
        <p:spPr>
          <a:xfrm>
            <a:off x="1078992" y="2203704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.rel 文件保存传感器之间的空间关系。</a:t>
            </a:r>
          </a:p>
        </p:txBody>
      </p:sp>
      <p:sp>
        <p:nvSpPr>
          <p:cNvPr id="9130" name="Rect"/>
          <p:cNvSpPr/>
          <p:nvPr/>
        </p:nvSpPr>
        <p:spPr>
          <a:xfrm>
            <a:off x="822960" y="286207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31" name="Text"/>
          <p:cNvSpPr txBox="1"/>
          <p:nvPr/>
        </p:nvSpPr>
        <p:spPr>
          <a:xfrm>
            <a:off x="1078992" y="2734056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处理后的数据给查询工具和预测模型共同使用。</a:t>
            </a:r>
          </a:p>
        </p:txBody>
      </p:sp>
      <p:pic>
        <p:nvPicPr>
          <p:cNvPr id="9132" name="imag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074920" y="1790820"/>
            <a:ext cx="6263640" cy="3413518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3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134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135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9136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137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系统架构</a:t>
            </a:r>
          </a:p>
        </p:txBody>
      </p:sp>
      <p:sp>
        <p:nvSpPr>
          <p:cNvPr id="9138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39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慢思考 + 快反应</a:t>
            </a:r>
          </a:p>
        </p:txBody>
      </p:sp>
      <p:sp>
        <p:nvSpPr>
          <p:cNvPr id="9140" name="Rect"/>
          <p:cNvSpPr/>
          <p:nvPr/>
        </p:nvSpPr>
        <p:spPr>
          <a:xfrm>
            <a:off x="822960" y="12710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41" name="Text"/>
          <p:cNvSpPr txBox="1"/>
          <p:nvPr/>
        </p:nvSpPr>
        <p:spPr>
          <a:xfrm>
            <a:off x="1078992" y="1143000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慢思考层由 Qwen3.5-9B 负责，它先判断用户意图。</a:t>
            </a:r>
          </a:p>
        </p:txBody>
      </p:sp>
      <p:sp>
        <p:nvSpPr>
          <p:cNvPr id="9142" name="Rect"/>
          <p:cNvSpPr/>
          <p:nvPr/>
        </p:nvSpPr>
        <p:spPr>
          <a:xfrm>
            <a:off x="822960" y="18013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43" name="Text"/>
          <p:cNvSpPr txBox="1"/>
          <p:nvPr/>
        </p:nvSpPr>
        <p:spPr>
          <a:xfrm>
            <a:off x="1078992" y="1673352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快反应层由三个工具负责，它们只做具体的数据处理。</a:t>
            </a:r>
          </a:p>
        </p:txBody>
      </p:sp>
      <p:sp>
        <p:nvSpPr>
          <p:cNvPr id="9144" name="Rect"/>
          <p:cNvSpPr/>
          <p:nvPr/>
        </p:nvSpPr>
        <p:spPr>
          <a:xfrm>
            <a:off x="822960" y="23317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45" name="Text"/>
          <p:cNvSpPr txBox="1"/>
          <p:nvPr/>
        </p:nvSpPr>
        <p:spPr>
          <a:xfrm>
            <a:off x="1078992" y="2203704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LangGraph 把“思考”和“执行”接成 ReAct 循环。</a:t>
            </a:r>
          </a:p>
        </p:txBody>
      </p:sp>
      <p:sp>
        <p:nvSpPr>
          <p:cNvPr id="9146" name="Rect"/>
          <p:cNvSpPr/>
          <p:nvPr/>
        </p:nvSpPr>
        <p:spPr>
          <a:xfrm>
            <a:off x="822960" y="286207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47" name="Text"/>
          <p:cNvSpPr txBox="1"/>
          <p:nvPr/>
        </p:nvSpPr>
        <p:spPr>
          <a:xfrm>
            <a:off x="1078992" y="2734056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这种设计让模型负责判断，让工具负责给真实数据。</a:t>
            </a:r>
          </a:p>
        </p:txBody>
      </p:sp>
      <p:pic>
        <p:nvPicPr>
          <p:cNvPr id="9148" name="image1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074920" y="1566698"/>
            <a:ext cx="6263640" cy="3861762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9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150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151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9152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153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大模型部署</a:t>
            </a:r>
          </a:p>
        </p:txBody>
      </p:sp>
      <p:sp>
        <p:nvSpPr>
          <p:cNvPr id="9154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55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本地推理环境</a:t>
            </a:r>
          </a:p>
        </p:txBody>
      </p:sp>
      <p:sp>
        <p:nvSpPr>
          <p:cNvPr id="9156" name="Rect"/>
          <p:cNvSpPr/>
          <p:nvPr/>
        </p:nvSpPr>
        <p:spPr>
          <a:xfrm>
            <a:off x="914400" y="136245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57" name="Text"/>
          <p:cNvSpPr txBox="1"/>
          <p:nvPr/>
        </p:nvSpPr>
        <p:spPr>
          <a:xfrm>
            <a:off x="1170432" y="1234440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系统核心模型是本地部署的 Qwen3.5-9B。</a:t>
            </a:r>
          </a:p>
        </p:txBody>
      </p:sp>
      <p:sp>
        <p:nvSpPr>
          <p:cNvPr id="9158" name="Rect"/>
          <p:cNvSpPr/>
          <p:nvPr/>
        </p:nvSpPr>
        <p:spPr>
          <a:xfrm>
            <a:off x="914400" y="189280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59" name="Text"/>
          <p:cNvSpPr txBox="1"/>
          <p:nvPr/>
        </p:nvSpPr>
        <p:spPr>
          <a:xfrm>
            <a:off x="1170432" y="1764792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我用 vLLM 提供 OpenAI 兼容接口。</a:t>
            </a:r>
          </a:p>
        </p:txBody>
      </p:sp>
      <p:sp>
        <p:nvSpPr>
          <p:cNvPr id="9160" name="Rect"/>
          <p:cNvSpPr/>
          <p:nvPr/>
        </p:nvSpPr>
        <p:spPr>
          <a:xfrm>
            <a:off x="914400" y="242316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61" name="Text"/>
          <p:cNvSpPr txBox="1"/>
          <p:nvPr/>
        </p:nvSpPr>
        <p:spPr>
          <a:xfrm>
            <a:off x="1170432" y="2295144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模型服务运行在本地 GPU 服务器上，所以数据不用传到外部网络。</a:t>
            </a:r>
          </a:p>
        </p:txBody>
      </p:sp>
      <p:sp>
        <p:nvSpPr>
          <p:cNvPr id="9162" name="Rect"/>
          <p:cNvSpPr/>
          <p:nvPr/>
        </p:nvSpPr>
        <p:spPr>
          <a:xfrm>
            <a:off x="914400" y="295351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63" name="Text"/>
          <p:cNvSpPr txBox="1"/>
          <p:nvPr/>
        </p:nvSpPr>
        <p:spPr>
          <a:xfrm>
            <a:off x="1170432" y="2825496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部署时最大上下文长度设置为 20480 Token。</a:t>
            </a:r>
          </a:p>
        </p:txBody>
      </p:sp>
      <p:sp>
        <p:nvSpPr>
          <p:cNvPr id="9164" name="Rect"/>
          <p:cNvSpPr/>
          <p:nvPr/>
        </p:nvSpPr>
        <p:spPr>
          <a:xfrm>
            <a:off x="6080760" y="1234440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165" name="Text"/>
          <p:cNvSpPr txBox="1"/>
          <p:nvPr/>
        </p:nvSpPr>
        <p:spPr>
          <a:xfrm>
            <a:off x="6217920" y="1344168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9166" name="Text"/>
          <p:cNvSpPr txBox="1"/>
          <p:nvPr/>
        </p:nvSpPr>
        <p:spPr>
          <a:xfrm>
            <a:off x="6217920" y="1618488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Qwen3.5-9B</a:t>
            </a:r>
          </a:p>
        </p:txBody>
      </p:sp>
      <p:sp>
        <p:nvSpPr>
          <p:cNvPr id="9167" name="Text"/>
          <p:cNvSpPr txBox="1"/>
          <p:nvPr/>
        </p:nvSpPr>
        <p:spPr>
          <a:xfrm>
            <a:off x="6217920" y="2039112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负责语义理解</a:t>
            </a:r>
          </a:p>
        </p:txBody>
      </p:sp>
      <p:sp>
        <p:nvSpPr>
          <p:cNvPr id="9168" name="Rect"/>
          <p:cNvSpPr/>
          <p:nvPr/>
        </p:nvSpPr>
        <p:spPr>
          <a:xfrm>
            <a:off x="6080760" y="2532888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169" name="Text"/>
          <p:cNvSpPr txBox="1"/>
          <p:nvPr/>
        </p:nvSpPr>
        <p:spPr>
          <a:xfrm>
            <a:off x="6217920" y="2642616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框架</a:t>
            </a:r>
          </a:p>
        </p:txBody>
      </p:sp>
      <p:sp>
        <p:nvSpPr>
          <p:cNvPr id="9170" name="Text"/>
          <p:cNvSpPr txBox="1"/>
          <p:nvPr/>
        </p:nvSpPr>
        <p:spPr>
          <a:xfrm>
            <a:off x="6217920" y="2916936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vLLM</a:t>
            </a:r>
          </a:p>
        </p:txBody>
      </p:sp>
      <p:sp>
        <p:nvSpPr>
          <p:cNvPr id="9171" name="Text"/>
          <p:cNvSpPr txBox="1"/>
          <p:nvPr/>
        </p:nvSpPr>
        <p:spPr>
          <a:xfrm>
            <a:off x="6217920" y="3337560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负责本地推理</a:t>
            </a:r>
          </a:p>
        </p:txBody>
      </p:sp>
      <p:sp>
        <p:nvSpPr>
          <p:cNvPr id="9172" name="Rect"/>
          <p:cNvSpPr/>
          <p:nvPr/>
        </p:nvSpPr>
        <p:spPr>
          <a:xfrm>
            <a:off x="6080760" y="3831335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173" name="Text"/>
          <p:cNvSpPr txBox="1"/>
          <p:nvPr/>
        </p:nvSpPr>
        <p:spPr>
          <a:xfrm>
            <a:off x="6217920" y="3941063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窗口</a:t>
            </a:r>
          </a:p>
        </p:txBody>
      </p:sp>
      <p:sp>
        <p:nvSpPr>
          <p:cNvPr id="9174" name="Text"/>
          <p:cNvSpPr txBox="1"/>
          <p:nvPr/>
        </p:nvSpPr>
        <p:spPr>
          <a:xfrm>
            <a:off x="6217920" y="4215383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20K Token</a:t>
            </a:r>
          </a:p>
        </p:txBody>
      </p:sp>
      <p:sp>
        <p:nvSpPr>
          <p:cNvPr id="9175" name="Text"/>
          <p:cNvSpPr txBox="1"/>
          <p:nvPr/>
        </p:nvSpPr>
        <p:spPr>
          <a:xfrm>
            <a:off x="6217920" y="4636007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支持长上下文</a:t>
            </a:r>
          </a:p>
        </p:txBody>
      </p:sp>
    </p:spTree>
  </p:cSld>
  <p:clrMapOvr>
    <a:masterClrMapping/>
  </p:clrMapOvr>
  <p:transition spd="slow" advTm="0"/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6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177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178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9179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180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状态图推理</a:t>
            </a:r>
          </a:p>
        </p:txBody>
      </p:sp>
      <p:sp>
        <p:nvSpPr>
          <p:cNvPr id="9181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82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LangGraph 调度流程</a:t>
            </a:r>
          </a:p>
        </p:txBody>
      </p:sp>
      <p:sp>
        <p:nvSpPr>
          <p:cNvPr id="9183" name="Rect"/>
          <p:cNvSpPr/>
          <p:nvPr/>
        </p:nvSpPr>
        <p:spPr>
          <a:xfrm>
            <a:off x="914400" y="1453895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84" name="Text"/>
          <p:cNvSpPr txBox="1"/>
          <p:nvPr/>
        </p:nvSpPr>
        <p:spPr>
          <a:xfrm>
            <a:off x="1170432" y="1325880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Agent Node 先读用户问题，然后生成工具调用。</a:t>
            </a:r>
          </a:p>
        </p:txBody>
      </p:sp>
      <p:sp>
        <p:nvSpPr>
          <p:cNvPr id="9185" name="Rect"/>
          <p:cNvSpPr/>
          <p:nvPr/>
        </p:nvSpPr>
        <p:spPr>
          <a:xfrm>
            <a:off x="914400" y="198424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86" name="Text"/>
          <p:cNvSpPr txBox="1"/>
          <p:nvPr/>
        </p:nvSpPr>
        <p:spPr>
          <a:xfrm>
            <a:off x="1170432" y="1856231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Tool Execution Node 接到调用后并行执行工具。</a:t>
            </a:r>
          </a:p>
        </p:txBody>
      </p:sp>
      <p:sp>
        <p:nvSpPr>
          <p:cNvPr id="9187" name="Rect"/>
          <p:cNvSpPr/>
          <p:nvPr/>
        </p:nvSpPr>
        <p:spPr>
          <a:xfrm>
            <a:off x="914400" y="251460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88" name="Text"/>
          <p:cNvSpPr txBox="1"/>
          <p:nvPr/>
        </p:nvSpPr>
        <p:spPr>
          <a:xfrm>
            <a:off x="1170432" y="2386584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如果工具有返回结果，结果会再交给大模型整理。</a:t>
            </a:r>
          </a:p>
        </p:txBody>
      </p:sp>
      <p:sp>
        <p:nvSpPr>
          <p:cNvPr id="9189" name="Rect"/>
          <p:cNvSpPr/>
          <p:nvPr/>
        </p:nvSpPr>
        <p:spPr>
          <a:xfrm>
            <a:off x="914400" y="3044951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90" name="Text"/>
          <p:cNvSpPr txBox="1"/>
          <p:nvPr/>
        </p:nvSpPr>
        <p:spPr>
          <a:xfrm>
            <a:off x="1170432" y="2916935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如果模型判断不需要工具，流程就直接结束。</a:t>
            </a:r>
          </a:p>
        </p:txBody>
      </p:sp>
      <p:sp>
        <p:nvSpPr>
          <p:cNvPr id="9191" name="Rect"/>
          <p:cNvSpPr/>
          <p:nvPr/>
        </p:nvSpPr>
        <p:spPr>
          <a:xfrm>
            <a:off x="589788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92" name="Text"/>
          <p:cNvSpPr txBox="1"/>
          <p:nvPr/>
        </p:nvSpPr>
        <p:spPr>
          <a:xfrm>
            <a:off x="594360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用户指令</a:t>
            </a:r>
          </a:p>
        </p:txBody>
      </p:sp>
      <p:sp>
        <p:nvSpPr>
          <p:cNvPr id="9193" name="Text"/>
          <p:cNvSpPr txBox="1"/>
          <p:nvPr/>
        </p:nvSpPr>
        <p:spPr>
          <a:xfrm>
            <a:off x="670255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94" name="Rect"/>
          <p:cNvSpPr/>
          <p:nvPr/>
        </p:nvSpPr>
        <p:spPr>
          <a:xfrm>
            <a:off x="690372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95" name="Text"/>
          <p:cNvSpPr txBox="1"/>
          <p:nvPr/>
        </p:nvSpPr>
        <p:spPr>
          <a:xfrm>
            <a:off x="694944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Agent Node</a:t>
            </a:r>
          </a:p>
        </p:txBody>
      </p:sp>
      <p:sp>
        <p:nvSpPr>
          <p:cNvPr id="9196" name="Text"/>
          <p:cNvSpPr txBox="1"/>
          <p:nvPr/>
        </p:nvSpPr>
        <p:spPr>
          <a:xfrm>
            <a:off x="770839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97" name="Rect"/>
          <p:cNvSpPr/>
          <p:nvPr/>
        </p:nvSpPr>
        <p:spPr>
          <a:xfrm>
            <a:off x="790956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98" name="Text"/>
          <p:cNvSpPr txBox="1"/>
          <p:nvPr/>
        </p:nvSpPr>
        <p:spPr>
          <a:xfrm>
            <a:off x="795528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工具执行</a:t>
            </a:r>
          </a:p>
        </p:txBody>
      </p:sp>
      <p:sp>
        <p:nvSpPr>
          <p:cNvPr id="9199" name="Text"/>
          <p:cNvSpPr txBox="1"/>
          <p:nvPr/>
        </p:nvSpPr>
        <p:spPr>
          <a:xfrm>
            <a:off x="871423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200" name="Rect"/>
          <p:cNvSpPr/>
          <p:nvPr/>
        </p:nvSpPr>
        <p:spPr>
          <a:xfrm>
            <a:off x="891540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201" name="Text"/>
          <p:cNvSpPr txBox="1"/>
          <p:nvPr/>
        </p:nvSpPr>
        <p:spPr>
          <a:xfrm>
            <a:off x="896112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结果汇总</a:t>
            </a:r>
          </a:p>
        </p:txBody>
      </p:sp>
      <p:sp>
        <p:nvSpPr>
          <p:cNvPr id="9202" name="Text"/>
          <p:cNvSpPr txBox="1"/>
          <p:nvPr/>
        </p:nvSpPr>
        <p:spPr>
          <a:xfrm>
            <a:off x="972007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203" name="Rect"/>
          <p:cNvSpPr/>
          <p:nvPr/>
        </p:nvSpPr>
        <p:spPr>
          <a:xfrm>
            <a:off x="992124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204" name="Text"/>
          <p:cNvSpPr txBox="1"/>
          <p:nvPr/>
        </p:nvSpPr>
        <p:spPr>
          <a:xfrm>
            <a:off x="996696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分析报告</a:t>
            </a:r>
          </a:p>
        </p:txBody>
      </p:sp>
    </p:spTree>
  </p:cSld>
  <p:clrMapOvr>
    <a:masterClrMapping/>
  </p:clrMapOvr>
  <p:transition spd="slow" advTm="0"/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5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06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07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9208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09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工具链设计</a:t>
            </a:r>
          </a:p>
        </p:txBody>
      </p:sp>
      <p:sp>
        <p:nvSpPr>
          <p:cNvPr id="9210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11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三个核心工具</a:t>
            </a:r>
          </a:p>
        </p:txBody>
      </p:sp>
      <p:sp>
        <p:nvSpPr>
          <p:cNvPr id="9212" name="Rect"/>
          <p:cNvSpPr/>
          <p:nvPr/>
        </p:nvSpPr>
        <p:spPr>
          <a:xfrm>
            <a:off x="914400" y="136245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13" name="Text"/>
          <p:cNvSpPr txBox="1"/>
          <p:nvPr/>
        </p:nvSpPr>
        <p:spPr>
          <a:xfrm>
            <a:off x="1170432" y="1234440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simple_query 只查某个点位某一刻的状态。</a:t>
            </a:r>
          </a:p>
        </p:txBody>
      </p:sp>
      <p:sp>
        <p:nvSpPr>
          <p:cNvPr id="9214" name="Rect"/>
          <p:cNvSpPr/>
          <p:nvPr/>
        </p:nvSpPr>
        <p:spPr>
          <a:xfrm>
            <a:off x="914400" y="189280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15" name="Text"/>
          <p:cNvSpPr txBox="1"/>
          <p:nvPr/>
        </p:nvSpPr>
        <p:spPr>
          <a:xfrm>
            <a:off x="1170432" y="1764792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deep_analysis 会多取一段历史趋势，帮助判断拥堵情况。</a:t>
            </a:r>
          </a:p>
        </p:txBody>
      </p:sp>
      <p:sp>
        <p:nvSpPr>
          <p:cNvPr id="9216" name="Rect"/>
          <p:cNvSpPr/>
          <p:nvPr/>
        </p:nvSpPr>
        <p:spPr>
          <a:xfrm>
            <a:off x="914400" y="242316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17" name="Text"/>
          <p:cNvSpPr txBox="1"/>
          <p:nvPr/>
        </p:nvSpPr>
        <p:spPr>
          <a:xfrm>
            <a:off x="1170432" y="2295144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predict_traffic 会调用 PDFormer，预测未来一小时车流。</a:t>
            </a:r>
          </a:p>
        </p:txBody>
      </p:sp>
      <p:sp>
        <p:nvSpPr>
          <p:cNvPr id="9218" name="Rect"/>
          <p:cNvSpPr/>
          <p:nvPr/>
        </p:nvSpPr>
        <p:spPr>
          <a:xfrm>
            <a:off x="914400" y="295351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19" name="Text"/>
          <p:cNvSpPr txBox="1"/>
          <p:nvPr/>
        </p:nvSpPr>
        <p:spPr>
          <a:xfrm>
            <a:off x="1170432" y="2825496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三个工具都使用 entity_id 和 time，所以大模型调用比较统一。</a:t>
            </a:r>
          </a:p>
        </p:txBody>
      </p:sp>
      <p:sp>
        <p:nvSpPr>
          <p:cNvPr id="9220" name="Rect"/>
          <p:cNvSpPr/>
          <p:nvPr/>
        </p:nvSpPr>
        <p:spPr>
          <a:xfrm>
            <a:off x="6080760" y="1234440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221" name="Text"/>
          <p:cNvSpPr txBox="1"/>
          <p:nvPr/>
        </p:nvSpPr>
        <p:spPr>
          <a:xfrm>
            <a:off x="6217920" y="1344168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simple_query</a:t>
            </a:r>
          </a:p>
        </p:txBody>
      </p:sp>
      <p:sp>
        <p:nvSpPr>
          <p:cNvPr id="9222" name="Text"/>
          <p:cNvSpPr txBox="1"/>
          <p:nvPr/>
        </p:nvSpPr>
        <p:spPr>
          <a:xfrm>
            <a:off x="6217920" y="1618488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流量、占有率、速度</a:t>
            </a:r>
          </a:p>
        </p:txBody>
      </p:sp>
      <p:sp>
        <p:nvSpPr>
          <p:cNvPr id="9223" name="Text"/>
          <p:cNvSpPr txBox="1"/>
          <p:nvPr/>
        </p:nvSpPr>
        <p:spPr>
          <a:xfrm>
            <a:off x="6217920" y="2039112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基础查询</a:t>
            </a:r>
          </a:p>
        </p:txBody>
      </p:sp>
      <p:sp>
        <p:nvSpPr>
          <p:cNvPr id="9224" name="Rect"/>
          <p:cNvSpPr/>
          <p:nvPr/>
        </p:nvSpPr>
        <p:spPr>
          <a:xfrm>
            <a:off x="6080760" y="2532888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225" name="Text"/>
          <p:cNvSpPr txBox="1"/>
          <p:nvPr/>
        </p:nvSpPr>
        <p:spPr>
          <a:xfrm>
            <a:off x="6217920" y="2642616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deep_analysis</a:t>
            </a:r>
          </a:p>
        </p:txBody>
      </p:sp>
      <p:sp>
        <p:nvSpPr>
          <p:cNvPr id="9226" name="Text"/>
          <p:cNvSpPr txBox="1"/>
          <p:nvPr/>
        </p:nvSpPr>
        <p:spPr>
          <a:xfrm>
            <a:off x="6217920" y="2916936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过去 3 小时趋势</a:t>
            </a:r>
          </a:p>
        </p:txBody>
      </p:sp>
      <p:sp>
        <p:nvSpPr>
          <p:cNvPr id="9227" name="Text"/>
          <p:cNvSpPr txBox="1"/>
          <p:nvPr/>
        </p:nvSpPr>
        <p:spPr>
          <a:xfrm>
            <a:off x="6217920" y="3337560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深度研判</a:t>
            </a:r>
          </a:p>
        </p:txBody>
      </p:sp>
      <p:sp>
        <p:nvSpPr>
          <p:cNvPr id="9228" name="Rect"/>
          <p:cNvSpPr/>
          <p:nvPr/>
        </p:nvSpPr>
        <p:spPr>
          <a:xfrm>
            <a:off x="6080760" y="3831335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229" name="Text"/>
          <p:cNvSpPr txBox="1"/>
          <p:nvPr/>
        </p:nvSpPr>
        <p:spPr>
          <a:xfrm>
            <a:off x="6217920" y="3941063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predict_traffic</a:t>
            </a:r>
          </a:p>
        </p:txBody>
      </p:sp>
      <p:sp>
        <p:nvSpPr>
          <p:cNvPr id="9230" name="Text"/>
          <p:cNvSpPr txBox="1"/>
          <p:nvPr/>
        </p:nvSpPr>
        <p:spPr>
          <a:xfrm>
            <a:off x="6217920" y="4215383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未来 12 个时间步</a:t>
            </a:r>
          </a:p>
        </p:txBody>
      </p:sp>
      <p:sp>
        <p:nvSpPr>
          <p:cNvPr id="9231" name="Text"/>
          <p:cNvSpPr txBox="1"/>
          <p:nvPr/>
        </p:nvSpPr>
        <p:spPr>
          <a:xfrm>
            <a:off x="6217920" y="4636007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流量预测</a:t>
            </a:r>
          </a:p>
        </p:txBody>
      </p:sp>
    </p:spTree>
  </p:cSld>
  <p:clrMapOvr>
    <a:masterClrMapping/>
  </p:clrMapOvr>
  <p:transition spd="slow" advTm="0"/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2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33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34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9235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36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PDFormer 预测模型</a:t>
            </a:r>
          </a:p>
        </p:txBody>
      </p:sp>
      <p:sp>
        <p:nvSpPr>
          <p:cNvPr id="9237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38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预测工具实现</a:t>
            </a:r>
          </a:p>
        </p:txBody>
      </p:sp>
      <p:sp>
        <p:nvSpPr>
          <p:cNvPr id="9239" name="Rect"/>
          <p:cNvSpPr/>
          <p:nvPr/>
        </p:nvSpPr>
        <p:spPr>
          <a:xfrm>
            <a:off x="1170432" y="1426464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40" name="Text"/>
          <p:cNvSpPr txBox="1"/>
          <p:nvPr/>
        </p:nvSpPr>
        <p:spPr>
          <a:xfrm>
            <a:off x="1426464" y="1298448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预测工具不是只看目标传感器一个点。</a:t>
            </a:r>
          </a:p>
        </p:txBody>
      </p:sp>
      <p:sp>
        <p:nvSpPr>
          <p:cNvPr id="9241" name="Rect"/>
          <p:cNvSpPr/>
          <p:nvPr/>
        </p:nvSpPr>
        <p:spPr>
          <a:xfrm>
            <a:off x="1170432" y="19568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42" name="Text"/>
          <p:cNvSpPr txBox="1"/>
          <p:nvPr/>
        </p:nvSpPr>
        <p:spPr>
          <a:xfrm>
            <a:off x="1426464" y="1828800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它会收集全路网 170 个传感器的历史数据。</a:t>
            </a:r>
          </a:p>
        </p:txBody>
      </p:sp>
      <p:sp>
        <p:nvSpPr>
          <p:cNvPr id="9243" name="Rect"/>
          <p:cNvSpPr/>
          <p:nvPr/>
        </p:nvSpPr>
        <p:spPr>
          <a:xfrm>
            <a:off x="1170432" y="24871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44" name="Text"/>
          <p:cNvSpPr txBox="1"/>
          <p:nvPr/>
        </p:nvSpPr>
        <p:spPr>
          <a:xfrm>
            <a:off x="1426464" y="2359152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输入使用过去 12 个时间步，也就是过去一小时。</a:t>
            </a:r>
          </a:p>
        </p:txBody>
      </p:sp>
      <p:sp>
        <p:nvSpPr>
          <p:cNvPr id="9245" name="Rect"/>
          <p:cNvSpPr/>
          <p:nvPr/>
        </p:nvSpPr>
        <p:spPr>
          <a:xfrm>
            <a:off x="1170432" y="30175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46" name="Text"/>
          <p:cNvSpPr txBox="1"/>
          <p:nvPr/>
        </p:nvSpPr>
        <p:spPr>
          <a:xfrm>
            <a:off x="1426464" y="2889503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输出是未来 12 个时间步，也就是未来一小时。</a:t>
            </a:r>
          </a:p>
        </p:txBody>
      </p:sp>
    </p:spTree>
  </p:cSld>
  <p:clrMapOvr>
    <a:masterClrMapping/>
  </p:clrMapOvr>
  <p:transition spd="slow" advTm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7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48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49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9250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51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预测实验结果</a:t>
            </a:r>
          </a:p>
        </p:txBody>
      </p:sp>
      <p:sp>
        <p:nvSpPr>
          <p:cNvPr id="9252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53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预测值与真实值对比</a:t>
            </a:r>
          </a:p>
        </p:txBody>
      </p:sp>
      <p:sp>
        <p:nvSpPr>
          <p:cNvPr id="9254" name="Rect"/>
          <p:cNvSpPr/>
          <p:nvPr/>
        </p:nvSpPr>
        <p:spPr>
          <a:xfrm>
            <a:off x="822960" y="129844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55" name="Text"/>
          <p:cNvSpPr txBox="1"/>
          <p:nvPr/>
        </p:nvSpPr>
        <p:spPr>
          <a:xfrm>
            <a:off x="1078992" y="1170432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预测曲线整体能够跟住真实流量变化。</a:t>
            </a:r>
          </a:p>
        </p:txBody>
      </p:sp>
      <p:sp>
        <p:nvSpPr>
          <p:cNvPr id="9256" name="Rect"/>
          <p:cNvSpPr/>
          <p:nvPr/>
        </p:nvSpPr>
        <p:spPr>
          <a:xfrm>
            <a:off x="822960" y="182880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57" name="Text"/>
          <p:cNvSpPr txBox="1"/>
          <p:nvPr/>
        </p:nvSpPr>
        <p:spPr>
          <a:xfrm>
            <a:off x="1078992" y="1700784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在 PeMS08 上，第 1 个预测步的 MAE 是 11.76。</a:t>
            </a:r>
          </a:p>
        </p:txBody>
      </p:sp>
      <p:sp>
        <p:nvSpPr>
          <p:cNvPr id="9258" name="Rect"/>
          <p:cNvSpPr/>
          <p:nvPr/>
        </p:nvSpPr>
        <p:spPr>
          <a:xfrm>
            <a:off x="822960" y="235915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59" name="Text"/>
          <p:cNvSpPr txBox="1"/>
          <p:nvPr/>
        </p:nvSpPr>
        <p:spPr>
          <a:xfrm>
            <a:off x="1078992" y="2231136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预测到 1 小时时，MAE 增长到 13.59。</a:t>
            </a:r>
          </a:p>
        </p:txBody>
      </p:sp>
      <p:pic>
        <p:nvPicPr>
          <p:cNvPr id="9260" name="image5.png"/>
          <p:cNvPicPr/>
          <p:nvPr/>
        </p:nvPicPr>
        <p:blipFill>
          <a:blip r:embed="rId20"/>
          <a:stretch>
            <a:fillRect/>
          </a:stretch>
        </p:blipFill>
        <p:spPr>
          <a:xfrm>
            <a:off x="5166360" y="2818892"/>
            <a:ext cx="3063240" cy="1220215"/>
          </a:xfrm>
          <a:prstGeom prst="rect">
            <a:avLst/>
          </a:prstGeom>
        </p:spPr>
      </p:pic>
      <p:pic>
        <p:nvPicPr>
          <p:cNvPr id="9261" name="image6.png"/>
          <p:cNvPicPr/>
          <p:nvPr/>
        </p:nvPicPr>
        <p:blipFill>
          <a:blip r:embed="rId21"/>
          <a:stretch>
            <a:fillRect/>
          </a:stretch>
        </p:blipFill>
        <p:spPr>
          <a:xfrm>
            <a:off x="8366760" y="2818892"/>
            <a:ext cx="3063240" cy="122021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2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63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64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9265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66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训练与指标</a:t>
            </a:r>
          </a:p>
        </p:txBody>
      </p:sp>
      <p:sp>
        <p:nvSpPr>
          <p:cNvPr id="9267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68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收敛过程与评价指标</a:t>
            </a:r>
          </a:p>
        </p:txBody>
      </p:sp>
      <p:sp>
        <p:nvSpPr>
          <p:cNvPr id="9269" name="Rect"/>
          <p:cNvSpPr/>
          <p:nvPr/>
        </p:nvSpPr>
        <p:spPr>
          <a:xfrm>
            <a:off x="822960" y="129844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70" name="Text"/>
          <p:cNvSpPr txBox="1"/>
          <p:nvPr/>
        </p:nvSpPr>
        <p:spPr>
          <a:xfrm>
            <a:off x="1078992" y="1170432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训练损失和验证损失整体都在下降。</a:t>
            </a:r>
          </a:p>
        </p:txBody>
      </p:sp>
      <p:sp>
        <p:nvSpPr>
          <p:cNvPr id="9271" name="Rect"/>
          <p:cNvSpPr/>
          <p:nvPr/>
        </p:nvSpPr>
        <p:spPr>
          <a:xfrm>
            <a:off x="822960" y="182880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72" name="Text"/>
          <p:cNvSpPr txBox="1"/>
          <p:nvPr/>
        </p:nvSpPr>
        <p:spPr>
          <a:xfrm>
            <a:off x="1078992" y="1700784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实验用 MAE、MAPE 和 RMSE 三个指标看误差。</a:t>
            </a:r>
          </a:p>
        </p:txBody>
      </p:sp>
      <p:sp>
        <p:nvSpPr>
          <p:cNvPr id="9273" name="Rect"/>
          <p:cNvSpPr/>
          <p:nvPr/>
        </p:nvSpPr>
        <p:spPr>
          <a:xfrm>
            <a:off x="822960" y="235915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74" name="Text"/>
          <p:cNvSpPr txBox="1"/>
          <p:nvPr/>
        </p:nvSpPr>
        <p:spPr>
          <a:xfrm>
            <a:off x="1078992" y="2231136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PeMS08 的 masked_MAPE 基本保持在 8% 到 9% 之间。</a:t>
            </a:r>
          </a:p>
        </p:txBody>
      </p:sp>
      <p:pic>
        <p:nvPicPr>
          <p:cNvPr id="9275" name="image9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166360" y="2721950"/>
            <a:ext cx="3063240" cy="1414099"/>
          </a:xfrm>
          <a:prstGeom prst="rect">
            <a:avLst/>
          </a:prstGeom>
        </p:spPr>
      </p:pic>
      <p:pic>
        <p:nvPicPr>
          <p:cNvPr id="9276" name="image10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366760" y="2751812"/>
            <a:ext cx="3063240" cy="135437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7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78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79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9280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81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系统集成示例</a:t>
            </a:r>
          </a:p>
        </p:txBody>
      </p:sp>
      <p:sp>
        <p:nvSpPr>
          <p:cNvPr id="9282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83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基础流量查询</a:t>
            </a:r>
          </a:p>
        </p:txBody>
      </p:sp>
      <p:sp>
        <p:nvSpPr>
          <p:cNvPr id="9284" name="Rect"/>
          <p:cNvSpPr/>
          <p:nvPr/>
        </p:nvSpPr>
        <p:spPr>
          <a:xfrm>
            <a:off x="822960" y="12710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85" name="Text"/>
          <p:cNvSpPr txBox="1"/>
          <p:nvPr/>
        </p:nvSpPr>
        <p:spPr>
          <a:xfrm>
            <a:off x="1078992" y="1143000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用户问：1 号传感器在 2016 年 7 月 1 日上午十点的流量。</a:t>
            </a:r>
          </a:p>
        </p:txBody>
      </p:sp>
      <p:sp>
        <p:nvSpPr>
          <p:cNvPr id="9286" name="Rect"/>
          <p:cNvSpPr/>
          <p:nvPr/>
        </p:nvSpPr>
        <p:spPr>
          <a:xfrm>
            <a:off x="822960" y="18013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87" name="Text"/>
          <p:cNvSpPr txBox="1"/>
          <p:nvPr/>
        </p:nvSpPr>
        <p:spPr>
          <a:xfrm>
            <a:off x="1078992" y="1673352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智能体识别出这是 simple_query 任务。</a:t>
            </a:r>
          </a:p>
        </p:txBody>
      </p:sp>
      <p:sp>
        <p:nvSpPr>
          <p:cNvPr id="9288" name="Rect"/>
          <p:cNvSpPr/>
          <p:nvPr/>
        </p:nvSpPr>
        <p:spPr>
          <a:xfrm>
            <a:off x="822960" y="23317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89" name="Text"/>
          <p:cNvSpPr txBox="1"/>
          <p:nvPr/>
        </p:nvSpPr>
        <p:spPr>
          <a:xfrm>
            <a:off x="1078992" y="2203704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系统返回流量 416 辆/小时、占有率 13.5%、速度 61.0 km/h。</a:t>
            </a:r>
          </a:p>
        </p:txBody>
      </p:sp>
      <p:pic>
        <p:nvPicPr>
          <p:cNvPr id="9290" name="image1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074920" y="2355099"/>
            <a:ext cx="6263640" cy="2284961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1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92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93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9294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95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深度态势分析</a:t>
            </a:r>
          </a:p>
        </p:txBody>
      </p:sp>
      <p:sp>
        <p:nvSpPr>
          <p:cNvPr id="9296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97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历史趋势与拥堵研判</a:t>
            </a:r>
          </a:p>
        </p:txBody>
      </p:sp>
      <p:sp>
        <p:nvSpPr>
          <p:cNvPr id="9298" name="Rect"/>
          <p:cNvSpPr/>
          <p:nvPr/>
        </p:nvSpPr>
        <p:spPr>
          <a:xfrm>
            <a:off x="822960" y="12710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99" name="Text"/>
          <p:cNvSpPr txBox="1"/>
          <p:nvPr/>
        </p:nvSpPr>
        <p:spPr>
          <a:xfrm>
            <a:off x="1078992" y="1143000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用户让系统分析 2 号探头下午五点半的情况。</a:t>
            </a:r>
          </a:p>
        </p:txBody>
      </p:sp>
      <p:sp>
        <p:nvSpPr>
          <p:cNvPr id="9300" name="Rect"/>
          <p:cNvSpPr/>
          <p:nvPr/>
        </p:nvSpPr>
        <p:spPr>
          <a:xfrm>
            <a:off x="822960" y="18013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01" name="Text"/>
          <p:cNvSpPr txBox="1"/>
          <p:nvPr/>
        </p:nvSpPr>
        <p:spPr>
          <a:xfrm>
            <a:off x="1078992" y="1673352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系统先查当前状态，然后回看历史趋势。</a:t>
            </a:r>
          </a:p>
        </p:txBody>
      </p:sp>
      <p:sp>
        <p:nvSpPr>
          <p:cNvPr id="9302" name="Rect"/>
          <p:cNvSpPr/>
          <p:nvPr/>
        </p:nvSpPr>
        <p:spPr>
          <a:xfrm>
            <a:off x="822960" y="23317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03" name="Text"/>
          <p:cNvSpPr txBox="1"/>
          <p:nvPr/>
        </p:nvSpPr>
        <p:spPr>
          <a:xfrm>
            <a:off x="1078992" y="2203704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报告识别出 16:45–17:05 期间两次流量高峰。</a:t>
            </a:r>
          </a:p>
        </p:txBody>
      </p:sp>
      <p:sp>
        <p:nvSpPr>
          <p:cNvPr id="9304" name="Rect"/>
          <p:cNvSpPr/>
          <p:nvPr/>
        </p:nvSpPr>
        <p:spPr>
          <a:xfrm>
            <a:off x="822960" y="286207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05" name="Text"/>
          <p:cNvSpPr txBox="1"/>
          <p:nvPr/>
        </p:nvSpPr>
        <p:spPr>
          <a:xfrm>
            <a:off x="1078992" y="2734056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系统最后判断该路段没有出现拥堵。</a:t>
            </a:r>
          </a:p>
        </p:txBody>
      </p:sp>
      <p:pic>
        <p:nvPicPr>
          <p:cNvPr id="9306" name="image12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074919" y="2566925"/>
            <a:ext cx="6263640" cy="1861308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7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308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309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9310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311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未来流量预测</a:t>
            </a:r>
          </a:p>
        </p:txBody>
      </p:sp>
      <p:sp>
        <p:nvSpPr>
          <p:cNvPr id="9312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13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PDFormer 协同推理</a:t>
            </a:r>
          </a:p>
        </p:txBody>
      </p:sp>
      <p:sp>
        <p:nvSpPr>
          <p:cNvPr id="9314" name="Rect"/>
          <p:cNvSpPr/>
          <p:nvPr/>
        </p:nvSpPr>
        <p:spPr>
          <a:xfrm>
            <a:off x="822960" y="12710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15" name="Text"/>
          <p:cNvSpPr txBox="1"/>
          <p:nvPr/>
        </p:nvSpPr>
        <p:spPr>
          <a:xfrm>
            <a:off x="1078992" y="1143000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用户让系统预测 3 号传感器未来半小时车流。</a:t>
            </a:r>
          </a:p>
        </p:txBody>
      </p:sp>
      <p:sp>
        <p:nvSpPr>
          <p:cNvPr id="9316" name="Rect"/>
          <p:cNvSpPr/>
          <p:nvPr/>
        </p:nvSpPr>
        <p:spPr>
          <a:xfrm>
            <a:off x="822960" y="18013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17" name="Text"/>
          <p:cNvSpPr txBox="1"/>
          <p:nvPr/>
        </p:nvSpPr>
        <p:spPr>
          <a:xfrm>
            <a:off x="1078992" y="1673352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智能体调用 predict_traffic 工具。</a:t>
            </a:r>
          </a:p>
        </p:txBody>
      </p:sp>
      <p:sp>
        <p:nvSpPr>
          <p:cNvPr id="9318" name="Rect"/>
          <p:cNvSpPr/>
          <p:nvPr/>
        </p:nvSpPr>
        <p:spPr>
          <a:xfrm>
            <a:off x="822960" y="23317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19" name="Text"/>
          <p:cNvSpPr txBox="1"/>
          <p:nvPr/>
        </p:nvSpPr>
        <p:spPr>
          <a:xfrm>
            <a:off x="1078992" y="2203704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系统返回 08:00–08:30 的 7 个预测点。</a:t>
            </a:r>
          </a:p>
        </p:txBody>
      </p:sp>
      <p:sp>
        <p:nvSpPr>
          <p:cNvPr id="9320" name="Rect"/>
          <p:cNvSpPr/>
          <p:nvPr/>
        </p:nvSpPr>
        <p:spPr>
          <a:xfrm>
            <a:off x="822960" y="286207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21" name="Text"/>
          <p:cNvSpPr txBox="1"/>
          <p:nvPr/>
        </p:nvSpPr>
        <p:spPr>
          <a:xfrm>
            <a:off x="1078992" y="2734056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报告指出流量从 325 辆波动上升到 350 辆。</a:t>
            </a:r>
          </a:p>
        </p:txBody>
      </p:sp>
      <p:pic>
        <p:nvPicPr>
          <p:cNvPr id="9322" name="image13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074920" y="2405917"/>
            <a:ext cx="6263640" cy="218332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3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324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325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9326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327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智能体实验</a:t>
            </a:r>
          </a:p>
        </p:txBody>
      </p:sp>
      <p:sp>
        <p:nvSpPr>
          <p:cNvPr id="9328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29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端到端评估</a:t>
            </a:r>
          </a:p>
        </p:txBody>
      </p:sp>
      <p:sp>
        <p:nvSpPr>
          <p:cNvPr id="9330" name="Rect"/>
          <p:cNvSpPr/>
          <p:nvPr/>
        </p:nvSpPr>
        <p:spPr>
          <a:xfrm>
            <a:off x="914400" y="1453895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31" name="Text"/>
          <p:cNvSpPr txBox="1"/>
          <p:nvPr/>
        </p:nvSpPr>
        <p:spPr>
          <a:xfrm>
            <a:off x="1170432" y="1325880"/>
            <a:ext cx="45720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我把测试用例分成七类，总共 37 条。</a:t>
            </a:r>
          </a:p>
        </p:txBody>
      </p:sp>
      <p:sp>
        <p:nvSpPr>
          <p:cNvPr id="9332" name="Rect"/>
          <p:cNvSpPr/>
          <p:nvPr/>
        </p:nvSpPr>
        <p:spPr>
          <a:xfrm>
            <a:off x="914400" y="198424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33" name="Text"/>
          <p:cNvSpPr txBox="1"/>
          <p:nvPr/>
        </p:nvSpPr>
        <p:spPr>
          <a:xfrm>
            <a:off x="1170432" y="1856231"/>
            <a:ext cx="45720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用例覆盖基础查询、深度分析、预测和多工具协同。</a:t>
            </a:r>
          </a:p>
        </p:txBody>
      </p:sp>
      <p:sp>
        <p:nvSpPr>
          <p:cNvPr id="9334" name="Rect"/>
          <p:cNvSpPr/>
          <p:nvPr/>
        </p:nvSpPr>
        <p:spPr>
          <a:xfrm>
            <a:off x="914400" y="251460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35" name="Text"/>
          <p:cNvSpPr txBox="1"/>
          <p:nvPr/>
        </p:nvSpPr>
        <p:spPr>
          <a:xfrm>
            <a:off x="1170432" y="2386584"/>
            <a:ext cx="45720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37 条用例的意图识别全部正确。</a:t>
            </a:r>
          </a:p>
        </p:txBody>
      </p:sp>
      <p:sp>
        <p:nvSpPr>
          <p:cNvPr id="9336" name="Rect"/>
          <p:cNvSpPr/>
          <p:nvPr/>
        </p:nvSpPr>
        <p:spPr>
          <a:xfrm>
            <a:off x="914400" y="3044951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37" name="Text"/>
          <p:cNvSpPr txBox="1"/>
          <p:nvPr/>
        </p:nvSpPr>
        <p:spPr>
          <a:xfrm>
            <a:off x="1170432" y="2916935"/>
            <a:ext cx="45720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时间格式也覆盖了中文、点分隔、斜杠分隔和相对时间。</a:t>
            </a:r>
          </a:p>
        </p:txBody>
      </p:sp>
      <p:sp>
        <p:nvSpPr>
          <p:cNvPr id="9338" name="Rect"/>
          <p:cNvSpPr/>
          <p:nvPr/>
        </p:nvSpPr>
        <p:spPr>
          <a:xfrm>
            <a:off x="6126480" y="1417320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339" name="Text"/>
          <p:cNvSpPr txBox="1"/>
          <p:nvPr/>
        </p:nvSpPr>
        <p:spPr>
          <a:xfrm>
            <a:off x="6263640" y="1527048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用例数</a:t>
            </a:r>
          </a:p>
        </p:txBody>
      </p:sp>
      <p:sp>
        <p:nvSpPr>
          <p:cNvPr id="9340" name="Text"/>
          <p:cNvSpPr txBox="1"/>
          <p:nvPr/>
        </p:nvSpPr>
        <p:spPr>
          <a:xfrm>
            <a:off x="6263640" y="1801368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37</a:t>
            </a:r>
          </a:p>
        </p:txBody>
      </p:sp>
      <p:sp>
        <p:nvSpPr>
          <p:cNvPr id="9341" name="Text"/>
          <p:cNvSpPr txBox="1"/>
          <p:nvPr/>
        </p:nvSpPr>
        <p:spPr>
          <a:xfrm>
            <a:off x="6263640" y="2221992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覆盖七类场景</a:t>
            </a:r>
          </a:p>
        </p:txBody>
      </p:sp>
      <p:sp>
        <p:nvSpPr>
          <p:cNvPr id="9342" name="Rect"/>
          <p:cNvSpPr/>
          <p:nvPr/>
        </p:nvSpPr>
        <p:spPr>
          <a:xfrm>
            <a:off x="6126480" y="2862072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343" name="Text"/>
          <p:cNvSpPr txBox="1"/>
          <p:nvPr/>
        </p:nvSpPr>
        <p:spPr>
          <a:xfrm>
            <a:off x="6263640" y="2971800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正确数</a:t>
            </a:r>
          </a:p>
        </p:txBody>
      </p:sp>
      <p:sp>
        <p:nvSpPr>
          <p:cNvPr id="9344" name="Text"/>
          <p:cNvSpPr txBox="1"/>
          <p:nvPr/>
        </p:nvSpPr>
        <p:spPr>
          <a:xfrm>
            <a:off x="6263640" y="3246120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37</a:t>
            </a:r>
          </a:p>
        </p:txBody>
      </p:sp>
      <p:sp>
        <p:nvSpPr>
          <p:cNvPr id="9345" name="Text"/>
          <p:cNvSpPr txBox="1"/>
          <p:nvPr/>
        </p:nvSpPr>
        <p:spPr>
          <a:xfrm>
            <a:off x="6263640" y="3666744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意图识别正确</a:t>
            </a:r>
          </a:p>
        </p:txBody>
      </p:sp>
      <p:sp>
        <p:nvSpPr>
          <p:cNvPr id="9346" name="Rect"/>
          <p:cNvSpPr/>
          <p:nvPr/>
        </p:nvSpPr>
        <p:spPr>
          <a:xfrm>
            <a:off x="6126480" y="4306824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347" name="Text"/>
          <p:cNvSpPr txBox="1"/>
          <p:nvPr/>
        </p:nvSpPr>
        <p:spPr>
          <a:xfrm>
            <a:off x="6263640" y="4416552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准确率</a:t>
            </a:r>
          </a:p>
        </p:txBody>
      </p:sp>
      <p:sp>
        <p:nvSpPr>
          <p:cNvPr id="9348" name="Text"/>
          <p:cNvSpPr txBox="1"/>
          <p:nvPr/>
        </p:nvSpPr>
        <p:spPr>
          <a:xfrm>
            <a:off x="6263640" y="4690872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E36C0A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9349" name="Text"/>
          <p:cNvSpPr txBox="1"/>
          <p:nvPr/>
        </p:nvSpPr>
        <p:spPr>
          <a:xfrm>
            <a:off x="6263640" y="5111496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表格统计结果</a:t>
            </a:r>
          </a:p>
        </p:txBody>
      </p:sp>
    </p:spTree>
  </p:cSld>
  <p:clrMapOvr>
    <a:masterClrMapping/>
  </p:clrMapOvr>
  <p:transition spd="slow" advTm="0"/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0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351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352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9353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354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问题与不足</a:t>
            </a:r>
          </a:p>
        </p:txBody>
      </p:sp>
      <p:sp>
        <p:nvSpPr>
          <p:cNvPr id="9355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56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实验中发现的问题</a:t>
            </a:r>
          </a:p>
        </p:txBody>
      </p:sp>
      <p:sp>
        <p:nvSpPr>
          <p:cNvPr id="9357" name="Rect"/>
          <p:cNvSpPr/>
          <p:nvPr/>
        </p:nvSpPr>
        <p:spPr>
          <a:xfrm>
            <a:off x="1170432" y="1426464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58" name="Text"/>
          <p:cNvSpPr txBox="1"/>
          <p:nvPr/>
        </p:nvSpPr>
        <p:spPr>
          <a:xfrm>
            <a:off x="1426464" y="1298448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多工具任务里会出现数字歧义。</a:t>
            </a:r>
          </a:p>
        </p:txBody>
      </p:sp>
      <p:sp>
        <p:nvSpPr>
          <p:cNvPr id="9359" name="Rect"/>
          <p:cNvSpPr/>
          <p:nvPr/>
        </p:nvSpPr>
        <p:spPr>
          <a:xfrm>
            <a:off x="1170432" y="19568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60" name="Text"/>
          <p:cNvSpPr txBox="1"/>
          <p:nvPr/>
        </p:nvSpPr>
        <p:spPr>
          <a:xfrm>
            <a:off x="1426464" y="1828800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比如 22 号传感器有时会被模型误解成 22 日。</a:t>
            </a:r>
          </a:p>
        </p:txBody>
      </p:sp>
      <p:sp>
        <p:nvSpPr>
          <p:cNvPr id="9361" name="Rect"/>
          <p:cNvSpPr/>
          <p:nvPr/>
        </p:nvSpPr>
        <p:spPr>
          <a:xfrm>
            <a:off x="1170432" y="24871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62" name="Text"/>
          <p:cNvSpPr txBox="1"/>
          <p:nvPr/>
        </p:nvSpPr>
        <p:spPr>
          <a:xfrm>
            <a:off x="1426464" y="2359152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PeMS08 只覆盖 2016 年 7–8 月，所以相对时间查询会受限制。</a:t>
            </a:r>
          </a:p>
        </p:txBody>
      </p:sp>
      <p:sp>
        <p:nvSpPr>
          <p:cNvPr id="9363" name="Rect"/>
          <p:cNvSpPr/>
          <p:nvPr/>
        </p:nvSpPr>
        <p:spPr>
          <a:xfrm>
            <a:off x="1170432" y="30175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64" name="Text"/>
          <p:cNvSpPr txBox="1"/>
          <p:nvPr/>
        </p:nvSpPr>
        <p:spPr>
          <a:xfrm>
            <a:off x="1426464" y="2889503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当前工具还比较少，暂时没有路径规划和信号灯优化。</a:t>
            </a:r>
          </a:p>
        </p:txBody>
      </p:sp>
    </p:spTree>
  </p:cSld>
  <p:clrMapOvr>
    <a:masterClrMapping/>
  </p:clrMapOvr>
  <p:transition spd="slow" advTm="0"/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5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366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367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9368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369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9370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71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主要结论</a:t>
            </a:r>
          </a:p>
        </p:txBody>
      </p:sp>
      <p:sp>
        <p:nvSpPr>
          <p:cNvPr id="9372" name="Rect"/>
          <p:cNvSpPr/>
          <p:nvPr/>
        </p:nvSpPr>
        <p:spPr>
          <a:xfrm>
            <a:off x="1170432" y="1426464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73" name="Text"/>
          <p:cNvSpPr txBox="1"/>
          <p:nvPr/>
        </p:nvSpPr>
        <p:spPr>
          <a:xfrm>
            <a:off x="1426464" y="1298448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本课题完成了一个基于大模型的交通智能体原型。</a:t>
            </a:r>
          </a:p>
        </p:txBody>
      </p:sp>
      <p:sp>
        <p:nvSpPr>
          <p:cNvPr id="9374" name="Rect"/>
          <p:cNvSpPr/>
          <p:nvPr/>
        </p:nvSpPr>
        <p:spPr>
          <a:xfrm>
            <a:off x="1170432" y="19568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75" name="Text"/>
          <p:cNvSpPr txBox="1"/>
          <p:nvPr/>
        </p:nvSpPr>
        <p:spPr>
          <a:xfrm>
            <a:off x="1426464" y="1828800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系统能把自然语言问题转成工具调用。</a:t>
            </a:r>
          </a:p>
        </p:txBody>
      </p:sp>
      <p:sp>
        <p:nvSpPr>
          <p:cNvPr id="9376" name="Rect"/>
          <p:cNvSpPr/>
          <p:nvPr/>
        </p:nvSpPr>
        <p:spPr>
          <a:xfrm>
            <a:off x="1170432" y="24871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77" name="Text"/>
          <p:cNvSpPr txBox="1"/>
          <p:nvPr/>
        </p:nvSpPr>
        <p:spPr>
          <a:xfrm>
            <a:off x="1426464" y="2359152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系统能把查询、分析和预测结果整理成中文报告。</a:t>
            </a:r>
          </a:p>
        </p:txBody>
      </p:sp>
      <p:sp>
        <p:nvSpPr>
          <p:cNvPr id="9378" name="Rect"/>
          <p:cNvSpPr/>
          <p:nvPr/>
        </p:nvSpPr>
        <p:spPr>
          <a:xfrm>
            <a:off x="1170432" y="30175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79" name="Text"/>
          <p:cNvSpPr txBox="1"/>
          <p:nvPr/>
        </p:nvSpPr>
        <p:spPr>
          <a:xfrm>
            <a:off x="1426464" y="2889503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后续工作会优先接入实时数据，并继续扩展交通管理工具。</a:t>
            </a:r>
          </a:p>
        </p:txBody>
      </p:sp>
      <p:sp>
        <p:nvSpPr>
          <p:cNvPr id="9380" name="Text"/>
          <p:cNvSpPr txBox="1"/>
          <p:nvPr/>
        </p:nvSpPr>
        <p:spPr>
          <a:xfrm>
            <a:off x="7269480" y="5349240"/>
            <a:ext cx="1920240" cy="29260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答辩人：周佳琪</a:t>
            </a:r>
          </a:p>
        </p:txBody>
      </p:sp>
      <p:sp>
        <p:nvSpPr>
          <p:cNvPr id="9381" name="Text"/>
          <p:cNvSpPr txBox="1"/>
          <p:nvPr/>
        </p:nvSpPr>
        <p:spPr>
          <a:xfrm>
            <a:off x="9144000" y="5349240"/>
            <a:ext cx="1828800" cy="29260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导师：王静远</a:t>
            </a:r>
          </a:p>
        </p:txBody>
      </p:sp>
    </p:spTree>
  </p:cSld>
  <p:clrMapOvr>
    <a:masterClrMapping/>
  </p:clrMapOvr>
  <p:transition spd="slow" advTm="0"/>
</p:sld>
</file>

<file path=ppt/tags/tag1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2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3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4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5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6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7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8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9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0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1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2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3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4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5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6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7.xml><?xml version="1.0" encoding="utf-8"?>
<p:tagLst xmlns:p="http://schemas.openxmlformats.org/presentationml/2006/main">
  <p:tag name="MH" val="20160511170643"/>
  <p:tag name="MH_LIBRARY" val="GRAPHIC"/>
  <p:tag name="MH_TYPE" val="Other"/>
  <p:tag name="MH_ORDER" val="1"/>
</p:tagLst>
</file>

<file path=ppt/tags/tag18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1"/>
</p:tagLst>
</file>

<file path=ppt/tags/tag19.xml><?xml version="1.0" encoding="utf-8"?>
<p:tagLst xmlns:p="http://schemas.openxmlformats.org/presentationml/2006/main">
  <p:tag name="MH" val="20160511170643"/>
  <p:tag name="MH_LIBRARY" val="GRAPHIC"/>
  <p:tag name="MH_TYPE" val="Other"/>
  <p:tag name="MH_ORDER" val="2"/>
</p:tagLst>
</file>

<file path=ppt/tags/tag20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2"/>
</p:tagLst>
</file>

<file path=ppt/tags/tag21.xml><?xml version="1.0" encoding="utf-8"?>
<p:tagLst xmlns:p="http://schemas.openxmlformats.org/presentationml/2006/main">
  <p:tag name="MH" val="20160511170643"/>
  <p:tag name="MH_LIBRARY" val="GRAPHIC"/>
  <p:tag name="MH_TYPE" val="Other"/>
  <p:tag name="MH_ORDER" val="3"/>
</p:tagLst>
</file>

<file path=ppt/tags/tag22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3"/>
</p:tagLst>
</file>

<file path=ppt/tags/tag23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4"/>
</p:tagLst>
</file>

<file path=ppt/tags/tag24.xml><?xml version="1.0" encoding="utf-8"?>
<p:tagLst xmlns:p="http://schemas.openxmlformats.org/presentationml/2006/main">
  <p:tag name="MH" val="20160511170830"/>
  <p:tag name="MH_LIBRARY" val="GRAPHIC"/>
  <p:tag name="MH_TYPE" val="Text"/>
  <p:tag name="MH_ORDER" val="1"/>
  <p:tag name="KSO_WM_DIAGRAM_VIRTUALLY_FRAME" val="{&quot;height&quot;:289.35653543307086,&quot;left&quot;:147.65125984251966,&quot;top&quot;:186.49181102362203,&quot;width&quot;:664.6975590551181}"/>
</p:tagLst>
</file>

<file path=ppt/tags/tag25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1"/>
  <p:tag name="KSO_WM_DIAGRAM_VIRTUALLY_FRAME" val="{&quot;height&quot;:289.35653543307086,&quot;left&quot;:147.65125984251966,&quot;top&quot;:186.49181102362203,&quot;width&quot;:664.6975590551181}"/>
</p:tagLst>
</file>

<file path=ppt/tags/tag26.xml><?xml version="1.0" encoding="utf-8"?>
<p:tagLst xmlns:p="http://schemas.openxmlformats.org/presentationml/2006/main">
  <p:tag name="MH" val="20160511170830"/>
  <p:tag name="MH_LIBRARY" val="GRAPHIC"/>
  <p:tag name="MH_TYPE" val="Text"/>
  <p:tag name="MH_ORDER" val="2"/>
  <p:tag name="KSO_WM_DIAGRAM_VIRTUALLY_FRAME" val="{&quot;height&quot;:289.35653543307086,&quot;left&quot;:147.65125984251966,&quot;top&quot;:186.49181102362203,&quot;width&quot;:664.6975590551181}"/>
</p:tagLst>
</file>

<file path=ppt/tags/tag27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2"/>
  <p:tag name="KSO_WM_DIAGRAM_VIRTUALLY_FRAME" val="{&quot;height&quot;:289.35653543307086,&quot;left&quot;:147.65125984251966,&quot;top&quot;:186.49181102362203,&quot;width&quot;:664.6975590551181}"/>
</p:tagLst>
</file>

<file path=ppt/tags/tag28.xml><?xml version="1.0" encoding="utf-8"?>
<p:tagLst xmlns:p="http://schemas.openxmlformats.org/presentationml/2006/main">
  <p:tag name="MH" val="20160511170830"/>
  <p:tag name="MH_LIBRARY" val="GRAPHIC"/>
  <p:tag name="MH_TYPE" val="Text"/>
  <p:tag name="MH_ORDER" val="3"/>
  <p:tag name="KSO_WM_DIAGRAM_VIRTUALLY_FRAME" val="{&quot;height&quot;:289.35653543307086,&quot;left&quot;:147.65125984251966,&quot;top&quot;:186.49181102362203,&quot;width&quot;:664.6975590551181}"/>
</p:tagLst>
</file>

<file path=ppt/tags/tag29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3"/>
  <p:tag name="KSO_WM_DIAGRAM_VIRTUALLY_FRAME" val="{&quot;height&quot;:289.35653543307086,&quot;left&quot;:147.65125984251966,&quot;top&quot;:186.49181102362203,&quot;width&quot;:664.6975590551181}"/>
</p:tagLst>
</file>

<file path=ppt/tags/tag30.xml><?xml version="1.0" encoding="utf-8"?>
<p:tagLst xmlns:p="http://schemas.openxmlformats.org/presentationml/2006/main">
  <p:tag name="MH" val="20160511170830"/>
  <p:tag name="MH_LIBRARY" val="GRAPHIC"/>
  <p:tag name="MH_TYPE" val="Text"/>
  <p:tag name="MH_ORDER" val="4"/>
  <p:tag name="KSO_WM_DIAGRAM_VIRTUALLY_FRAME" val="{&quot;height&quot;:289.35653543307086,&quot;left&quot;:147.65125984251966,&quot;top&quot;:186.49181102362203,&quot;width&quot;:664.6975590551181}"/>
</p:tagLst>
</file>

<file path=ppt/tags/tag31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4"/>
  <p:tag name="KSO_WM_DIAGRAM_VIRTUALLY_FRAME" val="{&quot;height&quot;:289.35653543307086,&quot;left&quot;:147.65125984251966,&quot;top&quot;:186.49181102362203,&quot;width&quot;:664.6975590551181}"/>
</p:tagLst>
</file>

<file path=ppt/tags/tag32.xml><?xml version="1.0" encoding="utf-8"?>
<p:tagLst xmlns:p="http://schemas.openxmlformats.org/presentationml/2006/main">
  <p:tag name="MH" val="20160511170830"/>
  <p:tag name="MH_LIBRARY" val="GRAPHIC"/>
  <p:tag name="MH_TYPE" val="Text"/>
  <p:tag name="MH_ORDER" val="5"/>
  <p:tag name="KSO_WM_DIAGRAM_VIRTUALLY_FRAME" val="{&quot;height&quot;:289.35653543307086,&quot;left&quot;:147.65125984251966,&quot;top&quot;:186.49181102362203,&quot;width&quot;:664.6975590551181}"/>
</p:tagLst>
</file>

<file path=ppt/tags/tag33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5"/>
  <p:tag name="KSO_WM_DIAGRAM_VIRTUALLY_FRAME" val="{&quot;height&quot;:289.35653543307086,&quot;left&quot;:147.65125984251966,&quot;top&quot;:186.49181102362203,&quot;width&quot;:664.6975590551181}"/>
</p:tagLst>
</file>

<file path=ppt/tags/tag34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5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6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7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8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9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0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1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2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3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4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5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6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7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8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9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0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1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2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3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4.xml><?xml version="1.0" encoding="utf-8"?>
<p:tagLst xmlns:p="http://schemas.openxmlformats.org/presentationml/2006/main">
  <p:tag name="KSO_WM_DIAGRAM_VIRTUALLY_FRAME" val="{&quot;height&quot;:470.97007874015753,&quot;left&quot;:19,&quot;top&quot;:60.16677165354331,&quot;width&quot;:924.5859842519685}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7C1CC"/>
      </a:accent2>
      <a:accent3>
        <a:srgbClr val="839192"/>
      </a:accent3>
      <a:accent4>
        <a:srgbClr val="156595"/>
      </a:accent4>
      <a:accent5>
        <a:srgbClr val="FBD78D"/>
      </a:accent5>
      <a:accent6>
        <a:srgbClr val="F2523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1686</ns0:Words>
  <ns0:Application>WPS 演示</ns0:Application>
  <ns0:PresentationFormat>宽屏</ns0:PresentationFormat>
  <ns0:Paragraphs>325</ns0:Paragraphs>
  <ns0:Slides>20</ns0:Slides>
  <ns0:Notes>22</ns0:Notes>
  <ns0:HiddenSlides>20</ns0:HiddenSlides>
  <ns0:MMClips>2</ns0:MMClips>
  <ns0:ScaleCrop>false</ns0:ScaleCrop>
  <ns0:HeadingPairs>
    <ns1:vector size="6" baseType="variant">
      <ns1:variant>
        <ns1:lpstr>已用的字体</ns1:lpstr>
      </ns1:variant>
      <ns1:variant>
        <ns1:i4>14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28</ns1:i4>
      </ns1:variant>
    </ns1:vector>
  </ns0:HeadingPairs>
  <ns0:TitlesOfParts>
    <ns1:vector size="43" baseType="lpstr">
      <ns1:lpstr>Arial</ns1:lpstr>
      <ns1:lpstr>宋体</ns1:lpstr>
      <ns1:lpstr>Wingdings</ns1:lpstr>
      <ns1:lpstr>华文行楷</ns1:lpstr>
      <ns1:lpstr>Mangal</ns1:lpstr>
      <ns1:lpstr>黑体</ns1:lpstr>
      <ns1:lpstr>Calibri</ns1:lpstr>
      <ns1:lpstr>Arial</ns1:lpstr>
      <ns1:lpstr>Times New Roman</ns1:lpstr>
      <ns1:lpstr>DejaVu Math TeX Gyre</ns1:lpstr>
      <ns1:lpstr>微软雅黑</ns1:lpstr>
      <ns1:lpstr>Arial Unicode MS</ns1:lpstr>
      <ns1:lpstr>Noto Sans SC</ns1:lpstr>
      <ns1:lpstr>Consolas</ns1:lpstr>
      <ns1:lpstr>Office 主题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Company>mycomputer</ns0:Company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chenjiawei</dc:creator>
  <cp:lastModifiedBy>周佳琪</cp:lastModifiedBy>
  <cp:revision>62</cp:revision>
  <dcterms:created xsi:type="dcterms:W3CDTF">2016-05-11T01:57:00Z</dcterms:created>
  <dcterms:modified xsi:type="dcterms:W3CDTF">2026-04-15T03:50:48Z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46522DE0146E405D9889E480BF3616BE_13</vt:lpwstr>
  </property>
</Properties>
</file>