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72" r:id="rId8"/>
    <p:sldId id="283" r:id="rId9"/>
    <p:sldId id="259" r:id="rId10"/>
    <p:sldId id="289" r:id="rId11"/>
    <p:sldId id="290" r:id="rId12"/>
    <p:sldId id="269" r:id="rId13"/>
    <p:sldId id="294" r:id="rId14"/>
    <p:sldId id="292" r:id="rId15"/>
    <p:sldId id="291" r:id="rId16"/>
    <p:sldId id="293" r:id="rId17"/>
    <p:sldId id="295" r:id="rId18"/>
    <p:sldId id="297" r:id="rId19"/>
    <p:sldId id="296" r:id="rId20"/>
    <p:sldId id="298" r:id="rId21"/>
    <p:sldId id="300" r:id="rId22"/>
    <p:sldId id="284" r:id="rId23"/>
    <p:sldId id="301" r:id="rId24"/>
    <p:sldId id="302" r:id="rId25"/>
    <p:sldId id="304" r:id="rId26"/>
    <p:sldId id="305" r:id="rId27"/>
    <p:sldId id="286" r:id="rId28"/>
    <p:sldId id="287" r:id="rId29"/>
    <p:sldId id="303" r:id="rId30"/>
    <p:sldId id="28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pos="534" userDrawn="1">
          <p15:clr>
            <a:srgbClr val="A4A3A4"/>
          </p15:clr>
        </p15:guide>
        <p15:guide id="4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29E7768-BB3E-418E-BA06-28C98E30119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0" autoAdjust="0"/>
    <p:restoredTop sz="92866" autoAdjust="0"/>
  </p:normalViewPr>
  <p:slideViewPr>
    <p:cSldViewPr snapToGrid="0" showGuides="1">
      <p:cViewPr varScale="1">
        <p:scale>
          <a:sx n="108" d="100"/>
          <a:sy n="108" d="100"/>
        </p:scale>
        <p:origin x="100" y="420"/>
      </p:cViewPr>
      <p:guideLst>
        <p:guide orient="horz" pos="2160"/>
        <p:guide pos="3838"/>
        <p:guide pos="534"/>
        <p:guide pos="7152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-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3CA76-B799-4CDE-9068-35594054F5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3.png" /><Relationship Id="rId1" Type="http://schemas.openxmlformats.org/officeDocument/2006/relationships/image" Target="../media/image2.jpeg" /></Relationships>
</file>

<file path=ppt/slides/_rels/slide2.xml.rels><?xml version='1.0' encoding='utf-8'?>
<Relationships xmlns="http://schemas.openxmlformats.org/package/2006/relationships"><Relationship Id="rId9" Type="http://schemas.openxmlformats.org/officeDocument/2006/relationships/tags" Target="../tags/tag9.xml" /><Relationship Id="rId8" Type="http://schemas.openxmlformats.org/officeDocument/2006/relationships/tags" Target="../tags/tag8.xml" /><Relationship Id="rId7" Type="http://schemas.openxmlformats.org/officeDocument/2006/relationships/tags" Target="../tags/tag7.xml" /><Relationship Id="rId6" Type="http://schemas.openxmlformats.org/officeDocument/2006/relationships/tags" Target="../tags/tag6.xml" /><Relationship Id="rId5" Type="http://schemas.openxmlformats.org/officeDocument/2006/relationships/tags" Target="../tags/tag5.xml" /><Relationship Id="rId4" Type="http://schemas.openxmlformats.org/officeDocument/2006/relationships/tags" Target="../tags/tag4.xml" /><Relationship Id="rId3" Type="http://schemas.openxmlformats.org/officeDocument/2006/relationships/tags" Target="../tags/tag3.xml" /><Relationship Id="rId2" Type="http://schemas.openxmlformats.org/officeDocument/2006/relationships/tags" Target="../tags/tag2.xml" /><Relationship Id="rId17" Type="http://schemas.openxmlformats.org/officeDocument/2006/relationships/slideLayout" Target="../slideLayouts/slideLayout7.xml" /><Relationship Id="rId16" Type="http://schemas.openxmlformats.org/officeDocument/2006/relationships/tags" Target="../tags/tag16.xml" /><Relationship Id="rId15" Type="http://schemas.openxmlformats.org/officeDocument/2006/relationships/tags" Target="../tags/tag15.xml" /><Relationship Id="rId14" Type="http://schemas.openxmlformats.org/officeDocument/2006/relationships/tags" Target="../tags/tag14.xml" /><Relationship Id="rId13" Type="http://schemas.openxmlformats.org/officeDocument/2006/relationships/tags" Target="../tags/tag13.xml" /><Relationship Id="rId12" Type="http://schemas.openxmlformats.org/officeDocument/2006/relationships/tags" Target="../tags/tag12.xml" /><Relationship Id="rId11" Type="http://schemas.openxmlformats.org/officeDocument/2006/relationships/tags" Target="../tags/tag11.xml" /><Relationship Id="rId10" Type="http://schemas.openxmlformats.org/officeDocument/2006/relationships/tags" Target="../tags/tag10.xml" /><Relationship Id="rId1" Type="http://schemas.openxmlformats.org/officeDocument/2006/relationships/tags" Target="../tags/tag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8" Type="http://schemas.openxmlformats.org/officeDocument/2006/relationships/slideLayout" Target="../slideLayouts/slideLayout7.xml" /><Relationship Id="rId7" Type="http://schemas.openxmlformats.org/officeDocument/2006/relationships/tags" Target="../tags/tag23.xml" /><Relationship Id="rId6" Type="http://schemas.openxmlformats.org/officeDocument/2006/relationships/tags" Target="../tags/tag22.xml" /><Relationship Id="rId5" Type="http://schemas.openxmlformats.org/officeDocument/2006/relationships/tags" Target="../tags/tag21.xml" /><Relationship Id="rId4" Type="http://schemas.openxmlformats.org/officeDocument/2006/relationships/tags" Target="../tags/tag20.xml" /><Relationship Id="rId3" Type="http://schemas.openxmlformats.org/officeDocument/2006/relationships/tags" Target="../tags/tag19.xml" /><Relationship Id="rId2" Type="http://schemas.openxmlformats.org/officeDocument/2006/relationships/tags" Target="../tags/tag18.xml" /><Relationship Id="rId1" Type="http://schemas.openxmlformats.org/officeDocument/2006/relationships/tags" Target="../tags/tag17.xml" /></Relationships>
</file>

<file path=ppt/slides/_rels/slide5.xml.rels><?xml version='1.0' encoding='utf-8'?>
<Relationships xmlns="http://schemas.openxmlformats.org/package/2006/relationships"><Relationship Id="rId9" Type="http://schemas.openxmlformats.org/officeDocument/2006/relationships/tags" Target="../tags/tag32.xml" /><Relationship Id="rId8" Type="http://schemas.openxmlformats.org/officeDocument/2006/relationships/tags" Target="../tags/tag31.xml" /><Relationship Id="rId7" Type="http://schemas.openxmlformats.org/officeDocument/2006/relationships/tags" Target="../tags/tag30.xml" /><Relationship Id="rId6" Type="http://schemas.openxmlformats.org/officeDocument/2006/relationships/tags" Target="../tags/tag29.xml" /><Relationship Id="rId5" Type="http://schemas.openxmlformats.org/officeDocument/2006/relationships/tags" Target="../tags/tag28.xml" /><Relationship Id="rId4" Type="http://schemas.openxmlformats.org/officeDocument/2006/relationships/tags" Target="../tags/tag27.xml" /><Relationship Id="rId3" Type="http://schemas.openxmlformats.org/officeDocument/2006/relationships/tags" Target="../tags/tag26.xml" /><Relationship Id="rId2" Type="http://schemas.openxmlformats.org/officeDocument/2006/relationships/tags" Target="../tags/tag25.xml" /><Relationship Id="rId11" Type="http://schemas.openxmlformats.org/officeDocument/2006/relationships/slideLayout" Target="../slideLayouts/slideLayout7.xml" /><Relationship Id="rId10" Type="http://schemas.openxmlformats.org/officeDocument/2006/relationships/tags" Target="../tags/tag33.xml" /><Relationship Id="rId1" Type="http://schemas.openxmlformats.org/officeDocument/2006/relationships/tags" Target="../tags/tag24.xml" /></Relationships>
</file>

<file path=ppt/slides/_rels/slide6.xml.rels><?xml version='1.0' encoding='utf-8'?>
<Relationships xmlns="http://schemas.openxmlformats.org/package/2006/relationships"><Relationship Id="rId9" Type="http://schemas.openxmlformats.org/officeDocument/2006/relationships/image" Target="../media/image12.svg" /><Relationship Id="rId8" Type="http://schemas.openxmlformats.org/officeDocument/2006/relationships/image" Target="../media/image11.png" /><Relationship Id="rId7" Type="http://schemas.openxmlformats.org/officeDocument/2006/relationships/image" Target="../media/image10.svg" /><Relationship Id="rId6" Type="http://schemas.openxmlformats.org/officeDocument/2006/relationships/image" Target="../media/image9.png" /><Relationship Id="rId5" Type="http://schemas.openxmlformats.org/officeDocument/2006/relationships/image" Target="../media/image8.svg" /><Relationship Id="rId4" Type="http://schemas.openxmlformats.org/officeDocument/2006/relationships/image" Target="../media/image7.png" /><Relationship Id="rId3" Type="http://schemas.openxmlformats.org/officeDocument/2006/relationships/image" Target="../media/image6.png" /><Relationship Id="rId2" Type="http://schemas.openxmlformats.org/officeDocument/2006/relationships/image" Target="../media/image5.svg" /><Relationship Id="rId12" Type="http://schemas.openxmlformats.org/officeDocument/2006/relationships/slideLayout" Target="../slideLayouts/slideLayout7.xml" /><Relationship Id="rId11" Type="http://schemas.openxmlformats.org/officeDocument/2006/relationships/image" Target="../media/image14.svg" /><Relationship Id="rId10" Type="http://schemas.openxmlformats.org/officeDocument/2006/relationships/image" Target="../media/image13.png" /><Relationship Id="rId1" Type="http://schemas.openxmlformats.org/officeDocument/2006/relationships/image" Target="../media/image4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15.png" /><Relationship Id="rId3" Type="http://schemas.openxmlformats.org/officeDocument/2006/relationships/image" Target="../media/editable_image14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9" Type="http://schemas.openxmlformats.org/officeDocument/2006/relationships/tags" Target="../tags/tag40.xml" /><Relationship Id="rId8" Type="http://schemas.openxmlformats.org/officeDocument/2006/relationships/image" Target="../media/image17.png" /><Relationship Id="rId7" Type="http://schemas.openxmlformats.org/officeDocument/2006/relationships/tags" Target="../tags/tag39.xml" /><Relationship Id="rId6" Type="http://schemas.openxmlformats.org/officeDocument/2006/relationships/image" Target="../media/image16.png" /><Relationship Id="rId5" Type="http://schemas.openxmlformats.org/officeDocument/2006/relationships/tags" Target="../tags/tag38.xml" /><Relationship Id="rId4" Type="http://schemas.openxmlformats.org/officeDocument/2006/relationships/tags" Target="../tags/tag37.xml" /><Relationship Id="rId3" Type="http://schemas.openxmlformats.org/officeDocument/2006/relationships/tags" Target="../tags/tag36.xml" /><Relationship Id="rId2" Type="http://schemas.openxmlformats.org/officeDocument/2006/relationships/tags" Target="../tags/tag35.xml" /><Relationship Id="rId13" Type="http://schemas.openxmlformats.org/officeDocument/2006/relationships/slideLayout" Target="../slideLayouts/slideLayout7.xml" /><Relationship Id="rId12" Type="http://schemas.openxmlformats.org/officeDocument/2006/relationships/image" Target="../media/image19.png" /><Relationship Id="rId11" Type="http://schemas.openxmlformats.org/officeDocument/2006/relationships/tags" Target="../tags/tag41.xml" /><Relationship Id="rId10" Type="http://schemas.openxmlformats.org/officeDocument/2006/relationships/image" Target="../media/image18.png" /><Relationship Id="rId1" Type="http://schemas.openxmlformats.org/officeDocument/2006/relationships/tags" Target="../tags/tag34.xml" />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20.png" 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22.png" /><Relationship Id="rId1" Type="http://schemas.openxmlformats.org/officeDocument/2006/relationships/image" Target="../media/image21.png" /></Relationships>
</file>

<file path=ppt/slides/_rels/slide13.xml.rels><?xml version='1.0' encoding='utf-8'?>
<Relationships xmlns="http://schemas.openxmlformats.org/package/2006/relationships"><Relationship Id="rId9" Type="http://schemas.openxmlformats.org/officeDocument/2006/relationships/tags" Target="../tags/tag47.xml" /><Relationship Id="rId8" Type="http://schemas.openxmlformats.org/officeDocument/2006/relationships/tags" Target="../tags/tag46.xml" /><Relationship Id="rId7" Type="http://schemas.openxmlformats.org/officeDocument/2006/relationships/tags" Target="../tags/tag45.xml" /><Relationship Id="rId6" Type="http://schemas.openxmlformats.org/officeDocument/2006/relationships/image" Target="../media/image25.png" /><Relationship Id="rId5" Type="http://schemas.openxmlformats.org/officeDocument/2006/relationships/tags" Target="../tags/tag44.xml" /><Relationship Id="rId4" Type="http://schemas.openxmlformats.org/officeDocument/2006/relationships/image" Target="../media/image24.png" /><Relationship Id="rId3" Type="http://schemas.openxmlformats.org/officeDocument/2006/relationships/tags" Target="../tags/tag43.xml" /><Relationship Id="rId2" Type="http://schemas.openxmlformats.org/officeDocument/2006/relationships/image" Target="../media/image23.png" /><Relationship Id="rId19" Type="http://schemas.openxmlformats.org/officeDocument/2006/relationships/slideLayout" Target="../slideLayouts/slideLayout7.xml" /><Relationship Id="rId18" Type="http://schemas.openxmlformats.org/officeDocument/2006/relationships/image" Target="../media/image28.png" /><Relationship Id="rId17" Type="http://schemas.openxmlformats.org/officeDocument/2006/relationships/tags" Target="../tags/tag53.xml" /><Relationship Id="rId16" Type="http://schemas.openxmlformats.org/officeDocument/2006/relationships/image" Target="../media/image27.png" /><Relationship Id="rId15" Type="http://schemas.openxmlformats.org/officeDocument/2006/relationships/tags" Target="../tags/tag52.xml" /><Relationship Id="rId14" Type="http://schemas.openxmlformats.org/officeDocument/2006/relationships/image" Target="../media/image26.png" /><Relationship Id="rId13" Type="http://schemas.openxmlformats.org/officeDocument/2006/relationships/tags" Target="../tags/tag51.xml" /><Relationship Id="rId12" Type="http://schemas.openxmlformats.org/officeDocument/2006/relationships/tags" Target="../tags/tag50.xml" /><Relationship Id="rId11" Type="http://schemas.openxmlformats.org/officeDocument/2006/relationships/tags" Target="../tags/tag49.xml" /><Relationship Id="rId10" Type="http://schemas.openxmlformats.org/officeDocument/2006/relationships/tags" Target="../tags/tag48.xml" /><Relationship Id="rId1" Type="http://schemas.openxmlformats.org/officeDocument/2006/relationships/tags" Target="../tags/tag42.xml" />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29.png" /><Relationship Id="rId3" Type="http://schemas.openxmlformats.org/officeDocument/2006/relationships/image" Target="../media/editable_image3.png" />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0.png" /></Relationships>
</file>

<file path=ppt/slides/_rels/slide1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1.png" /><Relationship Id="rId3" Type="http://schemas.openxmlformats.org/officeDocument/2006/relationships/image" Target="../media/editable_image5.png" /><Relationship Id="rId4" Type="http://schemas.openxmlformats.org/officeDocument/2006/relationships/image" Target="../media/editable_image6.png" />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2.png" /><Relationship Id="rId3" Type="http://schemas.openxmlformats.org/officeDocument/2006/relationships/image" Target="../media/editable_image9.png" /><Relationship Id="rId4" Type="http://schemas.openxmlformats.org/officeDocument/2006/relationships/image" Target="../media/editable_image10.png" /></Relationships>
</file>

<file path=ppt/slides/_rels/slide1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3.png" /><Relationship Id="rId3" Type="http://schemas.openxmlformats.org/officeDocument/2006/relationships/image" Target="../media/editable_image11.png" 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35.png" /><Relationship Id="rId1" Type="http://schemas.openxmlformats.org/officeDocument/2006/relationships/image" Target="../media/image34.png" /><Relationship Id="rId4" Type="http://schemas.openxmlformats.org/officeDocument/2006/relationships/image" Target="../media/editable_image12.png" />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6.png" /><Relationship Id="rId3" Type="http://schemas.openxmlformats.org/officeDocument/2006/relationships/image" Target="../media/editable_image13.png" /></Relationships>
</file>

<file path=ppt/slides/_rels/slide2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7.png" /></Relationships>
</file>

<file path=ppt/slides/_rels/slide22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8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'1.0' encoding='utf-8'?>
<Relationships xmlns="http://schemas.openxmlformats.org/package/2006/relationships"><Relationship Id="rId4" Type="http://schemas.openxmlformats.org/officeDocument/2006/relationships/slideLayout" Target="../slideLayouts/slideLayout7.xml" /><Relationship Id="rId3" Type="http://schemas.openxmlformats.org/officeDocument/2006/relationships/image" Target="../media/image40.png" /><Relationship Id="rId2" Type="http://schemas.openxmlformats.org/officeDocument/2006/relationships/tags" Target="../tags/tag54.xml" /><Relationship Id="rId1" Type="http://schemas.openxmlformats.org/officeDocument/2006/relationships/image" Target="../media/image39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6.xml.rels><?xml version='1.0' encoding='utf-8'?>
<Relationships xmlns="http://schemas.openxmlformats.org/package/2006/relationships"><Relationship Id="rId4" Type="http://schemas.openxmlformats.org/officeDocument/2006/relationships/slideLayout" Target="../slideLayouts/slideLayout7.xml" /><Relationship Id="rId3" Type="http://schemas.openxmlformats.org/officeDocument/2006/relationships/image" Target="../media/image43.png" /><Relationship Id="rId2" Type="http://schemas.openxmlformats.org/officeDocument/2006/relationships/image" Target="../media/image42.png" /><Relationship Id="rId1" Type="http://schemas.openxmlformats.org/officeDocument/2006/relationships/image" Target="../media/image41.png" /></Relationships>
</file>

<file path=ppt/slides/_rels/slide27.xml.rels><?xml version='1.0' encoding='utf-8'?>
<Relationships xmlns="http://schemas.openxmlformats.org/package/2006/relationships"><Relationship Id="rId4" Type="http://schemas.openxmlformats.org/officeDocument/2006/relationships/slideLayout" Target="../slideLayouts/slideLayout7.xml" /><Relationship Id="rId3" Type="http://schemas.openxmlformats.org/officeDocument/2006/relationships/image" Target="../media/image46.png" /><Relationship Id="rId2" Type="http://schemas.openxmlformats.org/officeDocument/2006/relationships/image" Target="../media/image45.png" /><Relationship Id="rId1" Type="http://schemas.openxmlformats.org/officeDocument/2006/relationships/image" Target="../media/image44.png" /></Relationships>
</file>

<file path=ppt/slides/_rels/slide28.xml.rels><?xml version='1.0' encoding='utf-8'?>
<Relationships xmlns="http://schemas.openxmlformats.org/package/2006/relationships"><Relationship Id="rId4" Type="http://schemas.openxmlformats.org/officeDocument/2006/relationships/slideLayout" Target="../slideLayouts/slideLayout7.xml" /><Relationship Id="rId3" Type="http://schemas.openxmlformats.org/officeDocument/2006/relationships/image" Target="../media/image3.png" /><Relationship Id="rId2" Type="http://schemas.openxmlformats.org/officeDocument/2006/relationships/image" Target="../media/image47.jpeg" /><Relationship Id="rId1" Type="http://schemas.openxmlformats.org/officeDocument/2006/relationships/image" Target="../media/image2.jpe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52652" y="2173931"/>
            <a:ext cx="8939348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1" name="deco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9525">
            <a:noFill/>
          </a:ln>
        </p:spPr>
      </p:sp>
      <p:sp>
        <p:nvSpPr>
          <p:cNvPr id="12002" name="decor"/>
          <p:cNvSpPr/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03" name="text"/>
          <p:cNvSpPr txBox="1"/>
          <p:nvPr/>
        </p:nvSpPr>
        <p:spPr>
          <a:xfrm>
            <a:off x="566928" y="914400"/>
            <a:ext cx="1645920" cy="38404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</a:rPr>
              <a:t>BUAA</a:t>
            </a:r>
          </a:p>
        </p:txBody>
      </p:sp>
      <p:sp>
        <p:nvSpPr>
          <p:cNvPr id="12004" name="text"/>
          <p:cNvSpPr txBox="1"/>
          <p:nvPr/>
        </p:nvSpPr>
        <p:spPr>
          <a:xfrm>
            <a:off x="347472" y="1417320"/>
            <a:ext cx="2176272" cy="2743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600">
                <a:solidFill>
                  <a:srgbClr val="FFFFFF"/>
                </a:solidFill>
                <a:latin typeface="Microsoft YaHei"/>
                <a:ea typeface="Microsoft YaHei"/>
              </a:rPr>
              <a:t>本科毕业设计答辩</a:t>
            </a:r>
          </a:p>
        </p:txBody>
      </p:sp>
      <p:sp>
        <p:nvSpPr>
          <p:cNvPr id="12005" name="text"/>
          <p:cNvSpPr txBox="1"/>
          <p:nvPr/>
        </p:nvSpPr>
        <p:spPr>
          <a:xfrm>
            <a:off x="3474720" y="1965960"/>
            <a:ext cx="7315200" cy="82296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3200" b="1">
                <a:solidFill>
                  <a:srgbClr val="1A3A5C"/>
                </a:solidFill>
                <a:latin typeface="Microsoft YaHei"/>
                <a:ea typeface="Microsoft YaHei"/>
              </a:rPr>
              <a:t>基于大模型的交通智能体设计与实现</a:t>
            </a:r>
          </a:p>
        </p:txBody>
      </p:sp>
      <p:sp>
        <p:nvSpPr>
          <p:cNvPr id="12006" name="decor"/>
          <p:cNvSpPr/>
          <p:nvPr/>
        </p:nvSpPr>
        <p:spPr>
          <a:xfrm>
            <a:off x="3520440" y="3063240"/>
            <a:ext cx="1920240" cy="50292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007" name="text"/>
          <p:cNvSpPr txBox="1"/>
          <p:nvPr/>
        </p:nvSpPr>
        <p:spPr>
          <a:xfrm>
            <a:off x="3474720" y="3657600"/>
            <a:ext cx="182880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答辩人：周佳琪</a:t>
            </a:r>
          </a:p>
        </p:txBody>
      </p:sp>
      <p:sp>
        <p:nvSpPr>
          <p:cNvPr id="12008" name="text"/>
          <p:cNvSpPr txBox="1"/>
          <p:nvPr/>
        </p:nvSpPr>
        <p:spPr>
          <a:xfrm>
            <a:off x="5532120" y="3657600"/>
            <a:ext cx="182880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导师：王静远</a:t>
            </a:r>
          </a:p>
        </p:txBody>
      </p:sp>
      <p:sp>
        <p:nvSpPr>
          <p:cNvPr id="12009" name="text"/>
          <p:cNvSpPr txBox="1"/>
          <p:nvPr/>
        </p:nvSpPr>
        <p:spPr>
          <a:xfrm>
            <a:off x="3474720" y="4069080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  计算机学院</a:t>
            </a:r>
          </a:p>
        </p:txBody>
      </p:sp>
      <p:sp>
        <p:nvSpPr>
          <p:cNvPr id="12010" name="text"/>
          <p:cNvSpPr txBox="1"/>
          <p:nvPr/>
        </p:nvSpPr>
        <p:spPr>
          <a:xfrm>
            <a:off x="3474720" y="438912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2026 年 6 月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011" name="decor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12" name="text"/>
          <p:cNvSpPr txBox="1"/>
          <p:nvPr/>
        </p:nvSpPr>
        <p:spPr>
          <a:xfrm>
            <a:off x="640080" y="1143000"/>
            <a:ext cx="2834640" cy="5029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12013" name="text"/>
          <p:cNvSpPr txBox="1"/>
          <p:nvPr/>
        </p:nvSpPr>
        <p:spPr>
          <a:xfrm>
            <a:off x="685800" y="1783080"/>
            <a:ext cx="1645920" cy="38404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12014" name="text"/>
          <p:cNvSpPr txBox="1"/>
          <p:nvPr/>
        </p:nvSpPr>
        <p:spPr>
          <a:xfrm>
            <a:off x="4434840" y="132588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800" b="1">
                <a:solidFill>
                  <a:srgbClr val="D56A20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12015" name="text"/>
          <p:cNvSpPr txBox="1"/>
          <p:nvPr/>
        </p:nvSpPr>
        <p:spPr>
          <a:xfrm>
            <a:off x="5074920" y="1325880"/>
            <a:ext cx="2103120" cy="2743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000" b="1">
                <a:solidFill>
                  <a:srgbClr val="222A35"/>
                </a:solidFill>
                <a:latin typeface="Microsoft YaHei"/>
                <a:ea typeface="Microsoft YaHei"/>
              </a:rPr>
              <a:t>问题与目标</a:t>
            </a:r>
          </a:p>
        </p:txBody>
      </p:sp>
      <p:sp>
        <p:nvSpPr>
          <p:cNvPr id="12016" name="text"/>
          <p:cNvSpPr txBox="1"/>
          <p:nvPr/>
        </p:nvSpPr>
        <p:spPr>
          <a:xfrm>
            <a:off x="7059168" y="1344168"/>
            <a:ext cx="365760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—— 为什么要用智能体做交通分析</a:t>
            </a:r>
          </a:p>
        </p:txBody>
      </p:sp>
      <p:sp>
        <p:nvSpPr>
          <p:cNvPr id="12017" name="text"/>
          <p:cNvSpPr txBox="1"/>
          <p:nvPr/>
        </p:nvSpPr>
        <p:spPr>
          <a:xfrm>
            <a:off x="4434840" y="2377439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800" b="1">
                <a:solidFill>
                  <a:srgbClr val="D56A20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2018" name="text"/>
          <p:cNvSpPr txBox="1"/>
          <p:nvPr/>
        </p:nvSpPr>
        <p:spPr>
          <a:xfrm>
            <a:off x="5074920" y="2377439"/>
            <a:ext cx="2103120" cy="2743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000" b="1">
                <a:solidFill>
                  <a:srgbClr val="222A35"/>
                </a:solidFill>
                <a:latin typeface="Microsoft YaHei"/>
                <a:ea typeface="Microsoft YaHei"/>
              </a:rPr>
              <a:t>系统设计</a:t>
            </a:r>
          </a:p>
        </p:txBody>
      </p:sp>
      <p:sp>
        <p:nvSpPr>
          <p:cNvPr id="12019" name="text"/>
          <p:cNvSpPr txBox="1"/>
          <p:nvPr/>
        </p:nvSpPr>
        <p:spPr>
          <a:xfrm>
            <a:off x="7059168" y="2395727"/>
            <a:ext cx="365760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—— 大模型、状态图和工具链怎样协同</a:t>
            </a:r>
          </a:p>
        </p:txBody>
      </p:sp>
      <p:sp>
        <p:nvSpPr>
          <p:cNvPr id="12020" name="text"/>
          <p:cNvSpPr txBox="1"/>
          <p:nvPr/>
        </p:nvSpPr>
        <p:spPr>
          <a:xfrm>
            <a:off x="4434840" y="342900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800" b="1">
                <a:solidFill>
                  <a:srgbClr val="D56A20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2021" name="text"/>
          <p:cNvSpPr txBox="1"/>
          <p:nvPr/>
        </p:nvSpPr>
        <p:spPr>
          <a:xfrm>
            <a:off x="5074920" y="3429000"/>
            <a:ext cx="2103120" cy="2743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000" b="1">
                <a:solidFill>
                  <a:srgbClr val="222A35"/>
                </a:solidFill>
                <a:latin typeface="Microsoft YaHei"/>
                <a:ea typeface="Microsoft YaHei"/>
              </a:rPr>
              <a:t>实现与实例</a:t>
            </a:r>
          </a:p>
        </p:txBody>
      </p:sp>
      <p:sp>
        <p:nvSpPr>
          <p:cNvPr id="12022" name="text"/>
          <p:cNvSpPr txBox="1"/>
          <p:nvPr/>
        </p:nvSpPr>
        <p:spPr>
          <a:xfrm>
            <a:off x="7059168" y="3447288"/>
            <a:ext cx="365760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—— 数据、预测模型和交互结果</a:t>
            </a:r>
          </a:p>
        </p:txBody>
      </p:sp>
      <p:sp>
        <p:nvSpPr>
          <p:cNvPr id="12023" name="text"/>
          <p:cNvSpPr txBox="1"/>
          <p:nvPr/>
        </p:nvSpPr>
        <p:spPr>
          <a:xfrm>
            <a:off x="4434840" y="4480559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800" b="1">
                <a:solidFill>
                  <a:srgbClr val="D56A20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12024" name="text"/>
          <p:cNvSpPr txBox="1"/>
          <p:nvPr/>
        </p:nvSpPr>
        <p:spPr>
          <a:xfrm>
            <a:off x="5074920" y="4480559"/>
            <a:ext cx="2103120" cy="2743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000" b="1">
                <a:solidFill>
                  <a:srgbClr val="222A35"/>
                </a:solidFill>
                <a:latin typeface="Microsoft YaHei"/>
                <a:ea typeface="Microsoft YaHei"/>
              </a:rPr>
              <a:t>实验与总结</a:t>
            </a:r>
          </a:p>
        </p:txBody>
      </p:sp>
      <p:sp>
        <p:nvSpPr>
          <p:cNvPr id="12025" name="text"/>
          <p:cNvSpPr txBox="1"/>
          <p:nvPr/>
        </p:nvSpPr>
        <p:spPr>
          <a:xfrm>
            <a:off x="7059168" y="4498847"/>
            <a:ext cx="365760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—— 37 条用例说明了什么</a:t>
            </a:r>
          </a:p>
        </p:txBody>
      </p:sp>
    </p:spTree>
  </p:cSld>
  <p:clrMapOvr>
    <a:masterClrMapping/>
  </p:clrMapOvr>
  <p:transition spd="slow" advTm="0"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026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27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Outline</a:t>
            </a:r>
          </a:p>
        </p:txBody>
      </p:sp>
      <p:sp>
        <p:nvSpPr>
          <p:cNvPr id="12028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029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030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2031" name="text"/>
          <p:cNvSpPr txBox="1"/>
          <p:nvPr/>
        </p:nvSpPr>
        <p:spPr>
          <a:xfrm>
            <a:off x="1097280" y="123444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 b="1">
                <a:solidFill>
                  <a:srgbClr val="1A3A5C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12032" name="text"/>
          <p:cNvSpPr txBox="1"/>
          <p:nvPr/>
        </p:nvSpPr>
        <p:spPr>
          <a:xfrm>
            <a:off x="1737360" y="123444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 b="1">
                <a:solidFill>
                  <a:srgbClr val="1A3A5C"/>
                </a:solidFill>
                <a:latin typeface="Microsoft YaHei"/>
                <a:ea typeface="Microsoft YaHei"/>
              </a:rPr>
              <a:t>问题与目标</a:t>
            </a:r>
          </a:p>
        </p:txBody>
      </p:sp>
      <p:sp>
        <p:nvSpPr>
          <p:cNvPr id="12033" name="text"/>
          <p:cNvSpPr txBox="1"/>
          <p:nvPr/>
        </p:nvSpPr>
        <p:spPr>
          <a:xfrm>
            <a:off x="3657600" y="125272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1A3A5C"/>
                </a:solidFill>
                <a:latin typeface="Microsoft YaHei"/>
                <a:ea typeface="Microsoft YaHei"/>
              </a:rPr>
              <a:t>—— 为什么要用智能体做交通分析</a:t>
            </a:r>
          </a:p>
        </p:txBody>
      </p:sp>
      <p:sp>
        <p:nvSpPr>
          <p:cNvPr id="12034" name="text"/>
          <p:cNvSpPr txBox="1"/>
          <p:nvPr/>
        </p:nvSpPr>
        <p:spPr>
          <a:xfrm>
            <a:off x="1097280" y="201168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2035" name="text"/>
          <p:cNvSpPr txBox="1"/>
          <p:nvPr/>
        </p:nvSpPr>
        <p:spPr>
          <a:xfrm>
            <a:off x="1737360" y="201168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系统设计</a:t>
            </a:r>
          </a:p>
        </p:txBody>
      </p:sp>
      <p:sp>
        <p:nvSpPr>
          <p:cNvPr id="12036" name="text"/>
          <p:cNvSpPr txBox="1"/>
          <p:nvPr/>
        </p:nvSpPr>
        <p:spPr>
          <a:xfrm>
            <a:off x="3657600" y="202996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大模型、状态图和工具链怎样协同</a:t>
            </a:r>
          </a:p>
        </p:txBody>
      </p:sp>
      <p:sp>
        <p:nvSpPr>
          <p:cNvPr id="12037" name="text"/>
          <p:cNvSpPr txBox="1"/>
          <p:nvPr/>
        </p:nvSpPr>
        <p:spPr>
          <a:xfrm>
            <a:off x="1097280" y="278892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2038" name="text"/>
          <p:cNvSpPr txBox="1"/>
          <p:nvPr/>
        </p:nvSpPr>
        <p:spPr>
          <a:xfrm>
            <a:off x="1737360" y="278892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实现与实例</a:t>
            </a:r>
          </a:p>
        </p:txBody>
      </p:sp>
      <p:sp>
        <p:nvSpPr>
          <p:cNvPr id="12039" name="text"/>
          <p:cNvSpPr txBox="1"/>
          <p:nvPr/>
        </p:nvSpPr>
        <p:spPr>
          <a:xfrm>
            <a:off x="3657600" y="280720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数据、预测模型和交互结果</a:t>
            </a:r>
          </a:p>
        </p:txBody>
      </p:sp>
      <p:sp>
        <p:nvSpPr>
          <p:cNvPr id="12040" name="text"/>
          <p:cNvSpPr txBox="1"/>
          <p:nvPr/>
        </p:nvSpPr>
        <p:spPr>
          <a:xfrm>
            <a:off x="1097280" y="356616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12041" name="text"/>
          <p:cNvSpPr txBox="1"/>
          <p:nvPr/>
        </p:nvSpPr>
        <p:spPr>
          <a:xfrm>
            <a:off x="1737360" y="356616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实验与总结</a:t>
            </a:r>
          </a:p>
        </p:txBody>
      </p:sp>
      <p:sp>
        <p:nvSpPr>
          <p:cNvPr id="12042" name="text"/>
          <p:cNvSpPr txBox="1"/>
          <p:nvPr/>
        </p:nvSpPr>
        <p:spPr>
          <a:xfrm>
            <a:off x="3657600" y="358444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37 条用例说明了什么</a:t>
            </a:r>
          </a:p>
        </p:txBody>
      </p:sp>
      <p:sp>
        <p:nvSpPr>
          <p:cNvPr id="12043" name="decor"/>
          <p:cNvSpPr/>
          <p:nvPr/>
        </p:nvSpPr>
        <p:spPr>
          <a:xfrm>
            <a:off x="1097280" y="4800600"/>
            <a:ext cx="9692640" cy="73152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044" name="text"/>
          <p:cNvSpPr txBox="1"/>
          <p:nvPr/>
        </p:nvSpPr>
        <p:spPr>
          <a:xfrm>
            <a:off x="1234439" y="4910328"/>
            <a:ext cx="9418319" cy="51206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本章重点：明确系统要解决的交互问题，并说明能力边界。</a:t>
            </a:r>
          </a:p>
        </p:txBody>
      </p:sp>
    </p:spTree>
  </p:cSld>
  <p:clrMapOvr>
    <a:masterClrMapping/>
  </p:clrMapOvr>
  <p:transition spd="slow" advTm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H_Other_1"/>
          <p:cNvSpPr/>
          <p:nvPr>
            <p:custDataLst>
              <p:tags r:id="rId1"/>
            </p:custDataLst>
          </p:nvPr>
        </p:nvSpPr>
        <p:spPr>
          <a:xfrm>
            <a:off x="7963918" y="3261420"/>
            <a:ext cx="626989" cy="537053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271595" y="0"/>
                </a:moveTo>
                <a:lnTo>
                  <a:pt x="271595" y="198572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0" y="198572"/>
                </a:lnTo>
                <a:lnTo>
                  <a:pt x="67899" y="198572"/>
                </a:lnTo>
                <a:lnTo>
                  <a:pt x="67899" y="0"/>
                </a:lnTo>
                <a:lnTo>
                  <a:pt x="271595" y="0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18000"/>
              </a:prstClr>
            </a:outerShdw>
          </a:effectLst>
        </p:spPr>
        <p:txBody>
          <a:bodyPr lIns="79429" tIns="0" rIns="79429" bIns="101848" spcCol="1270" anchor="ctr">
            <a:normAutofit/>
          </a:bodyPr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2" name="MH_Other_2"/>
          <p:cNvSpPr/>
          <p:nvPr>
            <p:custDataLst>
              <p:tags r:id="rId3"/>
            </p:custDataLst>
          </p:nvPr>
        </p:nvSpPr>
        <p:spPr>
          <a:xfrm>
            <a:off x="5644338" y="1871078"/>
            <a:ext cx="534483" cy="629560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18000"/>
              </a:prstClr>
            </a:outerShdw>
          </a:effectLst>
        </p:spPr>
        <p:txBody>
          <a:bodyPr lIns="0" tIns="79429" rIns="101848" bIns="79429" spcCol="1270" anchor="ctr">
            <a:normAutofit/>
          </a:bodyPr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4" name="MH_Other_3"/>
          <p:cNvSpPr/>
          <p:nvPr>
            <p:custDataLst>
              <p:tags r:id="rId5"/>
            </p:custDataLst>
          </p:nvPr>
        </p:nvSpPr>
        <p:spPr>
          <a:xfrm flipH="1">
            <a:off x="5565151" y="4561573"/>
            <a:ext cx="534483" cy="629560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18000"/>
              </a:prstClr>
            </a:outerShdw>
          </a:effectLst>
        </p:spPr>
        <p:txBody>
          <a:bodyPr lIns="0" tIns="79429" rIns="101848" bIns="79429" spcCol="1270" anchor="ctr">
            <a:normAutofit/>
          </a:bodyPr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12045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46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交通数据已经有了，问题是怎么用</a:t>
            </a:r>
          </a:p>
        </p:txBody>
      </p:sp>
      <p:sp>
        <p:nvSpPr>
          <p:cNvPr id="12047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048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1 章</a:t>
            </a:r>
          </a:p>
        </p:txBody>
      </p:sp>
      <p:sp>
        <p:nvSpPr>
          <p:cNvPr id="12049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050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2051" name="text"/>
          <p:cNvSpPr txBox="1"/>
          <p:nvPr/>
        </p:nvSpPr>
        <p:spPr>
          <a:xfrm>
            <a:off x="1051560" y="1325880"/>
            <a:ext cx="978408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城市交通管理并不缺数据。传感器会持续记录流量、占有率和车速，但是管理人员真正想问的通常不是某个字段的值，而是“这个路段现在堵不堵”“接下来半小时会不会变差”。</a:t>
            </a:r>
          </a:p>
        </p:txBody>
      </p:sp>
      <p:sp>
        <p:nvSpPr>
          <p:cNvPr id="12052" name="decor"/>
          <p:cNvSpPr/>
          <p:nvPr/>
        </p:nvSpPr>
        <p:spPr>
          <a:xfrm>
            <a:off x="1143000" y="4343400"/>
            <a:ext cx="9692640" cy="77724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053" name="text"/>
          <p:cNvSpPr txBox="1"/>
          <p:nvPr/>
        </p:nvSpPr>
        <p:spPr>
          <a:xfrm>
            <a:off x="1280160" y="4453128"/>
            <a:ext cx="9418319" cy="55778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本课题的切入点：让用户用一句自然语言问题，直接触发查询、分析或预测任务。</a:t>
            </a:r>
          </a:p>
        </p:txBody>
      </p:sp>
    </p:spTree>
  </p:cSld>
  <p:clrMapOvr>
    <a:masterClrMapping/>
  </p:clrMapOvr>
  <p:transition spd="slow" advTm="0"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4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55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本文把任务限定在三个能力上</a:t>
            </a:r>
          </a:p>
        </p:txBody>
      </p:sp>
      <p:sp>
        <p:nvSpPr>
          <p:cNvPr id="12056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057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3 章</a:t>
            </a:r>
          </a:p>
        </p:txBody>
      </p:sp>
      <p:sp>
        <p:nvSpPr>
          <p:cNvPr id="12058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059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2060" name="text"/>
          <p:cNvSpPr txBox="1"/>
          <p:nvPr/>
        </p:nvSpPr>
        <p:spPr>
          <a:xfrm>
            <a:off x="1051560" y="1234440"/>
            <a:ext cx="969264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本文没有把智能体做成泛化聊天系统，而是把它限定在交通数据分析场景中。</a:t>
            </a:r>
          </a:p>
        </p:txBody>
      </p:sp>
      <p:sp>
        <p:nvSpPr>
          <p:cNvPr id="12061" name="decor"/>
          <p:cNvSpPr/>
          <p:nvPr/>
        </p:nvSpPr>
        <p:spPr>
          <a:xfrm>
            <a:off x="1188720" y="2276856"/>
            <a:ext cx="301752" cy="30175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62" name="text"/>
          <p:cNvSpPr txBox="1"/>
          <p:nvPr/>
        </p:nvSpPr>
        <p:spPr>
          <a:xfrm>
            <a:off x="1188720" y="2299716"/>
            <a:ext cx="301752" cy="1463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063" name="text"/>
          <p:cNvSpPr txBox="1"/>
          <p:nvPr/>
        </p:nvSpPr>
        <p:spPr>
          <a:xfrm>
            <a:off x="1609344" y="2221992"/>
            <a:ext cx="8138160" cy="29260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 b="1">
                <a:solidFill>
                  <a:srgbClr val="1A3A5C"/>
                </a:solidFill>
                <a:latin typeface="Microsoft YaHei"/>
                <a:ea typeface="Microsoft YaHei"/>
              </a:rPr>
              <a:t>点位查询</a:t>
            </a:r>
          </a:p>
        </p:txBody>
      </p:sp>
      <p:sp>
        <p:nvSpPr>
          <p:cNvPr id="12064" name="text"/>
          <p:cNvSpPr txBox="1"/>
          <p:nvPr/>
        </p:nvSpPr>
        <p:spPr>
          <a:xfrm>
            <a:off x="1609344" y="2496312"/>
            <a:ext cx="813816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222A35"/>
                </a:solidFill>
                <a:latin typeface="Microsoft YaHei"/>
                <a:ea typeface="Microsoft YaHei"/>
              </a:rPr>
              <a:t>查询某个传感器在某一刻的流量、占有率和速度。</a:t>
            </a:r>
          </a:p>
        </p:txBody>
      </p:sp>
      <p:sp>
        <p:nvSpPr>
          <p:cNvPr id="12065" name="decor"/>
          <p:cNvSpPr/>
          <p:nvPr/>
        </p:nvSpPr>
        <p:spPr>
          <a:xfrm>
            <a:off x="1188720" y="2990088"/>
            <a:ext cx="301752" cy="30175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66" name="text"/>
          <p:cNvSpPr txBox="1"/>
          <p:nvPr/>
        </p:nvSpPr>
        <p:spPr>
          <a:xfrm>
            <a:off x="1188720" y="3012948"/>
            <a:ext cx="301752" cy="1463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067" name="text"/>
          <p:cNvSpPr txBox="1"/>
          <p:nvPr/>
        </p:nvSpPr>
        <p:spPr>
          <a:xfrm>
            <a:off x="1609344" y="2935224"/>
            <a:ext cx="8138160" cy="29260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 b="1">
                <a:solidFill>
                  <a:srgbClr val="1A3A5C"/>
                </a:solidFill>
                <a:latin typeface="Microsoft YaHei"/>
                <a:ea typeface="Microsoft YaHei"/>
              </a:rPr>
              <a:t>趋势分析</a:t>
            </a:r>
          </a:p>
        </p:txBody>
      </p:sp>
      <p:sp>
        <p:nvSpPr>
          <p:cNvPr id="12068" name="text"/>
          <p:cNvSpPr txBox="1"/>
          <p:nvPr/>
        </p:nvSpPr>
        <p:spPr>
          <a:xfrm>
            <a:off x="1609344" y="3209544"/>
            <a:ext cx="813816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222A35"/>
                </a:solidFill>
                <a:latin typeface="Microsoft YaHei"/>
                <a:ea typeface="Microsoft YaHei"/>
              </a:rPr>
              <a:t>结合当前状态和历史序列，判断交通负荷。</a:t>
            </a:r>
          </a:p>
        </p:txBody>
      </p:sp>
      <p:sp>
        <p:nvSpPr>
          <p:cNvPr id="12069" name="decor"/>
          <p:cNvSpPr/>
          <p:nvPr/>
        </p:nvSpPr>
        <p:spPr>
          <a:xfrm>
            <a:off x="1188720" y="3703320"/>
            <a:ext cx="301752" cy="30175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70" name="text"/>
          <p:cNvSpPr txBox="1"/>
          <p:nvPr/>
        </p:nvSpPr>
        <p:spPr>
          <a:xfrm>
            <a:off x="1188720" y="3726180"/>
            <a:ext cx="301752" cy="1463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071" name="text"/>
          <p:cNvSpPr txBox="1"/>
          <p:nvPr/>
        </p:nvSpPr>
        <p:spPr>
          <a:xfrm>
            <a:off x="1609344" y="3648456"/>
            <a:ext cx="8138160" cy="29260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 b="1">
                <a:solidFill>
                  <a:srgbClr val="1A3A5C"/>
                </a:solidFill>
                <a:latin typeface="Microsoft YaHei"/>
                <a:ea typeface="Microsoft YaHei"/>
              </a:rPr>
              <a:t>流量预测</a:t>
            </a:r>
          </a:p>
        </p:txBody>
      </p:sp>
      <p:sp>
        <p:nvSpPr>
          <p:cNvPr id="12072" name="text"/>
          <p:cNvSpPr txBox="1"/>
          <p:nvPr/>
        </p:nvSpPr>
        <p:spPr>
          <a:xfrm>
            <a:off x="1609344" y="3922776"/>
            <a:ext cx="813816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222A35"/>
                </a:solidFill>
                <a:latin typeface="Microsoft YaHei"/>
                <a:ea typeface="Microsoft YaHei"/>
              </a:rPr>
              <a:t>调用 PDFormer，给出未来一小时的流量变化。</a:t>
            </a:r>
          </a:p>
        </p:txBody>
      </p:sp>
    </p:spTree>
  </p:cSld>
  <p:clrMapOvr>
    <a:masterClrMapping/>
  </p:clrMapOvr>
  <p:transition spd="slow" advTm="0"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3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074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我实际完成的工作</a:t>
            </a:r>
          </a:p>
        </p:txBody>
      </p:sp>
      <p:sp>
        <p:nvSpPr>
          <p:cNvPr id="12075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076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对应论文结论</a:t>
            </a:r>
          </a:p>
        </p:txBody>
      </p:sp>
      <p:sp>
        <p:nvSpPr>
          <p:cNvPr id="12077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078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2079" name="decor"/>
          <p:cNvSpPr/>
          <p:nvPr/>
        </p:nvSpPr>
        <p:spPr>
          <a:xfrm>
            <a:off x="1005840" y="1417320"/>
            <a:ext cx="9966960" cy="420624"/>
          </a:xfrm>
          <a:prstGeom prst="rect">
            <a:avLst/>
          </a:prstGeom>
          <a:solidFill>
            <a:srgbClr val="1A3A5C"/>
          </a:solidFill>
          <a:ln w="9525">
            <a:solidFill>
              <a:srgbClr val="D8DEE9"/>
            </a:solidFill>
          </a:ln>
        </p:spPr>
      </p:sp>
      <p:sp>
        <p:nvSpPr>
          <p:cNvPr id="12080" name="text"/>
          <p:cNvSpPr txBox="1"/>
          <p:nvPr/>
        </p:nvSpPr>
        <p:spPr>
          <a:xfrm>
            <a:off x="104241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环节</a:t>
            </a:r>
          </a:p>
        </p:txBody>
      </p:sp>
      <p:sp>
        <p:nvSpPr>
          <p:cNvPr id="12081" name="text"/>
          <p:cNvSpPr txBox="1"/>
          <p:nvPr/>
        </p:nvSpPr>
        <p:spPr>
          <a:xfrm>
            <a:off x="436473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实现内容</a:t>
            </a:r>
          </a:p>
        </p:txBody>
      </p:sp>
      <p:sp>
        <p:nvSpPr>
          <p:cNvPr id="12082" name="text"/>
          <p:cNvSpPr txBox="1"/>
          <p:nvPr/>
        </p:nvSpPr>
        <p:spPr>
          <a:xfrm>
            <a:off x="768705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</a:p>
        </p:txBody>
      </p:sp>
      <p:sp>
        <p:nvSpPr>
          <p:cNvPr id="12083" name="decor"/>
          <p:cNvSpPr/>
          <p:nvPr/>
        </p:nvSpPr>
        <p:spPr>
          <a:xfrm>
            <a:off x="1005840" y="1837944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084" name="text"/>
          <p:cNvSpPr txBox="1"/>
          <p:nvPr/>
        </p:nvSpPr>
        <p:spPr>
          <a:xfrm>
            <a:off x="104241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12085" name="text"/>
          <p:cNvSpPr txBox="1"/>
          <p:nvPr/>
        </p:nvSpPr>
        <p:spPr>
          <a:xfrm>
            <a:off x="436473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.dyna / .rel 原子文件</a:t>
            </a:r>
          </a:p>
        </p:txBody>
      </p:sp>
      <p:sp>
        <p:nvSpPr>
          <p:cNvPr id="12086" name="text"/>
          <p:cNvSpPr txBox="1"/>
          <p:nvPr/>
        </p:nvSpPr>
        <p:spPr>
          <a:xfrm>
            <a:off x="768705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统一交通数据输入</a:t>
            </a:r>
          </a:p>
        </p:txBody>
      </p:sp>
      <p:sp>
        <p:nvSpPr>
          <p:cNvPr id="12087" name="decor"/>
          <p:cNvSpPr/>
          <p:nvPr/>
        </p:nvSpPr>
        <p:spPr>
          <a:xfrm>
            <a:off x="1005840" y="2258568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088" name="text"/>
          <p:cNvSpPr txBox="1"/>
          <p:nvPr/>
        </p:nvSpPr>
        <p:spPr>
          <a:xfrm>
            <a:off x="104241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推理层</a:t>
            </a:r>
          </a:p>
        </p:txBody>
      </p:sp>
      <p:sp>
        <p:nvSpPr>
          <p:cNvPr id="12089" name="text"/>
          <p:cNvSpPr txBox="1"/>
          <p:nvPr/>
        </p:nvSpPr>
        <p:spPr>
          <a:xfrm>
            <a:off x="436473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Qwen3.5-9B + 提示词</a:t>
            </a:r>
          </a:p>
        </p:txBody>
      </p:sp>
      <p:sp>
        <p:nvSpPr>
          <p:cNvPr id="12090" name="text"/>
          <p:cNvSpPr txBox="1"/>
          <p:nvPr/>
        </p:nvSpPr>
        <p:spPr>
          <a:xfrm>
            <a:off x="768705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识别意图和参数</a:t>
            </a:r>
          </a:p>
        </p:txBody>
      </p:sp>
      <p:sp>
        <p:nvSpPr>
          <p:cNvPr id="12091" name="decor"/>
          <p:cNvSpPr/>
          <p:nvPr/>
        </p:nvSpPr>
        <p:spPr>
          <a:xfrm>
            <a:off x="1005840" y="2679192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092" name="text"/>
          <p:cNvSpPr txBox="1"/>
          <p:nvPr/>
        </p:nvSpPr>
        <p:spPr>
          <a:xfrm>
            <a:off x="104241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调度层</a:t>
            </a:r>
          </a:p>
        </p:txBody>
      </p:sp>
      <p:sp>
        <p:nvSpPr>
          <p:cNvPr id="12093" name="text"/>
          <p:cNvSpPr txBox="1"/>
          <p:nvPr/>
        </p:nvSpPr>
        <p:spPr>
          <a:xfrm>
            <a:off x="436473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LangGraph 状态图</a:t>
            </a:r>
          </a:p>
        </p:txBody>
      </p:sp>
      <p:sp>
        <p:nvSpPr>
          <p:cNvPr id="12094" name="text"/>
          <p:cNvSpPr txBox="1"/>
          <p:nvPr/>
        </p:nvSpPr>
        <p:spPr>
          <a:xfrm>
            <a:off x="768705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编排推理和工具调用</a:t>
            </a:r>
          </a:p>
        </p:txBody>
      </p:sp>
      <p:sp>
        <p:nvSpPr>
          <p:cNvPr id="12095" name="decor"/>
          <p:cNvSpPr/>
          <p:nvPr/>
        </p:nvSpPr>
        <p:spPr>
          <a:xfrm>
            <a:off x="1005840" y="3099816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096" name="text"/>
          <p:cNvSpPr txBox="1"/>
          <p:nvPr/>
        </p:nvSpPr>
        <p:spPr>
          <a:xfrm>
            <a:off x="1042416" y="318211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执行层</a:t>
            </a:r>
          </a:p>
        </p:txBody>
      </p:sp>
      <p:sp>
        <p:nvSpPr>
          <p:cNvPr id="12097" name="text"/>
          <p:cNvSpPr txBox="1"/>
          <p:nvPr/>
        </p:nvSpPr>
        <p:spPr>
          <a:xfrm>
            <a:off x="4364736" y="318211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三个 FastAPI 工具</a:t>
            </a:r>
          </a:p>
        </p:txBody>
      </p:sp>
      <p:sp>
        <p:nvSpPr>
          <p:cNvPr id="12098" name="text"/>
          <p:cNvSpPr txBox="1"/>
          <p:nvPr/>
        </p:nvSpPr>
        <p:spPr>
          <a:xfrm>
            <a:off x="7687056" y="318211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返回真实数据或预测结果</a:t>
            </a:r>
          </a:p>
        </p:txBody>
      </p:sp>
    </p:spTree>
  </p:cSld>
  <p:clrMapOvr>
    <a:masterClrMapping/>
  </p:clrMapOvr>
  <p:transition spd="slow" advTm="0"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099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100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Outline</a:t>
            </a:r>
          </a:p>
        </p:txBody>
      </p:sp>
      <p:sp>
        <p:nvSpPr>
          <p:cNvPr id="12101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102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103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2104" name="text"/>
          <p:cNvSpPr txBox="1"/>
          <p:nvPr/>
        </p:nvSpPr>
        <p:spPr>
          <a:xfrm>
            <a:off x="1097280" y="123444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12105" name="text"/>
          <p:cNvSpPr txBox="1"/>
          <p:nvPr/>
        </p:nvSpPr>
        <p:spPr>
          <a:xfrm>
            <a:off x="1737360" y="123444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问题与目标</a:t>
            </a:r>
          </a:p>
        </p:txBody>
      </p:sp>
      <p:sp>
        <p:nvSpPr>
          <p:cNvPr id="12106" name="text"/>
          <p:cNvSpPr txBox="1"/>
          <p:nvPr/>
        </p:nvSpPr>
        <p:spPr>
          <a:xfrm>
            <a:off x="3657600" y="125272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为什么要用智能体做交通分析</a:t>
            </a:r>
          </a:p>
        </p:txBody>
      </p:sp>
      <p:sp>
        <p:nvSpPr>
          <p:cNvPr id="12107" name="text"/>
          <p:cNvSpPr txBox="1"/>
          <p:nvPr/>
        </p:nvSpPr>
        <p:spPr>
          <a:xfrm>
            <a:off x="1097280" y="201168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 b="1">
                <a:solidFill>
                  <a:srgbClr val="1A3A5C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2108" name="text"/>
          <p:cNvSpPr txBox="1"/>
          <p:nvPr/>
        </p:nvSpPr>
        <p:spPr>
          <a:xfrm>
            <a:off x="1737360" y="201168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 b="1">
                <a:solidFill>
                  <a:srgbClr val="1A3A5C"/>
                </a:solidFill>
                <a:latin typeface="Microsoft YaHei"/>
                <a:ea typeface="Microsoft YaHei"/>
              </a:rPr>
              <a:t>系统设计</a:t>
            </a:r>
          </a:p>
        </p:txBody>
      </p:sp>
      <p:sp>
        <p:nvSpPr>
          <p:cNvPr id="12109" name="text"/>
          <p:cNvSpPr txBox="1"/>
          <p:nvPr/>
        </p:nvSpPr>
        <p:spPr>
          <a:xfrm>
            <a:off x="3657600" y="202996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1A3A5C"/>
                </a:solidFill>
                <a:latin typeface="Microsoft YaHei"/>
                <a:ea typeface="Microsoft YaHei"/>
              </a:rPr>
              <a:t>—— 大模型、状态图和工具链怎样协同</a:t>
            </a:r>
          </a:p>
        </p:txBody>
      </p:sp>
      <p:sp>
        <p:nvSpPr>
          <p:cNvPr id="12110" name="text"/>
          <p:cNvSpPr txBox="1"/>
          <p:nvPr/>
        </p:nvSpPr>
        <p:spPr>
          <a:xfrm>
            <a:off x="1097280" y="278892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2111" name="text"/>
          <p:cNvSpPr txBox="1"/>
          <p:nvPr/>
        </p:nvSpPr>
        <p:spPr>
          <a:xfrm>
            <a:off x="1737360" y="278892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实现与实例</a:t>
            </a:r>
          </a:p>
        </p:txBody>
      </p:sp>
      <p:sp>
        <p:nvSpPr>
          <p:cNvPr id="12112" name="text"/>
          <p:cNvSpPr txBox="1"/>
          <p:nvPr/>
        </p:nvSpPr>
        <p:spPr>
          <a:xfrm>
            <a:off x="3657600" y="280720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数据、预测模型和交互结果</a:t>
            </a:r>
          </a:p>
        </p:txBody>
      </p:sp>
      <p:sp>
        <p:nvSpPr>
          <p:cNvPr id="12113" name="text"/>
          <p:cNvSpPr txBox="1"/>
          <p:nvPr/>
        </p:nvSpPr>
        <p:spPr>
          <a:xfrm>
            <a:off x="1097280" y="356616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12114" name="text"/>
          <p:cNvSpPr txBox="1"/>
          <p:nvPr/>
        </p:nvSpPr>
        <p:spPr>
          <a:xfrm>
            <a:off x="1737360" y="356616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实验与总结</a:t>
            </a:r>
          </a:p>
        </p:txBody>
      </p:sp>
      <p:sp>
        <p:nvSpPr>
          <p:cNvPr id="12115" name="text"/>
          <p:cNvSpPr txBox="1"/>
          <p:nvPr/>
        </p:nvSpPr>
        <p:spPr>
          <a:xfrm>
            <a:off x="3657600" y="358444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37 条用例说明了什么</a:t>
            </a:r>
          </a:p>
        </p:txBody>
      </p:sp>
      <p:sp>
        <p:nvSpPr>
          <p:cNvPr id="12116" name="decor"/>
          <p:cNvSpPr/>
          <p:nvPr/>
        </p:nvSpPr>
        <p:spPr>
          <a:xfrm>
            <a:off x="1097280" y="4800600"/>
            <a:ext cx="9692640" cy="73152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117" name="text"/>
          <p:cNvSpPr txBox="1"/>
          <p:nvPr/>
        </p:nvSpPr>
        <p:spPr>
          <a:xfrm>
            <a:off x="1234439" y="4910328"/>
            <a:ext cx="9418319" cy="51206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本章重点：说明大模型只负责理解和调度，真实数据由工具返回。</a:t>
            </a:r>
          </a:p>
        </p:txBody>
      </p:sp>
    </p:spTree>
  </p:cSld>
  <p:clrMapOvr>
    <a:masterClrMapping/>
  </p:clrMapOvr>
  <p:transition spd="slow" advTm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8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119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总体架构：慢思考和快反应分开</a:t>
            </a:r>
          </a:p>
        </p:txBody>
      </p:sp>
      <p:sp>
        <p:nvSpPr>
          <p:cNvPr id="12120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121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5 章</a:t>
            </a:r>
          </a:p>
        </p:txBody>
      </p:sp>
      <p:sp>
        <p:nvSpPr>
          <p:cNvPr id="12122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123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2124" name="text"/>
          <p:cNvSpPr txBox="1"/>
          <p:nvPr/>
        </p:nvSpPr>
        <p:spPr>
          <a:xfrm>
            <a:off x="822960" y="1170432"/>
            <a:ext cx="434340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系统把大模型和工具分成两层。慢思考层由 Qwen3.5-9B 负责，它先理解用户到底想做什么。快反应层由工具执行节点负责，它只负责查询数据、分析趋势或调用预测模型。</a:t>
            </a:r>
          </a:p>
        </p:txBody>
      </p:sp>
      <p:pic>
        <p:nvPicPr>
          <p:cNvPr id="12125" name="image1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349240" y="1647825"/>
            <a:ext cx="5852160" cy="3608070"/>
          </a:xfrm>
          <a:prstGeom prst="rect">
            <a:avLst/>
          </a:prstGeom>
        </p:spPr>
      </p:pic>
      <p:sp>
        <p:nvSpPr>
          <p:cNvPr id="12126" name="text"/>
          <p:cNvSpPr txBox="1"/>
          <p:nvPr/>
        </p:nvSpPr>
        <p:spPr>
          <a:xfrm>
            <a:off x="5349240" y="5715000"/>
            <a:ext cx="585216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1  交通智能体总体架构</a:t>
            </a:r>
          </a:p>
        </p:txBody>
      </p:sp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7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128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状态图把推理和执行接起来</a:t>
            </a:r>
          </a:p>
        </p:txBody>
      </p:sp>
      <p:sp>
        <p:nvSpPr>
          <p:cNvPr id="12129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130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5 章</a:t>
            </a:r>
          </a:p>
        </p:txBody>
      </p:sp>
      <p:sp>
        <p:nvSpPr>
          <p:cNvPr id="12131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132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12133" name="text"/>
          <p:cNvSpPr txBox="1"/>
          <p:nvPr/>
        </p:nvSpPr>
        <p:spPr>
          <a:xfrm>
            <a:off x="1051560" y="1325880"/>
            <a:ext cx="978408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条件路由会检查模型输出中是否包含工具调用。如果包含，系统继续执行工具；如果没有，系统就输出最终回答。</a:t>
            </a:r>
          </a:p>
        </p:txBody>
      </p:sp>
    </p:spTree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4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135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工具调用做了两层兼容</a:t>
            </a:r>
          </a:p>
        </p:txBody>
      </p:sp>
      <p:sp>
        <p:nvSpPr>
          <p:cNvPr id="12136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137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5 章</a:t>
            </a:r>
          </a:p>
        </p:txBody>
      </p:sp>
      <p:sp>
        <p:nvSpPr>
          <p:cNvPr id="12138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139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2140" name="decor"/>
          <p:cNvSpPr/>
          <p:nvPr/>
        </p:nvSpPr>
        <p:spPr>
          <a:xfrm>
            <a:off x="1005840" y="1417320"/>
            <a:ext cx="9966960" cy="420624"/>
          </a:xfrm>
          <a:prstGeom prst="rect">
            <a:avLst/>
          </a:prstGeom>
          <a:solidFill>
            <a:srgbClr val="1A3A5C"/>
          </a:solidFill>
          <a:ln w="9525">
            <a:solidFill>
              <a:srgbClr val="D8DEE9"/>
            </a:solidFill>
          </a:ln>
        </p:spPr>
      </p:sp>
      <p:sp>
        <p:nvSpPr>
          <p:cNvPr id="12141" name="text"/>
          <p:cNvSpPr txBox="1"/>
          <p:nvPr/>
        </p:nvSpPr>
        <p:spPr>
          <a:xfrm>
            <a:off x="104241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解析方式</a:t>
            </a:r>
          </a:p>
        </p:txBody>
      </p:sp>
      <p:sp>
        <p:nvSpPr>
          <p:cNvPr id="12142" name="text"/>
          <p:cNvSpPr txBox="1"/>
          <p:nvPr/>
        </p:nvSpPr>
        <p:spPr>
          <a:xfrm>
            <a:off x="436473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触发条件</a:t>
            </a:r>
          </a:p>
        </p:txBody>
      </p:sp>
      <p:sp>
        <p:nvSpPr>
          <p:cNvPr id="12143" name="text"/>
          <p:cNvSpPr txBox="1"/>
          <p:nvPr/>
        </p:nvSpPr>
        <p:spPr>
          <a:xfrm>
            <a:off x="768705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</a:p>
        </p:txBody>
      </p:sp>
      <p:sp>
        <p:nvSpPr>
          <p:cNvPr id="12144" name="decor"/>
          <p:cNvSpPr/>
          <p:nvPr/>
        </p:nvSpPr>
        <p:spPr>
          <a:xfrm>
            <a:off x="1005840" y="1837944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145" name="text"/>
          <p:cNvSpPr txBox="1"/>
          <p:nvPr/>
        </p:nvSpPr>
        <p:spPr>
          <a:xfrm>
            <a:off x="104241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bind_tools</a:t>
            </a:r>
          </a:p>
        </p:txBody>
      </p:sp>
      <p:sp>
        <p:nvSpPr>
          <p:cNvPr id="12146" name="text"/>
          <p:cNvSpPr txBox="1"/>
          <p:nvPr/>
        </p:nvSpPr>
        <p:spPr>
          <a:xfrm>
            <a:off x="436473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模型直接返回结构化调用</a:t>
            </a:r>
          </a:p>
        </p:txBody>
      </p:sp>
      <p:sp>
        <p:nvSpPr>
          <p:cNvPr id="12147" name="text"/>
          <p:cNvSpPr txBox="1"/>
          <p:nvPr/>
        </p:nvSpPr>
        <p:spPr>
          <a:xfrm>
            <a:off x="768705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保证标准 API 通道可靠</a:t>
            </a:r>
          </a:p>
        </p:txBody>
      </p:sp>
      <p:sp>
        <p:nvSpPr>
          <p:cNvPr id="12148" name="decor"/>
          <p:cNvSpPr/>
          <p:nvPr/>
        </p:nvSpPr>
        <p:spPr>
          <a:xfrm>
            <a:off x="1005840" y="2258568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149" name="text"/>
          <p:cNvSpPr txBox="1"/>
          <p:nvPr/>
        </p:nvSpPr>
        <p:spPr>
          <a:xfrm>
            <a:off x="104241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XML 回退</a:t>
            </a:r>
          </a:p>
        </p:txBody>
      </p:sp>
      <p:sp>
        <p:nvSpPr>
          <p:cNvPr id="12150" name="text"/>
          <p:cNvSpPr txBox="1"/>
          <p:nvPr/>
        </p:nvSpPr>
        <p:spPr>
          <a:xfrm>
            <a:off x="436473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文本里出现 &lt;tool_call&gt;</a:t>
            </a:r>
          </a:p>
        </p:txBody>
      </p:sp>
      <p:sp>
        <p:nvSpPr>
          <p:cNvPr id="12151" name="text"/>
          <p:cNvSpPr txBox="1"/>
          <p:nvPr/>
        </p:nvSpPr>
        <p:spPr>
          <a:xfrm>
            <a:off x="768705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兼容原生标签格式</a:t>
            </a:r>
          </a:p>
        </p:txBody>
      </p:sp>
      <p:sp>
        <p:nvSpPr>
          <p:cNvPr id="12152" name="decor"/>
          <p:cNvSpPr/>
          <p:nvPr/>
        </p:nvSpPr>
        <p:spPr>
          <a:xfrm>
            <a:off x="1005840" y="2679192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153" name="text"/>
          <p:cNvSpPr txBox="1"/>
          <p:nvPr/>
        </p:nvSpPr>
        <p:spPr>
          <a:xfrm>
            <a:off x="104241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去重校验</a:t>
            </a:r>
          </a:p>
        </p:txBody>
      </p:sp>
      <p:sp>
        <p:nvSpPr>
          <p:cNvPr id="12154" name="text"/>
          <p:cNvSpPr txBox="1"/>
          <p:nvPr/>
        </p:nvSpPr>
        <p:spPr>
          <a:xfrm>
            <a:off x="436473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同一轮出现重复请求</a:t>
            </a:r>
          </a:p>
        </p:txBody>
      </p:sp>
      <p:sp>
        <p:nvSpPr>
          <p:cNvPr id="12155" name="text"/>
          <p:cNvSpPr txBox="1"/>
          <p:nvPr/>
        </p:nvSpPr>
        <p:spPr>
          <a:xfrm>
            <a:off x="768705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避免重复访问后端服务</a:t>
            </a:r>
          </a:p>
        </p:txBody>
      </p:sp>
      <p:sp>
        <p:nvSpPr>
          <p:cNvPr id="12156" name="decor"/>
          <p:cNvSpPr/>
          <p:nvPr/>
        </p:nvSpPr>
        <p:spPr>
          <a:xfrm>
            <a:off x="1097280" y="5120640"/>
            <a:ext cx="9418320" cy="59436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157" name="text"/>
          <p:cNvSpPr txBox="1"/>
          <p:nvPr/>
        </p:nvSpPr>
        <p:spPr>
          <a:xfrm>
            <a:off x="1234439" y="5230368"/>
            <a:ext cx="9144000" cy="3749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一次格式偏差不应该中断整条推理链路。</a:t>
            </a:r>
          </a:p>
        </p:txBody>
      </p:sp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8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159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三个工具对应三种交通问题</a:t>
            </a:r>
          </a:p>
        </p:txBody>
      </p:sp>
      <p:sp>
        <p:nvSpPr>
          <p:cNvPr id="12160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161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3、5 章</a:t>
            </a:r>
          </a:p>
        </p:txBody>
      </p:sp>
      <p:sp>
        <p:nvSpPr>
          <p:cNvPr id="12162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163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2164" name="decor"/>
          <p:cNvSpPr/>
          <p:nvPr/>
        </p:nvSpPr>
        <p:spPr>
          <a:xfrm>
            <a:off x="1005840" y="1417320"/>
            <a:ext cx="9966960" cy="420624"/>
          </a:xfrm>
          <a:prstGeom prst="rect">
            <a:avLst/>
          </a:prstGeom>
          <a:solidFill>
            <a:srgbClr val="1A3A5C"/>
          </a:solidFill>
          <a:ln w="9525">
            <a:solidFill>
              <a:srgbClr val="D8DEE9"/>
            </a:solidFill>
          </a:ln>
        </p:spPr>
      </p:sp>
      <p:sp>
        <p:nvSpPr>
          <p:cNvPr id="12165" name="text"/>
          <p:cNvSpPr txBox="1"/>
          <p:nvPr/>
        </p:nvSpPr>
        <p:spPr>
          <a:xfrm>
            <a:off x="104241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2166" name="text"/>
          <p:cNvSpPr txBox="1"/>
          <p:nvPr/>
        </p:nvSpPr>
        <p:spPr>
          <a:xfrm>
            <a:off x="436473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12167" name="text"/>
          <p:cNvSpPr txBox="1"/>
          <p:nvPr/>
        </p:nvSpPr>
        <p:spPr>
          <a:xfrm>
            <a:off x="768705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返回内容</a:t>
            </a:r>
          </a:p>
        </p:txBody>
      </p:sp>
      <p:sp>
        <p:nvSpPr>
          <p:cNvPr id="12168" name="decor"/>
          <p:cNvSpPr/>
          <p:nvPr/>
        </p:nvSpPr>
        <p:spPr>
          <a:xfrm>
            <a:off x="1005840" y="1837944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169" name="text"/>
          <p:cNvSpPr txBox="1"/>
          <p:nvPr/>
        </p:nvSpPr>
        <p:spPr>
          <a:xfrm>
            <a:off x="104241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simple_query</a:t>
            </a:r>
          </a:p>
        </p:txBody>
      </p:sp>
      <p:sp>
        <p:nvSpPr>
          <p:cNvPr id="12170" name="text"/>
          <p:cNvSpPr txBox="1"/>
          <p:nvPr/>
        </p:nvSpPr>
        <p:spPr>
          <a:xfrm>
            <a:off x="436473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传感器编号 + 时间</a:t>
            </a:r>
          </a:p>
        </p:txBody>
      </p:sp>
      <p:sp>
        <p:nvSpPr>
          <p:cNvPr id="12171" name="text"/>
          <p:cNvSpPr txBox="1"/>
          <p:nvPr/>
        </p:nvSpPr>
        <p:spPr>
          <a:xfrm>
            <a:off x="768705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流量、占有率、车速</a:t>
            </a:r>
          </a:p>
        </p:txBody>
      </p:sp>
      <p:sp>
        <p:nvSpPr>
          <p:cNvPr id="12172" name="decor"/>
          <p:cNvSpPr/>
          <p:nvPr/>
        </p:nvSpPr>
        <p:spPr>
          <a:xfrm>
            <a:off x="1005840" y="2258568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173" name="text"/>
          <p:cNvSpPr txBox="1"/>
          <p:nvPr/>
        </p:nvSpPr>
        <p:spPr>
          <a:xfrm>
            <a:off x="104241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deep_analysis</a:t>
            </a:r>
          </a:p>
        </p:txBody>
      </p:sp>
      <p:sp>
        <p:nvSpPr>
          <p:cNvPr id="12174" name="text"/>
          <p:cNvSpPr txBox="1"/>
          <p:nvPr/>
        </p:nvSpPr>
        <p:spPr>
          <a:xfrm>
            <a:off x="436473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传感器编号 + 时间</a:t>
            </a:r>
          </a:p>
        </p:txBody>
      </p:sp>
      <p:sp>
        <p:nvSpPr>
          <p:cNvPr id="12175" name="text"/>
          <p:cNvSpPr txBox="1"/>
          <p:nvPr/>
        </p:nvSpPr>
        <p:spPr>
          <a:xfrm>
            <a:off x="768705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当前状态 + 历史趋势</a:t>
            </a:r>
          </a:p>
        </p:txBody>
      </p:sp>
      <p:sp>
        <p:nvSpPr>
          <p:cNvPr id="12176" name="decor"/>
          <p:cNvSpPr/>
          <p:nvPr/>
        </p:nvSpPr>
        <p:spPr>
          <a:xfrm>
            <a:off x="1005840" y="2679192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177" name="text"/>
          <p:cNvSpPr txBox="1"/>
          <p:nvPr/>
        </p:nvSpPr>
        <p:spPr>
          <a:xfrm>
            <a:off x="104241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predict_traffic</a:t>
            </a:r>
          </a:p>
        </p:txBody>
      </p:sp>
      <p:sp>
        <p:nvSpPr>
          <p:cNvPr id="12178" name="text"/>
          <p:cNvSpPr txBox="1"/>
          <p:nvPr/>
        </p:nvSpPr>
        <p:spPr>
          <a:xfrm>
            <a:off x="436473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传感器编号 + 时间</a:t>
            </a:r>
          </a:p>
        </p:txBody>
      </p:sp>
      <p:sp>
        <p:nvSpPr>
          <p:cNvPr id="12179" name="text"/>
          <p:cNvSpPr txBox="1"/>
          <p:nvPr/>
        </p:nvSpPr>
        <p:spPr>
          <a:xfrm>
            <a:off x="768705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未来 12 个时间步预测</a:t>
            </a:r>
          </a:p>
        </p:txBody>
      </p:sp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0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181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大模型部署在本地服务器上</a:t>
            </a:r>
          </a:p>
        </p:txBody>
      </p:sp>
      <p:sp>
        <p:nvSpPr>
          <p:cNvPr id="12182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183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5 章</a:t>
            </a:r>
          </a:p>
        </p:txBody>
      </p:sp>
      <p:sp>
        <p:nvSpPr>
          <p:cNvPr id="12184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185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2186" name="text"/>
          <p:cNvSpPr txBox="1"/>
          <p:nvPr/>
        </p:nvSpPr>
        <p:spPr>
          <a:xfrm>
            <a:off x="914400" y="1143000"/>
            <a:ext cx="987552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本文使用 Qwen3.5-9B 作为智能体核心推理模型。模型通过 vLLM 部署在本地 GPU 服务器上，对外提供 OpenAI 兼容接口。这样可以沿用成熟的对话调用方式，也避免交通数据经过外部网络。</a:t>
            </a:r>
          </a:p>
        </p:txBody>
      </p:sp>
      <p:sp>
        <p:nvSpPr>
          <p:cNvPr id="12187" name="decor"/>
          <p:cNvSpPr/>
          <p:nvPr/>
        </p:nvSpPr>
        <p:spPr>
          <a:xfrm>
            <a:off x="1005840" y="2743200"/>
            <a:ext cx="9966960" cy="420624"/>
          </a:xfrm>
          <a:prstGeom prst="rect">
            <a:avLst/>
          </a:prstGeom>
          <a:solidFill>
            <a:srgbClr val="1A3A5C"/>
          </a:solidFill>
          <a:ln w="9525">
            <a:solidFill>
              <a:srgbClr val="D8DEE9"/>
            </a:solidFill>
          </a:ln>
        </p:spPr>
      </p:sp>
      <p:sp>
        <p:nvSpPr>
          <p:cNvPr id="12188" name="text"/>
          <p:cNvSpPr txBox="1"/>
          <p:nvPr/>
        </p:nvSpPr>
        <p:spPr>
          <a:xfrm>
            <a:off x="1042416" y="2825496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配置项</a:t>
            </a:r>
          </a:p>
        </p:txBody>
      </p:sp>
      <p:sp>
        <p:nvSpPr>
          <p:cNvPr id="12189" name="text"/>
          <p:cNvSpPr txBox="1"/>
          <p:nvPr/>
        </p:nvSpPr>
        <p:spPr>
          <a:xfrm>
            <a:off x="6025896" y="2825496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论文中的设置</a:t>
            </a:r>
          </a:p>
        </p:txBody>
      </p:sp>
      <p:sp>
        <p:nvSpPr>
          <p:cNvPr id="12190" name="decor"/>
          <p:cNvSpPr/>
          <p:nvPr/>
        </p:nvSpPr>
        <p:spPr>
          <a:xfrm>
            <a:off x="1005840" y="3163824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191" name="text"/>
          <p:cNvSpPr txBox="1"/>
          <p:nvPr/>
        </p:nvSpPr>
        <p:spPr>
          <a:xfrm>
            <a:off x="1042416" y="3246120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2192" name="text"/>
          <p:cNvSpPr txBox="1"/>
          <p:nvPr/>
        </p:nvSpPr>
        <p:spPr>
          <a:xfrm>
            <a:off x="6025896" y="3246120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Qwen3.5-9B 原始精度版本</a:t>
            </a:r>
          </a:p>
        </p:txBody>
      </p:sp>
      <p:sp>
        <p:nvSpPr>
          <p:cNvPr id="12193" name="decor"/>
          <p:cNvSpPr/>
          <p:nvPr/>
        </p:nvSpPr>
        <p:spPr>
          <a:xfrm>
            <a:off x="1005840" y="3584448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194" name="text"/>
          <p:cNvSpPr txBox="1"/>
          <p:nvPr/>
        </p:nvSpPr>
        <p:spPr>
          <a:xfrm>
            <a:off x="1042416" y="3666744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推理框架</a:t>
            </a:r>
          </a:p>
        </p:txBody>
      </p:sp>
      <p:sp>
        <p:nvSpPr>
          <p:cNvPr id="12195" name="text"/>
          <p:cNvSpPr txBox="1"/>
          <p:nvPr/>
        </p:nvSpPr>
        <p:spPr>
          <a:xfrm>
            <a:off x="6025896" y="3666744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vLLM</a:t>
            </a:r>
          </a:p>
        </p:txBody>
      </p:sp>
      <p:sp>
        <p:nvSpPr>
          <p:cNvPr id="12196" name="decor"/>
          <p:cNvSpPr/>
          <p:nvPr/>
        </p:nvSpPr>
        <p:spPr>
          <a:xfrm>
            <a:off x="1005840" y="4005072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197" name="text"/>
          <p:cNvSpPr txBox="1"/>
          <p:nvPr/>
        </p:nvSpPr>
        <p:spPr>
          <a:xfrm>
            <a:off x="1042416" y="4087368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上下文窗口</a:t>
            </a:r>
          </a:p>
        </p:txBody>
      </p:sp>
      <p:sp>
        <p:nvSpPr>
          <p:cNvPr id="12198" name="text"/>
          <p:cNvSpPr txBox="1"/>
          <p:nvPr/>
        </p:nvSpPr>
        <p:spPr>
          <a:xfrm>
            <a:off x="6025896" y="4087368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20480 Token</a:t>
            </a:r>
          </a:p>
        </p:txBody>
      </p:sp>
      <p:sp>
        <p:nvSpPr>
          <p:cNvPr id="12199" name="decor"/>
          <p:cNvSpPr/>
          <p:nvPr/>
        </p:nvSpPr>
        <p:spPr>
          <a:xfrm>
            <a:off x="1005840" y="4425696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200" name="text"/>
          <p:cNvSpPr txBox="1"/>
          <p:nvPr/>
        </p:nvSpPr>
        <p:spPr>
          <a:xfrm>
            <a:off x="1042416" y="4507992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100">
                <a:solidFill>
                  <a:srgbClr val="222A35"/>
                </a:solidFill>
                <a:latin typeface="Microsoft YaHei"/>
                <a:ea typeface="Microsoft YaHei"/>
              </a:rPr>
              <a:t>temperature / top_p</a:t>
            </a:r>
          </a:p>
        </p:txBody>
      </p:sp>
      <p:sp>
        <p:nvSpPr>
          <p:cNvPr id="12201" name="text"/>
          <p:cNvSpPr txBox="1"/>
          <p:nvPr/>
        </p:nvSpPr>
        <p:spPr>
          <a:xfrm>
            <a:off x="6025896" y="4507992"/>
            <a:ext cx="491032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1.0 / 0.95</a:t>
            </a:r>
          </a:p>
        </p:txBody>
      </p:sp>
    </p:spTree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2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03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Outline</a:t>
            </a:r>
          </a:p>
        </p:txBody>
      </p:sp>
      <p:sp>
        <p:nvSpPr>
          <p:cNvPr id="12204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05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06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2207" name="text"/>
          <p:cNvSpPr txBox="1"/>
          <p:nvPr/>
        </p:nvSpPr>
        <p:spPr>
          <a:xfrm>
            <a:off x="1097280" y="123444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12208" name="text"/>
          <p:cNvSpPr txBox="1"/>
          <p:nvPr/>
        </p:nvSpPr>
        <p:spPr>
          <a:xfrm>
            <a:off x="1737360" y="123444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问题与目标</a:t>
            </a:r>
          </a:p>
        </p:txBody>
      </p:sp>
      <p:sp>
        <p:nvSpPr>
          <p:cNvPr id="12209" name="text"/>
          <p:cNvSpPr txBox="1"/>
          <p:nvPr/>
        </p:nvSpPr>
        <p:spPr>
          <a:xfrm>
            <a:off x="3657600" y="125272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为什么要用智能体做交通分析</a:t>
            </a:r>
          </a:p>
        </p:txBody>
      </p:sp>
      <p:sp>
        <p:nvSpPr>
          <p:cNvPr id="12210" name="text"/>
          <p:cNvSpPr txBox="1"/>
          <p:nvPr/>
        </p:nvSpPr>
        <p:spPr>
          <a:xfrm>
            <a:off x="1097280" y="201168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2211" name="text"/>
          <p:cNvSpPr txBox="1"/>
          <p:nvPr/>
        </p:nvSpPr>
        <p:spPr>
          <a:xfrm>
            <a:off x="1737360" y="201168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系统设计</a:t>
            </a:r>
          </a:p>
        </p:txBody>
      </p:sp>
      <p:sp>
        <p:nvSpPr>
          <p:cNvPr id="12212" name="text"/>
          <p:cNvSpPr txBox="1"/>
          <p:nvPr/>
        </p:nvSpPr>
        <p:spPr>
          <a:xfrm>
            <a:off x="3657600" y="202996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大模型、状态图和工具链怎样协同</a:t>
            </a:r>
          </a:p>
        </p:txBody>
      </p:sp>
      <p:sp>
        <p:nvSpPr>
          <p:cNvPr id="12213" name="text"/>
          <p:cNvSpPr txBox="1"/>
          <p:nvPr/>
        </p:nvSpPr>
        <p:spPr>
          <a:xfrm>
            <a:off x="1097280" y="278892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 b="1">
                <a:solidFill>
                  <a:srgbClr val="1A3A5C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2214" name="text"/>
          <p:cNvSpPr txBox="1"/>
          <p:nvPr/>
        </p:nvSpPr>
        <p:spPr>
          <a:xfrm>
            <a:off x="1737360" y="278892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 b="1">
                <a:solidFill>
                  <a:srgbClr val="1A3A5C"/>
                </a:solidFill>
                <a:latin typeface="Microsoft YaHei"/>
                <a:ea typeface="Microsoft YaHei"/>
              </a:rPr>
              <a:t>实现与实例</a:t>
            </a:r>
          </a:p>
        </p:txBody>
      </p:sp>
      <p:sp>
        <p:nvSpPr>
          <p:cNvPr id="12215" name="text"/>
          <p:cNvSpPr txBox="1"/>
          <p:nvPr/>
        </p:nvSpPr>
        <p:spPr>
          <a:xfrm>
            <a:off x="3657600" y="280720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1A3A5C"/>
                </a:solidFill>
                <a:latin typeface="Microsoft YaHei"/>
                <a:ea typeface="Microsoft YaHei"/>
              </a:rPr>
              <a:t>—— 数据、预测模型和交互结果</a:t>
            </a:r>
          </a:p>
        </p:txBody>
      </p:sp>
      <p:sp>
        <p:nvSpPr>
          <p:cNvPr id="12216" name="text"/>
          <p:cNvSpPr txBox="1"/>
          <p:nvPr/>
        </p:nvSpPr>
        <p:spPr>
          <a:xfrm>
            <a:off x="1097280" y="356616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12217" name="text"/>
          <p:cNvSpPr txBox="1"/>
          <p:nvPr/>
        </p:nvSpPr>
        <p:spPr>
          <a:xfrm>
            <a:off x="1737360" y="356616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实验与总结</a:t>
            </a:r>
          </a:p>
        </p:txBody>
      </p:sp>
      <p:sp>
        <p:nvSpPr>
          <p:cNvPr id="12218" name="text"/>
          <p:cNvSpPr txBox="1"/>
          <p:nvPr/>
        </p:nvSpPr>
        <p:spPr>
          <a:xfrm>
            <a:off x="3657600" y="358444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37 条用例说明了什么</a:t>
            </a:r>
          </a:p>
        </p:txBody>
      </p:sp>
      <p:sp>
        <p:nvSpPr>
          <p:cNvPr id="12219" name="decor"/>
          <p:cNvSpPr/>
          <p:nvPr/>
        </p:nvSpPr>
        <p:spPr>
          <a:xfrm>
            <a:off x="1097280" y="4800600"/>
            <a:ext cx="9692640" cy="73152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220" name="text"/>
          <p:cNvSpPr txBox="1"/>
          <p:nvPr/>
        </p:nvSpPr>
        <p:spPr>
          <a:xfrm>
            <a:off x="1234439" y="4910328"/>
            <a:ext cx="9418319" cy="51206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本章重点：展示数据处理、预测模型接入和三个典型交互结果。</a:t>
            </a:r>
          </a:p>
        </p:txBody>
      </p:sp>
    </p:spTree>
  </p:cSld>
  <p:clrMapOvr>
    <a:masterClrMapping/>
  </p:clrMapOvr>
  <p:transition spd="slow" advTm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1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22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交通数据先被整理成原子文件</a:t>
            </a:r>
          </a:p>
        </p:txBody>
      </p:sp>
      <p:sp>
        <p:nvSpPr>
          <p:cNvPr id="12223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24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4 章</a:t>
            </a:r>
          </a:p>
        </p:txBody>
      </p:sp>
      <p:sp>
        <p:nvSpPr>
          <p:cNvPr id="12225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26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12227" name="text"/>
          <p:cNvSpPr txBox="1"/>
          <p:nvPr/>
        </p:nvSpPr>
        <p:spPr>
          <a:xfrm>
            <a:off x="822960" y="1170432"/>
            <a:ext cx="434340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PeMS08 原始数据不能直接交给智能体使用。本文先做时间对齐和格式标准化，然后生成 .dyna 与 .rel 文件。.dyna 保存动态交通状态，.rel 保存传感器之间的拓扑关系。</a:t>
            </a:r>
          </a:p>
        </p:txBody>
      </p:sp>
      <p:pic>
        <p:nvPicPr>
          <p:cNvPr id="12228" name="image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349240" y="1857223"/>
            <a:ext cx="5852160" cy="3189272"/>
          </a:xfrm>
          <a:prstGeom prst="rect">
            <a:avLst/>
          </a:prstGeom>
        </p:spPr>
      </p:pic>
      <p:sp>
        <p:nvSpPr>
          <p:cNvPr id="12229" name="text"/>
          <p:cNvSpPr txBox="1"/>
          <p:nvPr/>
        </p:nvSpPr>
        <p:spPr>
          <a:xfrm>
            <a:off x="5349240" y="5715000"/>
            <a:ext cx="585216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2  处理后的流量数据文件示例</a:t>
            </a:r>
          </a:p>
        </p:txBody>
      </p:sp>
    </p:spTree>
  </p:cSld>
  <p:clrMapOvr>
    <a:masterClrMapping/>
  </p:clrMapOvr>
  <p:transition spd="slow" advTm="0"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0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31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PDFormer 被封装成预测工具</a:t>
            </a:r>
          </a:p>
        </p:txBody>
      </p:sp>
      <p:sp>
        <p:nvSpPr>
          <p:cNvPr id="12232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33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6 章</a:t>
            </a:r>
          </a:p>
        </p:txBody>
      </p:sp>
      <p:sp>
        <p:nvSpPr>
          <p:cNvPr id="12234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35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12236" name="text"/>
          <p:cNvSpPr txBox="1"/>
          <p:nvPr/>
        </p:nvSpPr>
        <p:spPr>
          <a:xfrm>
            <a:off x="1051560" y="1325880"/>
            <a:ext cx="978408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预测工具不只读取目标传感器一个点。它会遍历全路网 170 个传感器，从后端记忆库中取出过去 1 小时共 12 个时间步的数据，然后组装成时空特征矩阵。</a:t>
            </a:r>
          </a:p>
        </p:txBody>
      </p:sp>
      <p:sp>
        <p:nvSpPr>
          <p:cNvPr id="12237" name="decor"/>
          <p:cNvSpPr/>
          <p:nvPr/>
        </p:nvSpPr>
        <p:spPr>
          <a:xfrm>
            <a:off x="1143000" y="4343400"/>
            <a:ext cx="9692640" cy="77724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238" name="text"/>
          <p:cNvSpPr txBox="1"/>
          <p:nvPr/>
        </p:nvSpPr>
        <p:spPr>
          <a:xfrm>
            <a:off x="1280160" y="4453128"/>
            <a:ext cx="9418319" cy="55778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输入：过去 12 个时间步的全网特征矩阵。</a:t>
            </a:r>
          </a:p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输出：未来 12 个时间步的目标节点流量序列。</a:t>
            </a:r>
          </a:p>
        </p:txBody>
      </p:sp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9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40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预测曲线能跟住真实变化</a:t>
            </a:r>
          </a:p>
        </p:txBody>
      </p:sp>
      <p:sp>
        <p:nvSpPr>
          <p:cNvPr id="12241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42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6 章</a:t>
            </a:r>
          </a:p>
        </p:txBody>
      </p:sp>
      <p:sp>
        <p:nvSpPr>
          <p:cNvPr id="12243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44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16</a:t>
            </a:r>
          </a:p>
        </p:txBody>
      </p:sp>
      <p:pic>
        <p:nvPicPr>
          <p:cNvPr id="12245" name="image5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" y="2436626"/>
            <a:ext cx="5212080" cy="2076187"/>
          </a:xfrm>
          <a:prstGeom prst="rect">
            <a:avLst/>
          </a:prstGeom>
        </p:spPr>
      </p:pic>
      <p:sp>
        <p:nvSpPr>
          <p:cNvPr id="12246" name="text"/>
          <p:cNvSpPr txBox="1"/>
          <p:nvPr/>
        </p:nvSpPr>
        <p:spPr>
          <a:xfrm>
            <a:off x="777240" y="5687568"/>
            <a:ext cx="521208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3  预测值与真实值对比之一</a:t>
            </a:r>
          </a:p>
        </p:txBody>
      </p:sp>
      <p:pic>
        <p:nvPicPr>
          <p:cNvPr id="12247" name="image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6217920" y="2436626"/>
            <a:ext cx="5212080" cy="2076187"/>
          </a:xfrm>
          <a:prstGeom prst="rect">
            <a:avLst/>
          </a:prstGeom>
        </p:spPr>
      </p:pic>
      <p:sp>
        <p:nvSpPr>
          <p:cNvPr id="12248" name="text"/>
          <p:cNvSpPr txBox="1"/>
          <p:nvPr/>
        </p:nvSpPr>
        <p:spPr>
          <a:xfrm>
            <a:off x="6217920" y="5687568"/>
            <a:ext cx="521208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4  预测值与真实值对比之二</a:t>
            </a:r>
          </a:p>
        </p:txBody>
      </p:sp>
    </p:spTree>
  </p:cSld>
  <p:clrMapOvr>
    <a:masterClrMapping/>
  </p:clrMapOvr>
  <p:transition spd="slow" advTm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9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50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训练过程没有出现明显发散</a:t>
            </a:r>
          </a:p>
        </p:txBody>
      </p:sp>
      <p:sp>
        <p:nvSpPr>
          <p:cNvPr id="12251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52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6 章</a:t>
            </a:r>
          </a:p>
        </p:txBody>
      </p:sp>
      <p:sp>
        <p:nvSpPr>
          <p:cNvPr id="12253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54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17</a:t>
            </a:r>
          </a:p>
        </p:txBody>
      </p:sp>
      <p:pic>
        <p:nvPicPr>
          <p:cNvPr id="12255" name="image9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" y="2271680"/>
            <a:ext cx="5212080" cy="2406079"/>
          </a:xfrm>
          <a:prstGeom prst="rect">
            <a:avLst/>
          </a:prstGeom>
        </p:spPr>
      </p:pic>
      <p:sp>
        <p:nvSpPr>
          <p:cNvPr id="12256" name="text"/>
          <p:cNvSpPr txBox="1"/>
          <p:nvPr/>
        </p:nvSpPr>
        <p:spPr>
          <a:xfrm>
            <a:off x="777240" y="5687568"/>
            <a:ext cx="521208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5  训练损失曲线</a:t>
            </a:r>
          </a:p>
        </p:txBody>
      </p:sp>
      <p:pic>
        <p:nvPicPr>
          <p:cNvPr id="12257" name="image1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6217920" y="2322489"/>
            <a:ext cx="5212080" cy="2304460"/>
          </a:xfrm>
          <a:prstGeom prst="rect">
            <a:avLst/>
          </a:prstGeom>
        </p:spPr>
      </p:pic>
      <p:sp>
        <p:nvSpPr>
          <p:cNvPr id="12258" name="text"/>
          <p:cNvSpPr txBox="1"/>
          <p:nvPr/>
        </p:nvSpPr>
        <p:spPr>
          <a:xfrm>
            <a:off x="6217920" y="5687568"/>
            <a:ext cx="521208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6  验证损失曲线</a:t>
            </a:r>
          </a:p>
        </p:txBody>
      </p:sp>
      <p:sp>
        <p:nvSpPr>
          <p:cNvPr id="12259" name="text"/>
          <p:cNvSpPr txBox="1"/>
          <p:nvPr/>
        </p:nvSpPr>
        <p:spPr>
          <a:xfrm>
            <a:off x="914400" y="5916168"/>
            <a:ext cx="10058400" cy="32004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100">
                <a:solidFill>
                  <a:srgbClr val="222A35"/>
                </a:solidFill>
                <a:latin typeface="Microsoft YaHei"/>
                <a:ea typeface="Microsoft YaHei"/>
              </a:rPr>
              <a:t>PeMS08 上第 1 个预测步的 MAE 为 11.76，到第 12 步时增长到 13.59。论文中 masked_MAPE 基本保持在 8% 到 9% 之间。</a:t>
            </a:r>
          </a:p>
        </p:txBody>
      </p:sp>
    </p:spTree>
  </p:cSld>
  <p:clrMapOvr>
    <a:masterClrMapping/>
  </p:clrMapOvr>
  <p:transition spd="slow" advTm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0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61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例子一：一句话完成点位查询</a:t>
            </a:r>
          </a:p>
        </p:txBody>
      </p:sp>
      <p:sp>
        <p:nvSpPr>
          <p:cNvPr id="12262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63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7、8 章</a:t>
            </a:r>
          </a:p>
        </p:txBody>
      </p:sp>
      <p:sp>
        <p:nvSpPr>
          <p:cNvPr id="12264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65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2266" name="text"/>
          <p:cNvSpPr txBox="1"/>
          <p:nvPr/>
        </p:nvSpPr>
        <p:spPr>
          <a:xfrm>
            <a:off x="822960" y="1170432"/>
            <a:ext cx="434340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用户输入“帮我查下 1 号传感器在 2016 年七月一日上午十点的流量”。智能体识别 simple_query，并抽取 entity_id=1 与 time=2016-07-01T10:00:00。工具返回流量 416 辆/小时、占有率 13.5%、速度 61.0 km/h。</a:t>
            </a:r>
          </a:p>
        </p:txBody>
      </p:sp>
      <p:pic>
        <p:nvPicPr>
          <p:cNvPr id="12267" name="image1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349240" y="2384432"/>
            <a:ext cx="5852160" cy="2134854"/>
          </a:xfrm>
          <a:prstGeom prst="rect">
            <a:avLst/>
          </a:prstGeom>
        </p:spPr>
      </p:pic>
      <p:sp>
        <p:nvSpPr>
          <p:cNvPr id="12268" name="text"/>
          <p:cNvSpPr txBox="1"/>
          <p:nvPr/>
        </p:nvSpPr>
        <p:spPr>
          <a:xfrm>
            <a:off x="5349240" y="5715000"/>
            <a:ext cx="585216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7  基础流量感知任务交互示例</a:t>
            </a:r>
          </a:p>
        </p:txBody>
      </p:sp>
    </p:spTree>
  </p:cSld>
  <p:clrMapOvr>
    <a:masterClrMapping/>
  </p:clrMapOvr>
  <p:transition spd="slow" advTm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9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70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例子二：从数值查询走向态势分析</a:t>
            </a:r>
          </a:p>
        </p:txBody>
      </p:sp>
      <p:sp>
        <p:nvSpPr>
          <p:cNvPr id="12271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72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7、8 章</a:t>
            </a:r>
          </a:p>
        </p:txBody>
      </p:sp>
      <p:sp>
        <p:nvSpPr>
          <p:cNvPr id="12273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74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12275" name="text"/>
          <p:cNvSpPr txBox="1"/>
          <p:nvPr/>
        </p:nvSpPr>
        <p:spPr>
          <a:xfrm>
            <a:off x="822960" y="1170432"/>
            <a:ext cx="434340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第 9 条用例要求分析 2 号探头在 2016.7.1 下午五点半的情况。系统不仅查询当前数值，还回看历史趋势。报告识别出 16:45–17:05 期间两次流量高峰，最后判断整体未出现拥堵。</a:t>
            </a:r>
          </a:p>
        </p:txBody>
      </p:sp>
      <p:pic>
        <p:nvPicPr>
          <p:cNvPr id="12276" name="image1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49240" y="2582343"/>
            <a:ext cx="5852160" cy="1739033"/>
          </a:xfrm>
          <a:prstGeom prst="rect">
            <a:avLst/>
          </a:prstGeom>
        </p:spPr>
      </p:pic>
      <p:sp>
        <p:nvSpPr>
          <p:cNvPr id="12277" name="text"/>
          <p:cNvSpPr txBox="1"/>
          <p:nvPr/>
        </p:nvSpPr>
        <p:spPr>
          <a:xfrm>
            <a:off x="5349240" y="5715000"/>
            <a:ext cx="585216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8  深度交通态势分析报告示例</a:t>
            </a:r>
          </a:p>
        </p:txBody>
      </p:sp>
    </p:spTree>
  </p:cSld>
  <p:clrMapOvr>
    <a:masterClrMapping/>
  </p:clrMapOvr>
  <p:transition spd="slow" advTm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8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79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例子三：预测结果也要被解释</a:t>
            </a:r>
          </a:p>
        </p:txBody>
      </p:sp>
      <p:sp>
        <p:nvSpPr>
          <p:cNvPr id="12280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81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7、8 章</a:t>
            </a:r>
          </a:p>
        </p:txBody>
      </p:sp>
      <p:sp>
        <p:nvSpPr>
          <p:cNvPr id="12282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83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12284" name="text"/>
          <p:cNvSpPr txBox="1"/>
          <p:nvPr/>
        </p:nvSpPr>
        <p:spPr>
          <a:xfrm>
            <a:off x="822960" y="1170432"/>
            <a:ext cx="434340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第 20 条用例要求预测 3 号传感器从 2016 年 7 月 2 日早上八点开始未来半小时的车流。智能体调用 predict_traffic 后得到每 5 分钟一个的预测序列，并指出 08:05 出现短暂低谷，随后从 08:20 起上升。</a:t>
            </a:r>
          </a:p>
        </p:txBody>
      </p:sp>
      <p:pic>
        <p:nvPicPr>
          <p:cNvPr id="12285" name="image1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349240" y="2431912"/>
            <a:ext cx="5852160" cy="2039895"/>
          </a:xfrm>
          <a:prstGeom prst="rect">
            <a:avLst/>
          </a:prstGeom>
        </p:spPr>
      </p:pic>
      <p:sp>
        <p:nvSpPr>
          <p:cNvPr id="12286" name="text"/>
          <p:cNvSpPr txBox="1"/>
          <p:nvPr/>
        </p:nvSpPr>
        <p:spPr>
          <a:xfrm>
            <a:off x="5349240" y="5715000"/>
            <a:ext cx="5852160" cy="18288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图 9  未来流量预测示例</a:t>
            </a:r>
          </a:p>
        </p:txBody>
      </p:sp>
    </p:spTree>
  </p:cSld>
  <p:clrMapOvr>
    <a:masterClrMapping/>
  </p:clrMapOvr>
  <p:transition spd="slow" advTm="0"/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7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288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Outline</a:t>
            </a:r>
          </a:p>
        </p:txBody>
      </p:sp>
      <p:sp>
        <p:nvSpPr>
          <p:cNvPr id="12289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290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291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2292" name="text"/>
          <p:cNvSpPr txBox="1"/>
          <p:nvPr/>
        </p:nvSpPr>
        <p:spPr>
          <a:xfrm>
            <a:off x="1097280" y="123444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12293" name="text"/>
          <p:cNvSpPr txBox="1"/>
          <p:nvPr/>
        </p:nvSpPr>
        <p:spPr>
          <a:xfrm>
            <a:off x="1737360" y="123444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问题与目标</a:t>
            </a:r>
          </a:p>
        </p:txBody>
      </p:sp>
      <p:sp>
        <p:nvSpPr>
          <p:cNvPr id="12294" name="text"/>
          <p:cNvSpPr txBox="1"/>
          <p:nvPr/>
        </p:nvSpPr>
        <p:spPr>
          <a:xfrm>
            <a:off x="3657600" y="125272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为什么要用智能体做交通分析</a:t>
            </a:r>
          </a:p>
        </p:txBody>
      </p:sp>
      <p:sp>
        <p:nvSpPr>
          <p:cNvPr id="12295" name="text"/>
          <p:cNvSpPr txBox="1"/>
          <p:nvPr/>
        </p:nvSpPr>
        <p:spPr>
          <a:xfrm>
            <a:off x="1097280" y="201168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2296" name="text"/>
          <p:cNvSpPr txBox="1"/>
          <p:nvPr/>
        </p:nvSpPr>
        <p:spPr>
          <a:xfrm>
            <a:off x="1737360" y="201168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系统设计</a:t>
            </a:r>
          </a:p>
        </p:txBody>
      </p:sp>
      <p:sp>
        <p:nvSpPr>
          <p:cNvPr id="12297" name="text"/>
          <p:cNvSpPr txBox="1"/>
          <p:nvPr/>
        </p:nvSpPr>
        <p:spPr>
          <a:xfrm>
            <a:off x="3657600" y="202996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大模型、状态图和工具链怎样协同</a:t>
            </a:r>
          </a:p>
        </p:txBody>
      </p:sp>
      <p:sp>
        <p:nvSpPr>
          <p:cNvPr id="12298" name="text"/>
          <p:cNvSpPr txBox="1"/>
          <p:nvPr/>
        </p:nvSpPr>
        <p:spPr>
          <a:xfrm>
            <a:off x="1097280" y="278892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>
                <a:solidFill>
                  <a:srgbClr val="6B7280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2299" name="text"/>
          <p:cNvSpPr txBox="1"/>
          <p:nvPr/>
        </p:nvSpPr>
        <p:spPr>
          <a:xfrm>
            <a:off x="1737360" y="278892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>
                <a:solidFill>
                  <a:srgbClr val="6B7280"/>
                </a:solidFill>
                <a:latin typeface="Microsoft YaHei"/>
                <a:ea typeface="Microsoft YaHei"/>
              </a:rPr>
              <a:t>实现与实例</a:t>
            </a:r>
          </a:p>
        </p:txBody>
      </p:sp>
      <p:sp>
        <p:nvSpPr>
          <p:cNvPr id="12300" name="text"/>
          <p:cNvSpPr txBox="1"/>
          <p:nvPr/>
        </p:nvSpPr>
        <p:spPr>
          <a:xfrm>
            <a:off x="3657600" y="280720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—— 数据、预测模型和交互结果</a:t>
            </a:r>
          </a:p>
        </p:txBody>
      </p:sp>
      <p:sp>
        <p:nvSpPr>
          <p:cNvPr id="12301" name="text"/>
          <p:cNvSpPr txBox="1"/>
          <p:nvPr/>
        </p:nvSpPr>
        <p:spPr>
          <a:xfrm>
            <a:off x="1097280" y="3566160"/>
            <a:ext cx="4114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700" b="1">
                <a:solidFill>
                  <a:srgbClr val="1A3A5C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12302" name="text"/>
          <p:cNvSpPr txBox="1"/>
          <p:nvPr/>
        </p:nvSpPr>
        <p:spPr>
          <a:xfrm>
            <a:off x="1737360" y="3566160"/>
            <a:ext cx="201168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800" b="1">
                <a:solidFill>
                  <a:srgbClr val="1A3A5C"/>
                </a:solidFill>
                <a:latin typeface="Microsoft YaHei"/>
                <a:ea typeface="Microsoft YaHei"/>
              </a:rPr>
              <a:t>实验与总结</a:t>
            </a:r>
          </a:p>
        </p:txBody>
      </p:sp>
      <p:sp>
        <p:nvSpPr>
          <p:cNvPr id="12303" name="text"/>
          <p:cNvSpPr txBox="1"/>
          <p:nvPr/>
        </p:nvSpPr>
        <p:spPr>
          <a:xfrm>
            <a:off x="3657600" y="3584448"/>
            <a:ext cx="5120640" cy="23774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200">
                <a:solidFill>
                  <a:srgbClr val="1A3A5C"/>
                </a:solidFill>
                <a:latin typeface="Microsoft YaHei"/>
                <a:ea typeface="Microsoft YaHei"/>
              </a:rPr>
              <a:t>—— 37 条用例说明了什么</a:t>
            </a:r>
          </a:p>
        </p:txBody>
      </p:sp>
      <p:sp>
        <p:nvSpPr>
          <p:cNvPr id="12304" name="decor"/>
          <p:cNvSpPr/>
          <p:nvPr/>
        </p:nvSpPr>
        <p:spPr>
          <a:xfrm>
            <a:off x="1097280" y="4800600"/>
            <a:ext cx="9692640" cy="73152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305" name="text"/>
          <p:cNvSpPr txBox="1"/>
          <p:nvPr/>
        </p:nvSpPr>
        <p:spPr>
          <a:xfrm>
            <a:off x="1234439" y="4910328"/>
            <a:ext cx="9418319" cy="51206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本章重点：用 37 条测试用例说明系统的有效性、边界和后续改进方向。</a:t>
            </a:r>
          </a:p>
        </p:txBody>
      </p:sp>
    </p:spTree>
  </p:cSld>
  <p:clrMapOvr>
    <a:masterClrMapping/>
  </p:clrMapOvr>
  <p:transition spd="slow" advTm="0"/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6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07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37 条用例覆盖七类场景</a:t>
            </a:r>
          </a:p>
        </p:txBody>
      </p:sp>
      <p:sp>
        <p:nvSpPr>
          <p:cNvPr id="12308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309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8 章</a:t>
            </a:r>
          </a:p>
        </p:txBody>
      </p:sp>
      <p:sp>
        <p:nvSpPr>
          <p:cNvPr id="12310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311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12312" name="text"/>
          <p:cNvSpPr txBox="1"/>
          <p:nvPr/>
        </p:nvSpPr>
        <p:spPr>
          <a:xfrm>
            <a:off x="914400" y="1143000"/>
            <a:ext cx="987552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400">
                <a:solidFill>
                  <a:srgbClr val="222A35"/>
                </a:solidFill>
                <a:latin typeface="Microsoft YaHei"/>
                <a:ea typeface="Microsoft YaHei"/>
              </a:rPr>
              <a:t>测试用例不是只测简单查询。论文把用例分成七类，从单点查询一直扩展到密集并行。这样可以看到智能体在不同任务难度下是否还能稳定选择工具。</a:t>
            </a:r>
          </a:p>
        </p:txBody>
      </p:sp>
      <p:sp>
        <p:nvSpPr>
          <p:cNvPr id="12313" name="decor"/>
          <p:cNvSpPr/>
          <p:nvPr/>
        </p:nvSpPr>
        <p:spPr>
          <a:xfrm>
            <a:off x="1005840" y="2743200"/>
            <a:ext cx="9966960" cy="420624"/>
          </a:xfrm>
          <a:prstGeom prst="rect">
            <a:avLst/>
          </a:prstGeom>
          <a:solidFill>
            <a:srgbClr val="1A3A5C"/>
          </a:solidFill>
          <a:ln w="9525">
            <a:solidFill>
              <a:srgbClr val="D8DEE9"/>
            </a:solidFill>
          </a:ln>
        </p:spPr>
      </p:sp>
      <p:sp>
        <p:nvSpPr>
          <p:cNvPr id="12314" name="text"/>
          <p:cNvSpPr txBox="1"/>
          <p:nvPr/>
        </p:nvSpPr>
        <p:spPr>
          <a:xfrm>
            <a:off x="1042416" y="282549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任务类型</a:t>
            </a:r>
          </a:p>
        </p:txBody>
      </p:sp>
      <p:sp>
        <p:nvSpPr>
          <p:cNvPr id="12315" name="text"/>
          <p:cNvSpPr txBox="1"/>
          <p:nvPr/>
        </p:nvSpPr>
        <p:spPr>
          <a:xfrm>
            <a:off x="4364736" y="282549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数量</a:t>
            </a:r>
          </a:p>
        </p:txBody>
      </p:sp>
      <p:sp>
        <p:nvSpPr>
          <p:cNvPr id="12316" name="text"/>
          <p:cNvSpPr txBox="1"/>
          <p:nvPr/>
        </p:nvSpPr>
        <p:spPr>
          <a:xfrm>
            <a:off x="7687056" y="282549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意图识别正确数</a:t>
            </a:r>
          </a:p>
        </p:txBody>
      </p:sp>
      <p:sp>
        <p:nvSpPr>
          <p:cNvPr id="12317" name="decor"/>
          <p:cNvSpPr/>
          <p:nvPr/>
        </p:nvSpPr>
        <p:spPr>
          <a:xfrm>
            <a:off x="1005840" y="3163824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318" name="text"/>
          <p:cNvSpPr txBox="1"/>
          <p:nvPr/>
        </p:nvSpPr>
        <p:spPr>
          <a:xfrm>
            <a:off x="1042416" y="324612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基础查询</a:t>
            </a:r>
          </a:p>
        </p:txBody>
      </p:sp>
      <p:sp>
        <p:nvSpPr>
          <p:cNvPr id="12319" name="text"/>
          <p:cNvSpPr txBox="1"/>
          <p:nvPr/>
        </p:nvSpPr>
        <p:spPr>
          <a:xfrm>
            <a:off x="4364736" y="324612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2320" name="text"/>
          <p:cNvSpPr txBox="1"/>
          <p:nvPr/>
        </p:nvSpPr>
        <p:spPr>
          <a:xfrm>
            <a:off x="7687056" y="324612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2321" name="decor"/>
          <p:cNvSpPr/>
          <p:nvPr/>
        </p:nvSpPr>
        <p:spPr>
          <a:xfrm>
            <a:off x="1005840" y="3584448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322" name="text"/>
          <p:cNvSpPr txBox="1"/>
          <p:nvPr/>
        </p:nvSpPr>
        <p:spPr>
          <a:xfrm>
            <a:off x="1042416" y="366674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深度分析</a:t>
            </a:r>
          </a:p>
        </p:txBody>
      </p:sp>
      <p:sp>
        <p:nvSpPr>
          <p:cNvPr id="12323" name="text"/>
          <p:cNvSpPr txBox="1"/>
          <p:nvPr/>
        </p:nvSpPr>
        <p:spPr>
          <a:xfrm>
            <a:off x="4364736" y="366674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2324" name="text"/>
          <p:cNvSpPr txBox="1"/>
          <p:nvPr/>
        </p:nvSpPr>
        <p:spPr>
          <a:xfrm>
            <a:off x="7687056" y="366674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2325" name="decor"/>
          <p:cNvSpPr/>
          <p:nvPr/>
        </p:nvSpPr>
        <p:spPr>
          <a:xfrm>
            <a:off x="1005840" y="4005072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326" name="text"/>
          <p:cNvSpPr txBox="1"/>
          <p:nvPr/>
        </p:nvSpPr>
        <p:spPr>
          <a:xfrm>
            <a:off x="1042416" y="408736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流量预测</a:t>
            </a:r>
          </a:p>
        </p:txBody>
      </p:sp>
      <p:sp>
        <p:nvSpPr>
          <p:cNvPr id="12327" name="text"/>
          <p:cNvSpPr txBox="1"/>
          <p:nvPr/>
        </p:nvSpPr>
        <p:spPr>
          <a:xfrm>
            <a:off x="4364736" y="408736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2328" name="text"/>
          <p:cNvSpPr txBox="1"/>
          <p:nvPr/>
        </p:nvSpPr>
        <p:spPr>
          <a:xfrm>
            <a:off x="7687056" y="408736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2329" name="decor"/>
          <p:cNvSpPr/>
          <p:nvPr/>
        </p:nvSpPr>
        <p:spPr>
          <a:xfrm>
            <a:off x="1005840" y="4425696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330" name="text"/>
          <p:cNvSpPr txBox="1"/>
          <p:nvPr/>
        </p:nvSpPr>
        <p:spPr>
          <a:xfrm>
            <a:off x="1042416" y="450799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多工具协同</a:t>
            </a:r>
          </a:p>
        </p:txBody>
      </p:sp>
      <p:sp>
        <p:nvSpPr>
          <p:cNvPr id="12331" name="text"/>
          <p:cNvSpPr txBox="1"/>
          <p:nvPr/>
        </p:nvSpPr>
        <p:spPr>
          <a:xfrm>
            <a:off x="4364736" y="450799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2332" name="text"/>
          <p:cNvSpPr txBox="1"/>
          <p:nvPr/>
        </p:nvSpPr>
        <p:spPr>
          <a:xfrm>
            <a:off x="7687056" y="450799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2333" name="decor"/>
          <p:cNvSpPr/>
          <p:nvPr/>
        </p:nvSpPr>
        <p:spPr>
          <a:xfrm>
            <a:off x="1005840" y="4846320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334" name="text"/>
          <p:cNvSpPr txBox="1"/>
          <p:nvPr/>
        </p:nvSpPr>
        <p:spPr>
          <a:xfrm>
            <a:off x="1042416" y="4928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其他场景</a:t>
            </a:r>
          </a:p>
        </p:txBody>
      </p:sp>
      <p:sp>
        <p:nvSpPr>
          <p:cNvPr id="12335" name="text"/>
          <p:cNvSpPr txBox="1"/>
          <p:nvPr/>
        </p:nvSpPr>
        <p:spPr>
          <a:xfrm>
            <a:off x="4364736" y="4928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2336" name="text"/>
          <p:cNvSpPr txBox="1"/>
          <p:nvPr/>
        </p:nvSpPr>
        <p:spPr>
          <a:xfrm>
            <a:off x="7687056" y="4928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2337" name="decor"/>
          <p:cNvSpPr/>
          <p:nvPr/>
        </p:nvSpPr>
        <p:spPr>
          <a:xfrm>
            <a:off x="1005840" y="5266944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338" name="text"/>
          <p:cNvSpPr txBox="1"/>
          <p:nvPr/>
        </p:nvSpPr>
        <p:spPr>
          <a:xfrm>
            <a:off x="1042416" y="5349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合计</a:t>
            </a:r>
          </a:p>
        </p:txBody>
      </p:sp>
      <p:sp>
        <p:nvSpPr>
          <p:cNvPr id="12339" name="text"/>
          <p:cNvSpPr txBox="1"/>
          <p:nvPr/>
        </p:nvSpPr>
        <p:spPr>
          <a:xfrm>
            <a:off x="4364736" y="5349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37</a:t>
            </a:r>
          </a:p>
        </p:txBody>
      </p:sp>
      <p:sp>
        <p:nvSpPr>
          <p:cNvPr id="12340" name="text"/>
          <p:cNvSpPr txBox="1"/>
          <p:nvPr/>
        </p:nvSpPr>
        <p:spPr>
          <a:xfrm>
            <a:off x="7687056" y="5349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37</a:t>
            </a:r>
          </a:p>
        </p:txBody>
      </p:sp>
    </p:spTree>
  </p:cSld>
  <p:clrMapOvr>
    <a:masterClrMapping/>
  </p:clrMapOvr>
  <p:transition spd="slow" advTm="0"/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341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42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时间表达是专门测试过的</a:t>
            </a:r>
          </a:p>
        </p:txBody>
      </p:sp>
      <p:sp>
        <p:nvSpPr>
          <p:cNvPr id="12343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344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8 章</a:t>
            </a:r>
          </a:p>
        </p:txBody>
      </p:sp>
      <p:sp>
        <p:nvSpPr>
          <p:cNvPr id="12345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346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12347" name="decor"/>
          <p:cNvSpPr/>
          <p:nvPr/>
        </p:nvSpPr>
        <p:spPr>
          <a:xfrm>
            <a:off x="1005840" y="1417320"/>
            <a:ext cx="9966960" cy="420624"/>
          </a:xfrm>
          <a:prstGeom prst="rect">
            <a:avLst/>
          </a:prstGeom>
          <a:solidFill>
            <a:srgbClr val="1A3A5C"/>
          </a:solidFill>
          <a:ln w="9525">
            <a:solidFill>
              <a:srgbClr val="D8DEE9"/>
            </a:solidFill>
          </a:ln>
        </p:spPr>
      </p:sp>
      <p:sp>
        <p:nvSpPr>
          <p:cNvPr id="12348" name="text"/>
          <p:cNvSpPr txBox="1"/>
          <p:nvPr/>
        </p:nvSpPr>
        <p:spPr>
          <a:xfrm>
            <a:off x="104241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格式</a:t>
            </a:r>
          </a:p>
        </p:txBody>
      </p:sp>
      <p:sp>
        <p:nvSpPr>
          <p:cNvPr id="12349" name="text"/>
          <p:cNvSpPr txBox="1"/>
          <p:nvPr/>
        </p:nvSpPr>
        <p:spPr>
          <a:xfrm>
            <a:off x="436473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12350" name="text"/>
          <p:cNvSpPr txBox="1"/>
          <p:nvPr/>
        </p:nvSpPr>
        <p:spPr>
          <a:xfrm>
            <a:off x="7687056" y="149961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解析结果</a:t>
            </a:r>
          </a:p>
        </p:txBody>
      </p:sp>
      <p:sp>
        <p:nvSpPr>
          <p:cNvPr id="12351" name="decor"/>
          <p:cNvSpPr/>
          <p:nvPr/>
        </p:nvSpPr>
        <p:spPr>
          <a:xfrm>
            <a:off x="1005840" y="1837944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352" name="text"/>
          <p:cNvSpPr txBox="1"/>
          <p:nvPr/>
        </p:nvSpPr>
        <p:spPr>
          <a:xfrm>
            <a:off x="104241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中文书面语</a:t>
            </a:r>
          </a:p>
        </p:txBody>
      </p:sp>
      <p:sp>
        <p:nvSpPr>
          <p:cNvPr id="12353" name="text"/>
          <p:cNvSpPr txBox="1"/>
          <p:nvPr/>
        </p:nvSpPr>
        <p:spPr>
          <a:xfrm>
            <a:off x="436473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七月一日上午十点</a:t>
            </a:r>
          </a:p>
        </p:txBody>
      </p:sp>
      <p:sp>
        <p:nvSpPr>
          <p:cNvPr id="12354" name="text"/>
          <p:cNvSpPr txBox="1"/>
          <p:nvPr/>
        </p:nvSpPr>
        <p:spPr>
          <a:xfrm>
            <a:off x="7687056" y="1920240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成功</a:t>
            </a:r>
          </a:p>
        </p:txBody>
      </p:sp>
      <p:sp>
        <p:nvSpPr>
          <p:cNvPr id="12355" name="decor"/>
          <p:cNvSpPr/>
          <p:nvPr/>
        </p:nvSpPr>
        <p:spPr>
          <a:xfrm>
            <a:off x="1005840" y="2258568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356" name="text"/>
          <p:cNvSpPr txBox="1"/>
          <p:nvPr/>
        </p:nvSpPr>
        <p:spPr>
          <a:xfrm>
            <a:off x="104241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点分隔</a:t>
            </a:r>
          </a:p>
        </p:txBody>
      </p:sp>
      <p:sp>
        <p:nvSpPr>
          <p:cNvPr id="12357" name="text"/>
          <p:cNvSpPr txBox="1"/>
          <p:nvPr/>
        </p:nvSpPr>
        <p:spPr>
          <a:xfrm>
            <a:off x="436473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2016.7.13 早上七点</a:t>
            </a:r>
          </a:p>
        </p:txBody>
      </p:sp>
      <p:sp>
        <p:nvSpPr>
          <p:cNvPr id="12358" name="text"/>
          <p:cNvSpPr txBox="1"/>
          <p:nvPr/>
        </p:nvSpPr>
        <p:spPr>
          <a:xfrm>
            <a:off x="7687056" y="2340864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成功</a:t>
            </a:r>
          </a:p>
        </p:txBody>
      </p:sp>
      <p:sp>
        <p:nvSpPr>
          <p:cNvPr id="12359" name="decor"/>
          <p:cNvSpPr/>
          <p:nvPr/>
        </p:nvSpPr>
        <p:spPr>
          <a:xfrm>
            <a:off x="1005840" y="2679192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360" name="text"/>
          <p:cNvSpPr txBox="1"/>
          <p:nvPr/>
        </p:nvSpPr>
        <p:spPr>
          <a:xfrm>
            <a:off x="104241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斜杠分隔</a:t>
            </a:r>
          </a:p>
        </p:txBody>
      </p:sp>
      <p:sp>
        <p:nvSpPr>
          <p:cNvPr id="12361" name="text"/>
          <p:cNvSpPr txBox="1"/>
          <p:nvPr/>
        </p:nvSpPr>
        <p:spPr>
          <a:xfrm>
            <a:off x="436473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2016/7/2 18:00</a:t>
            </a:r>
          </a:p>
        </p:txBody>
      </p:sp>
      <p:sp>
        <p:nvSpPr>
          <p:cNvPr id="12362" name="text"/>
          <p:cNvSpPr txBox="1"/>
          <p:nvPr/>
        </p:nvSpPr>
        <p:spPr>
          <a:xfrm>
            <a:off x="7687056" y="2761488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成功</a:t>
            </a:r>
          </a:p>
        </p:txBody>
      </p:sp>
      <p:sp>
        <p:nvSpPr>
          <p:cNvPr id="12363" name="decor"/>
          <p:cNvSpPr/>
          <p:nvPr/>
        </p:nvSpPr>
        <p:spPr>
          <a:xfrm>
            <a:off x="1005840" y="3099816"/>
            <a:ext cx="9966960" cy="420624"/>
          </a:xfrm>
          <a:prstGeom prst="rect">
            <a:avLst/>
          </a:prstGeom>
          <a:solidFill>
            <a:srgbClr val="F7FAFC"/>
          </a:solidFill>
          <a:ln w="9525">
            <a:solidFill>
              <a:srgbClr val="D8DEE9"/>
            </a:solidFill>
          </a:ln>
        </p:spPr>
      </p:sp>
      <p:sp>
        <p:nvSpPr>
          <p:cNvPr id="12364" name="text"/>
          <p:cNvSpPr txBox="1"/>
          <p:nvPr/>
        </p:nvSpPr>
        <p:spPr>
          <a:xfrm>
            <a:off x="1042416" y="318211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ISO 风格</a:t>
            </a:r>
          </a:p>
        </p:txBody>
      </p:sp>
      <p:sp>
        <p:nvSpPr>
          <p:cNvPr id="12365" name="text"/>
          <p:cNvSpPr txBox="1"/>
          <p:nvPr/>
        </p:nvSpPr>
        <p:spPr>
          <a:xfrm>
            <a:off x="4364736" y="318211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2016-07-19 16:45</a:t>
            </a:r>
          </a:p>
        </p:txBody>
      </p:sp>
      <p:sp>
        <p:nvSpPr>
          <p:cNvPr id="12366" name="text"/>
          <p:cNvSpPr txBox="1"/>
          <p:nvPr/>
        </p:nvSpPr>
        <p:spPr>
          <a:xfrm>
            <a:off x="7687056" y="3182112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成功</a:t>
            </a:r>
          </a:p>
        </p:txBody>
      </p:sp>
      <p:sp>
        <p:nvSpPr>
          <p:cNvPr id="12367" name="decor"/>
          <p:cNvSpPr/>
          <p:nvPr/>
        </p:nvSpPr>
        <p:spPr>
          <a:xfrm>
            <a:off x="1005840" y="3520440"/>
            <a:ext cx="9966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368" name="text"/>
          <p:cNvSpPr txBox="1"/>
          <p:nvPr/>
        </p:nvSpPr>
        <p:spPr>
          <a:xfrm>
            <a:off x="1042416" y="360273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相对时间</a:t>
            </a:r>
          </a:p>
        </p:txBody>
      </p:sp>
      <p:sp>
        <p:nvSpPr>
          <p:cNvPr id="12369" name="text"/>
          <p:cNvSpPr txBox="1"/>
          <p:nvPr/>
        </p:nvSpPr>
        <p:spPr>
          <a:xfrm>
            <a:off x="4364736" y="360273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昨天 14 点左右</a:t>
            </a:r>
          </a:p>
        </p:txBody>
      </p:sp>
      <p:sp>
        <p:nvSpPr>
          <p:cNvPr id="12370" name="text"/>
          <p:cNvSpPr txBox="1"/>
          <p:nvPr/>
        </p:nvSpPr>
        <p:spPr>
          <a:xfrm>
            <a:off x="7687056" y="3602736"/>
            <a:ext cx="3249168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200">
                <a:solidFill>
                  <a:srgbClr val="222A35"/>
                </a:solidFill>
                <a:latin typeface="Microsoft YaHei"/>
                <a:ea typeface="Microsoft YaHei"/>
              </a:rPr>
              <a:t>格式成功，数据集无对应日期</a:t>
            </a:r>
          </a:p>
        </p:txBody>
      </p:sp>
    </p:spTree>
  </p:cSld>
  <p:clrMapOvr>
    <a:masterClrMapping/>
  </p:clrMapOvr>
  <p:transition spd="slow" advTm="0"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1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72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多工具协同暴露了数字歧义</a:t>
            </a:r>
          </a:p>
        </p:txBody>
      </p:sp>
      <p:sp>
        <p:nvSpPr>
          <p:cNvPr id="12373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374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对应论文第 8 章</a:t>
            </a:r>
          </a:p>
        </p:txBody>
      </p:sp>
      <p:sp>
        <p:nvSpPr>
          <p:cNvPr id="12375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376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2377" name="text"/>
          <p:cNvSpPr txBox="1"/>
          <p:nvPr/>
        </p:nvSpPr>
        <p:spPr>
          <a:xfrm>
            <a:off x="1051560" y="1325880"/>
            <a:ext cx="978408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复杂用例中出现了一个比较有价值的问题：当传感器编号落在 1–31 之间，并且靠近“当天”“晚上”等时间词时，大模型可能把传感器编号误解成日期。</a:t>
            </a:r>
          </a:p>
        </p:txBody>
      </p:sp>
      <p:sp>
        <p:nvSpPr>
          <p:cNvPr id="12378" name="decor"/>
          <p:cNvSpPr/>
          <p:nvPr/>
        </p:nvSpPr>
        <p:spPr>
          <a:xfrm>
            <a:off x="1143000" y="4343400"/>
            <a:ext cx="9692640" cy="77724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379" name="text"/>
          <p:cNvSpPr txBox="1"/>
          <p:nvPr/>
        </p:nvSpPr>
        <p:spPr>
          <a:xfrm>
            <a:off x="1280160" y="4453128"/>
            <a:ext cx="9418319" cy="55778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例如 22 号、23 号传感器在个别用例中被解释成 5 月 22 日、5 月 23 日，导致后续工具查询超出数据范围。</a:t>
            </a:r>
          </a:p>
        </p:txBody>
      </p:sp>
    </p:spTree>
  </p:cSld>
  <p:clrMapOvr>
    <a:masterClrMapping/>
  </p:clrMapOvr>
  <p:transition spd="slow" advTm="0"/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5858359" y="3601720"/>
            <a:ext cx="284974" cy="284974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380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81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本文工作的边界</a:t>
            </a:r>
          </a:p>
        </p:txBody>
      </p:sp>
      <p:sp>
        <p:nvSpPr>
          <p:cNvPr id="12382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383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对应论文结论</a:t>
            </a:r>
          </a:p>
        </p:txBody>
      </p:sp>
      <p:sp>
        <p:nvSpPr>
          <p:cNvPr id="12384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385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12386" name="decor"/>
          <p:cNvSpPr/>
          <p:nvPr/>
        </p:nvSpPr>
        <p:spPr>
          <a:xfrm>
            <a:off x="1188720" y="1453896"/>
            <a:ext cx="301752" cy="30175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87" name="text"/>
          <p:cNvSpPr txBox="1"/>
          <p:nvPr/>
        </p:nvSpPr>
        <p:spPr>
          <a:xfrm>
            <a:off x="1188720" y="1476756"/>
            <a:ext cx="301752" cy="1463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388" name="text"/>
          <p:cNvSpPr txBox="1"/>
          <p:nvPr/>
        </p:nvSpPr>
        <p:spPr>
          <a:xfrm>
            <a:off x="1609344" y="1399032"/>
            <a:ext cx="8138160" cy="29260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 b="1">
                <a:solidFill>
                  <a:srgbClr val="1A3A5C"/>
                </a:solidFill>
                <a:latin typeface="Microsoft YaHei"/>
                <a:ea typeface="Microsoft YaHei"/>
              </a:rPr>
              <a:t>数据范围有限</a:t>
            </a:r>
          </a:p>
        </p:txBody>
      </p:sp>
      <p:sp>
        <p:nvSpPr>
          <p:cNvPr id="12389" name="text"/>
          <p:cNvSpPr txBox="1"/>
          <p:nvPr/>
        </p:nvSpPr>
        <p:spPr>
          <a:xfrm>
            <a:off x="1609344" y="1673352"/>
            <a:ext cx="813816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222A35"/>
                </a:solidFill>
                <a:latin typeface="Microsoft YaHei"/>
                <a:ea typeface="Microsoft YaHei"/>
              </a:rPr>
              <a:t>PeMS08 只覆盖 2016 年 7–8 月，不能真正回答实时问题。</a:t>
            </a:r>
          </a:p>
        </p:txBody>
      </p:sp>
      <p:sp>
        <p:nvSpPr>
          <p:cNvPr id="12390" name="decor"/>
          <p:cNvSpPr/>
          <p:nvPr/>
        </p:nvSpPr>
        <p:spPr>
          <a:xfrm>
            <a:off x="1188720" y="2167128"/>
            <a:ext cx="301752" cy="30175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91" name="text"/>
          <p:cNvSpPr txBox="1"/>
          <p:nvPr/>
        </p:nvSpPr>
        <p:spPr>
          <a:xfrm>
            <a:off x="1188720" y="2189988"/>
            <a:ext cx="301752" cy="1463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392" name="text"/>
          <p:cNvSpPr txBox="1"/>
          <p:nvPr/>
        </p:nvSpPr>
        <p:spPr>
          <a:xfrm>
            <a:off x="1609344" y="2112264"/>
            <a:ext cx="8138160" cy="29260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 b="1">
                <a:solidFill>
                  <a:srgbClr val="1A3A5C"/>
                </a:solidFill>
                <a:latin typeface="Microsoft YaHei"/>
                <a:ea typeface="Microsoft YaHei"/>
              </a:rPr>
              <a:t>工具数量有限</a:t>
            </a:r>
          </a:p>
        </p:txBody>
      </p:sp>
      <p:sp>
        <p:nvSpPr>
          <p:cNvPr id="12393" name="text"/>
          <p:cNvSpPr txBox="1"/>
          <p:nvPr/>
        </p:nvSpPr>
        <p:spPr>
          <a:xfrm>
            <a:off x="1609344" y="2386584"/>
            <a:ext cx="813816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222A35"/>
                </a:solidFill>
                <a:latin typeface="Microsoft YaHei"/>
                <a:ea typeface="Microsoft YaHei"/>
              </a:rPr>
              <a:t>系统暂时没有路径规划、信号灯配时等交通管理工具。</a:t>
            </a:r>
          </a:p>
        </p:txBody>
      </p:sp>
      <p:sp>
        <p:nvSpPr>
          <p:cNvPr id="12394" name="decor"/>
          <p:cNvSpPr/>
          <p:nvPr/>
        </p:nvSpPr>
        <p:spPr>
          <a:xfrm>
            <a:off x="1188720" y="2880360"/>
            <a:ext cx="301752" cy="30175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95" name="text"/>
          <p:cNvSpPr txBox="1"/>
          <p:nvPr/>
        </p:nvSpPr>
        <p:spPr>
          <a:xfrm>
            <a:off x="1188720" y="2903220"/>
            <a:ext cx="301752" cy="14630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396" name="text"/>
          <p:cNvSpPr txBox="1"/>
          <p:nvPr/>
        </p:nvSpPr>
        <p:spPr>
          <a:xfrm>
            <a:off x="1609344" y="2825496"/>
            <a:ext cx="8138160" cy="29260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 b="1">
                <a:solidFill>
                  <a:srgbClr val="1A3A5C"/>
                </a:solidFill>
                <a:latin typeface="Microsoft YaHei"/>
                <a:ea typeface="Microsoft YaHei"/>
              </a:rPr>
              <a:t>推理资源有限</a:t>
            </a:r>
          </a:p>
        </p:txBody>
      </p:sp>
      <p:sp>
        <p:nvSpPr>
          <p:cNvPr id="12397" name="text"/>
          <p:cNvSpPr txBox="1"/>
          <p:nvPr/>
        </p:nvSpPr>
        <p:spPr>
          <a:xfrm>
            <a:off x="1609344" y="3099816"/>
            <a:ext cx="8138160" cy="25603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300">
                <a:solidFill>
                  <a:srgbClr val="222A35"/>
                </a:solidFill>
                <a:latin typeface="Microsoft YaHei"/>
                <a:ea typeface="Microsoft YaHei"/>
              </a:rPr>
              <a:t>单卡 GPU 会限制模型规模和吞吐量。</a:t>
            </a:r>
          </a:p>
        </p:txBody>
      </p:sp>
    </p:spTree>
  </p:cSld>
  <p:clrMapOvr>
    <a:masterClrMapping/>
  </p:clrMapOvr>
  <p:transition spd="slow" advTm="0"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8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399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12400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401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对应论文结论</a:t>
            </a:r>
          </a:p>
        </p:txBody>
      </p:sp>
      <p:sp>
        <p:nvSpPr>
          <p:cNvPr id="12402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403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12404" name="text"/>
          <p:cNvSpPr txBox="1"/>
          <p:nvPr/>
        </p:nvSpPr>
        <p:spPr>
          <a:xfrm>
            <a:off x="1051560" y="1325880"/>
            <a:ext cx="978408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本课题实现了一个基于大模型的交通智能体原型。系统以 Qwen3.5-9B 为推理核心，以 LangGraph 为调度框架，以 simple_query、deep_analysis 和 predict_traffic 三个工具作为执行层。37 条测试用例的意图识别全部正确。</a:t>
            </a:r>
          </a:p>
        </p:txBody>
      </p:sp>
      <p:sp>
        <p:nvSpPr>
          <p:cNvPr id="12405" name="decor"/>
          <p:cNvSpPr/>
          <p:nvPr/>
        </p:nvSpPr>
        <p:spPr>
          <a:xfrm>
            <a:off x="1143000" y="4343400"/>
            <a:ext cx="9692640" cy="77724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406" name="text"/>
          <p:cNvSpPr txBox="1"/>
          <p:nvPr/>
        </p:nvSpPr>
        <p:spPr>
          <a:xfrm>
            <a:off x="1280160" y="4453128"/>
            <a:ext cx="9418319" cy="55778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核心结论：大模型适合承担交通任务的理解和调度，具体数值计算仍然应该交给受控工具完成。</a:t>
            </a:r>
          </a:p>
        </p:txBody>
      </p:sp>
    </p:spTree>
  </p:cSld>
  <p:clrMapOvr>
    <a:masterClrMapping/>
  </p:clrMapOvr>
  <p:transition spd="slow" advTm="0"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7" name="deco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408" name="text"/>
          <p:cNvSpPr txBox="1"/>
          <p:nvPr/>
        </p:nvSpPr>
        <p:spPr>
          <a:xfrm>
            <a:off x="502920" y="320040"/>
            <a:ext cx="5669280" cy="34747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2200" b="1">
                <a:solidFill>
                  <a:srgbClr val="1A3A5C"/>
                </a:solidFill>
                <a:latin typeface="Microsoft YaHei"/>
                <a:ea typeface="Microsoft YaHei"/>
              </a:rPr>
              <a:t>后续工作</a:t>
            </a:r>
          </a:p>
        </p:txBody>
      </p:sp>
      <p:sp>
        <p:nvSpPr>
          <p:cNvPr id="12409" name="decor"/>
          <p:cNvSpPr/>
          <p:nvPr/>
        </p:nvSpPr>
        <p:spPr>
          <a:xfrm>
            <a:off x="548640" y="758952"/>
            <a:ext cx="1188720" cy="36576"/>
          </a:xfrm>
          <a:prstGeom prst="rect">
            <a:avLst/>
          </a:prstGeom>
          <a:solidFill>
            <a:srgbClr val="D56A20"/>
          </a:solidFill>
          <a:ln w="9525">
            <a:noFill/>
          </a:ln>
        </p:spPr>
      </p:sp>
      <p:sp>
        <p:nvSpPr>
          <p:cNvPr id="12410" name="text"/>
          <p:cNvSpPr txBox="1"/>
          <p:nvPr/>
        </p:nvSpPr>
        <p:spPr>
          <a:xfrm>
            <a:off x="6766560" y="393192"/>
            <a:ext cx="4206240" cy="201168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对应论文结论</a:t>
            </a:r>
          </a:p>
        </p:txBody>
      </p:sp>
      <p:sp>
        <p:nvSpPr>
          <p:cNvPr id="12411" name="text"/>
          <p:cNvSpPr txBox="1"/>
          <p:nvPr/>
        </p:nvSpPr>
        <p:spPr>
          <a:xfrm>
            <a:off x="9281160" y="6519672"/>
            <a:ext cx="173736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12412" name="text"/>
          <p:cNvSpPr txBox="1"/>
          <p:nvPr/>
        </p:nvSpPr>
        <p:spPr>
          <a:xfrm>
            <a:off x="11155680" y="6501384"/>
            <a:ext cx="411480" cy="164592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r"/>
            <a:r>
              <a:rPr lang="zh-CN" sz="800" b="1">
                <a:solidFill>
                  <a:srgbClr val="1A3A5C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12413" name="text"/>
          <p:cNvSpPr txBox="1"/>
          <p:nvPr/>
        </p:nvSpPr>
        <p:spPr>
          <a:xfrm>
            <a:off x="1051560" y="1325880"/>
            <a:ext cx="9784080" cy="11430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600">
                <a:solidFill>
                  <a:srgbClr val="222A35"/>
                </a:solidFill>
                <a:latin typeface="Microsoft YaHei"/>
                <a:ea typeface="Microsoft YaHei"/>
              </a:rPr>
              <a:t>后续工作会优先围绕工程落地继续推进。第一步是接入实时交通数据流，让系统从历史数据分析变成在线感知系统。第二步是扩展工具链，引入路径规划、拥堵溯源和信号优化工具。</a:t>
            </a:r>
          </a:p>
        </p:txBody>
      </p:sp>
      <p:sp>
        <p:nvSpPr>
          <p:cNvPr id="12414" name="decor"/>
          <p:cNvSpPr/>
          <p:nvPr/>
        </p:nvSpPr>
        <p:spPr>
          <a:xfrm>
            <a:off x="1143000" y="4343400"/>
            <a:ext cx="9692640" cy="777240"/>
          </a:xfrm>
          <a:prstGeom prst="rect">
            <a:avLst/>
          </a:prstGeom>
          <a:solidFill>
            <a:srgbClr val="E8F0F7"/>
          </a:solidFill>
          <a:ln w="9525">
            <a:solidFill>
              <a:srgbClr val="C9D9E8"/>
            </a:solidFill>
          </a:ln>
        </p:spPr>
      </p:sp>
      <p:sp>
        <p:nvSpPr>
          <p:cNvPr id="12415" name="text"/>
          <p:cNvSpPr txBox="1"/>
          <p:nvPr/>
        </p:nvSpPr>
        <p:spPr>
          <a:xfrm>
            <a:off x="1280160" y="4453128"/>
            <a:ext cx="9418319" cy="55778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l"/>
            <a:r>
              <a:rPr lang="zh-CN" sz="1500">
                <a:solidFill>
                  <a:srgbClr val="1A3A5C"/>
                </a:solidFill>
                <a:latin typeface="Microsoft YaHei"/>
                <a:ea typeface="Microsoft YaHei"/>
              </a:rPr>
              <a:t>下一阶段最值得改的是“实时数据接入”和“多工具时间参照消歧”。</a:t>
            </a:r>
          </a:p>
        </p:txBody>
      </p:sp>
    </p:spTree>
  </p:cSld>
  <p:clrMapOvr>
    <a:masterClrMapping/>
  </p:clrMapOvr>
  <p:transition spd="slow" advTm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52652" y="2173931"/>
            <a:ext cx="8939348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16" name="deco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 w="9525">
            <a:noFill/>
          </a:ln>
        </p:spPr>
      </p:sp>
      <p:sp>
        <p:nvSpPr>
          <p:cNvPr id="12417" name="text"/>
          <p:cNvSpPr txBox="1"/>
          <p:nvPr/>
        </p:nvSpPr>
        <p:spPr>
          <a:xfrm>
            <a:off x="4480560" y="2103120"/>
            <a:ext cx="3291840" cy="27432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</a:rPr>
              <a:t>THANK YOU</a:t>
            </a:r>
          </a:p>
        </p:txBody>
      </p:sp>
      <p:sp>
        <p:nvSpPr>
          <p:cNvPr id="12418" name="text"/>
          <p:cNvSpPr txBox="1"/>
          <p:nvPr/>
        </p:nvSpPr>
        <p:spPr>
          <a:xfrm>
            <a:off x="3291840" y="3063240"/>
            <a:ext cx="5486400" cy="420624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</a:rPr>
              <a:t>恳请各位老师批评指正</a:t>
            </a:r>
          </a:p>
        </p:txBody>
      </p:sp>
      <p:sp>
        <p:nvSpPr>
          <p:cNvPr id="12419" name="text"/>
          <p:cNvSpPr txBox="1"/>
          <p:nvPr/>
        </p:nvSpPr>
        <p:spPr>
          <a:xfrm>
            <a:off x="4114800" y="4069080"/>
            <a:ext cx="3840480" cy="228600"/>
          </a:xfrm>
          <a:prstGeom prst="rect">
            <a:avLst/>
          </a:prstGeom>
          <a:ln>
            <a:noFill/>
          </a:ln>
        </p:spPr>
        <p:txBody>
          <a:bodyPr wrap="square" anchor="t" lIns="45720" rIns="45720" tIns="22860" bIns="22860"/>
          <a:lstStyle/>
          <a:p>
            <a:pPr algn="c"/>
            <a:r>
              <a:rPr lang="zh-CN" sz="1300">
                <a:solidFill>
                  <a:srgbClr val="DDE8F2"/>
                </a:solidFill>
                <a:latin typeface="Microsoft YaHei"/>
                <a:ea typeface="Microsoft YaHei"/>
              </a:rPr>
              <a:t>北京航空航天大学 计算机学院 | 周佳琪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  <p:bldLst>
      <p:bldP spid="4" grpId="0" animBg="1"/>
      <p:bldP spid="5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7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8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9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0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7.xml><?xml version="1.0" encoding="utf-8"?>
<p:tagLst xmlns:p="http://schemas.openxmlformats.org/presentationml/2006/main">
  <p:tag name="MH" val="20160511170643"/>
  <p:tag name="MH_LIBRARY" val="GRAPHIC"/>
  <p:tag name="MH_TYPE" val="Other"/>
  <p:tag name="MH_ORDER" val="1"/>
</p:tagLst>
</file>

<file path=ppt/tags/tag18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1"/>
</p:tagLst>
</file>

<file path=ppt/tags/tag19.xml><?xml version="1.0" encoding="utf-8"?>
<p:tagLst xmlns:p="http://schemas.openxmlformats.org/presentationml/2006/main">
  <p:tag name="MH" val="20160511170643"/>
  <p:tag name="MH_LIBRARY" val="GRAPHIC"/>
  <p:tag name="MH_TYPE" val="Other"/>
  <p:tag name="MH_ORDER" val="2"/>
</p:tagLst>
</file>

<file path=ppt/tags/tag20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2"/>
</p:tagLst>
</file>

<file path=ppt/tags/tag21.xml><?xml version="1.0" encoding="utf-8"?>
<p:tagLst xmlns:p="http://schemas.openxmlformats.org/presentationml/2006/main">
  <p:tag name="MH" val="20160511170643"/>
  <p:tag name="MH_LIBRARY" val="GRAPHIC"/>
  <p:tag name="MH_TYPE" val="Other"/>
  <p:tag name="MH_ORDER" val="3"/>
</p:tagLst>
</file>

<file path=ppt/tags/tag22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3"/>
</p:tagLst>
</file>

<file path=ppt/tags/tag23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4"/>
</p:tagLst>
</file>

<file path=ppt/tags/tag24.xml><?xml version="1.0" encoding="utf-8"?>
<p:tagLst xmlns:p="http://schemas.openxmlformats.org/presentationml/2006/main">
  <p:tag name="MH" val="20160511170830"/>
  <p:tag name="MH_LIBRARY" val="GRAPHIC"/>
  <p:tag name="MH_TYPE" val="Text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5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6.xml><?xml version="1.0" encoding="utf-8"?>
<p:tagLst xmlns:p="http://schemas.openxmlformats.org/presentationml/2006/main">
  <p:tag name="MH" val="20160511170830"/>
  <p:tag name="MH_LIBRARY" val="GRAPHIC"/>
  <p:tag name="MH_TYPE" val="Text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7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8.xml><?xml version="1.0" encoding="utf-8"?>
<p:tagLst xmlns:p="http://schemas.openxmlformats.org/presentationml/2006/main">
  <p:tag name="MH" val="20160511170830"/>
  <p:tag name="MH_LIBRARY" val="GRAPHIC"/>
  <p:tag name="MH_TYPE" val="Text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29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30.xml><?xml version="1.0" encoding="utf-8"?>
<p:tagLst xmlns:p="http://schemas.openxmlformats.org/presentationml/2006/main">
  <p:tag name="MH" val="20160511170830"/>
  <p:tag name="MH_LIBRARY" val="GRAPHIC"/>
  <p:tag name="MH_TYPE" val="Text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1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2.xml><?xml version="1.0" encoding="utf-8"?>
<p:tagLst xmlns:p="http://schemas.openxmlformats.org/presentationml/2006/main">
  <p:tag name="MH" val="20160511170830"/>
  <p:tag name="MH_LIBRARY" val="GRAPHIC"/>
  <p:tag name="MH_TYPE" val="Text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3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4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5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6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7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8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9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0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1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4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5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6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7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8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9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0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1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4.xml><?xml version="1.0" encoding="utf-8"?>
<p:tagLst xmlns:p="http://schemas.openxmlformats.org/presentationml/2006/main">
  <p:tag name="KSO_WM_DIAGRAM_VIRTUALLY_FRAME" val="{&quot;height&quot;:470.97007874015753,&quot;left&quot;:19,&quot;top&quot;:60.16677165354331,&quot;width&quot;:924.5859842519685}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1686</Words>
  <Application>WPS 演示</Application>
  <PresentationFormat>宽屏</PresentationFormat>
  <Paragraphs>325</Paragraphs>
  <Slides>28</Slides>
  <Notes>22</Notes>
  <HiddenSlides>0</HiddenSlides>
  <MMClips>2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华文行楷</vt:lpstr>
      <vt:lpstr>Mangal</vt:lpstr>
      <vt:lpstr>黑体</vt:lpstr>
      <vt:lpstr>Calibri</vt:lpstr>
      <vt:lpstr>Arial</vt:lpstr>
      <vt:lpstr>Times New Roman</vt:lpstr>
      <vt:lpstr>DejaVu Math TeX Gyre</vt:lpstr>
      <vt:lpstr>微软雅黑</vt:lpstr>
      <vt:lpstr>Arial Unicode MS</vt:lpstr>
      <vt:lpstr>Noto Sans SC</vt:lpstr>
      <vt:lpstr>Consolas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mycomputer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chenjiawei</dc:creator>
  <cp:lastModifiedBy>周佳琪</cp:lastModifiedBy>
  <cp:revision>62</cp:revision>
  <dcterms:created xsi:type="dcterms:W3CDTF">2016-05-11T01:57:00Z</dcterms:created>
  <dcterms:modified xsi:type="dcterms:W3CDTF">2026-04-15T03:50:48Z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46522DE0146E405D9889E480BF3616BE_13</vt:lpwstr>
  </property>
</Properties>
</file>